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2202B"/>
                </a:solidFill>
                <a:latin typeface="Cambria"/>
              </a:defRPr>
            </a:pPr>
            <a:r>
              <a:rPr sz="1400" b="0" i="0" u="none" strike="noStrike">
                <a:solidFill>
                  <a:srgbClr val="12202B"/>
                </a:solidFill>
                <a:latin typeface="Cambria"/>
              </a:rPr>
              <a:t>Les 8 destinations les plus desservies</a:t>
            </a:r>
          </a:p>
        </c:rich>
      </c:tx>
      <c:layout/>
      <c:overlay val="0"/>
    </c:title>
    <c:autoTitleDeleted val="0"/>
    <c:plotArea>
      <c:layout/>
      <c:barChart>
        <c:barDir val="bar"/>
        <c:grouping val="clustered"/>
        <c:varyColors val="0"/>
        <c:ser>
          <c:idx val="0"/>
          <c:order val="0"/>
          <c:tx>
            <c:strRef>
              <c:f>Sheet1!$B$1</c:f>
              <c:strCache>
                <c:ptCount val="1"/>
                <c:pt idx="0">
                  <c:v>Vols</c:v>
                </c:pt>
              </c:strCache>
            </c:strRef>
          </c:tx>
          <c:spPr>
            <a:solidFill>
              <a:srgbClr val="1D8AC1"/>
            </a:solidFill>
            <a:effectLst/>
          </c:spPr>
          <c:invertIfNegative val="0"/>
          <c:dLbls>
            <c:numFmt formatCode="#,##0" sourceLinked="0"/>
            <c:txPr>
              <a:bodyPr/>
              <a:lstStyle/>
              <a:p>
                <a:pPr>
                  <a:defRPr b="0" i="0" strike="noStrike" sz="900" u="none">
                    <a:solidFill>
                      <a:srgbClr val="5A6B7B"/>
                    </a:solidFill>
                    <a:latin typeface="Arial"/>
                  </a:defRPr>
                </a:pPr>
              </a:p>
            </c:txPr>
            <c:showLegendKey val="0"/>
            <c:showVal val="1"/>
            <c:showCatName val="0"/>
            <c:showSerName val="0"/>
            <c:showPercent val="0"/>
            <c:showBubbleSize val="0"/>
            <c:showLeaderLines val="0"/>
          </c:dLbls>
          <c:cat>
            <c:multiLvlStrRef>
              <c:f>Sheet1!$A$2:$A$9</c:f>
              <c:multiLvlStrCache>
                <c:ptCount val="8"/>
                <c:lvl>
                  <c:pt idx="0">
                    <c:v>ATL</c:v>
                  </c:pt>
                  <c:pt idx="1">
                    <c:v>ORD</c:v>
                  </c:pt>
                  <c:pt idx="2">
                    <c:v>LAX</c:v>
                  </c:pt>
                  <c:pt idx="3">
                    <c:v>BOS</c:v>
                  </c:pt>
                  <c:pt idx="4">
                    <c:v>MCO</c:v>
                  </c:pt>
                  <c:pt idx="5">
                    <c:v>CLT</c:v>
                  </c:pt>
                  <c:pt idx="6">
                    <c:v>SFO</c:v>
                  </c:pt>
                  <c:pt idx="7">
                    <c:v>FLL</c:v>
                  </c:pt>
                </c:lvl>
              </c:multiLvlStrCache>
            </c:multiLvlStrRef>
          </c:cat>
          <c:val>
            <c:numRef>
              <c:f>Sheet1!$B$2:$B$9</c:f>
              <c:numCache>
                <c:formatCode>General</c:formatCode>
                <c:ptCount val="8"/>
                <c:pt idx="0">
                  <c:v>12946</c:v>
                </c:pt>
                <c:pt idx="1">
                  <c:v>12654</c:v>
                </c:pt>
                <c:pt idx="2">
                  <c:v>11895</c:v>
                </c:pt>
                <c:pt idx="3">
                  <c:v>11560</c:v>
                </c:pt>
                <c:pt idx="4">
                  <c:v>10637</c:v>
                </c:pt>
                <c:pt idx="5">
                  <c:v>10448</c:v>
                </c:pt>
                <c:pt idx="6">
                  <c:v>9729</c:v>
                </c:pt>
                <c:pt idx="7">
                  <c:v>9443</c:v>
                </c:pt>
              </c:numCache>
            </c:numRef>
          </c:val>
        </c:ser>
        <c:dLbls>
          <c:numFmt formatCode="#,##0" sourceLinked="0"/>
          <c:txPr>
            <a:bodyPr/>
            <a:lstStyle/>
            <a:p>
              <a:pPr>
                <a:defRPr b="0" i="0" strike="noStrike" sz="900" u="none">
                  <a:solidFill>
                    <a:srgbClr val="5A6B7B"/>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2202B"/>
                </a:solidFill>
                <a:latin typeface="Calibri"/>
              </a:defRPr>
            </a:pPr>
            <a:endParaRPr lang="en-US"/>
          </a:p>
        </c:txPr>
        <c:crossAx val="2094734552"/>
        <c:crosses val="autoZero"/>
        <c:auto val="1"/>
        <c:lblAlgn val="ctr"/>
        <c:noMultiLvlLbl val="1"/>
      </c:catAx>
      <c:valAx>
        <c:axId val="2094734552"/>
        <c:scaling>
          <c:orientation val="minMax"/>
          <c:max val="14000"/>
          <c:min val="0"/>
        </c:scaling>
        <c:delete val="0"/>
        <c:axPos val="b"/>
        <c:majorGridlines>
          <c:spPr>
            <a:ln w="12700" cap="flat">
              <a:solidFill>
                <a:srgbClr val="E3E9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B7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présente la dernière partie du projet : le dashboard qui expose les données, et ce qu'elles racontent. Le jeu porte sur les vols au départ des trois aéroports de New York en 2021.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 formats volontairement hétérogènes : du JSON, de l'Excel, du HTML à scraper et un PDF. L'enjeu du projet est de tout ramener dans un schéma relationnel propre, puis de le rendre lisible.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découplage par l'API est le choix structurant : chacun a pu avancer sur son étage sans bloquer les autres, et le dashboard est déployable séparément.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Huit onglets, un module Shiny par onglet. L'onglet Vols est celui qui sert le plus en démonstration : les filtres, le tri et la pagination sont exécutés par l'API, le dashboard ne charge qu'une page de résultats à la fois.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trafic se répartit presque équitablement entre les trois aéroports. Côté destinations, on retrouve les grands hubs domestiques : Atlanta, Chicago, Los Angeles, Boston.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enseignements. D'abord un rythme hebdomadaire très marqué, typique d'un trafic d'affaires. Ensuite une limite du jeu de données qu'il faut annoncer : il manque presque trois mois. Le dashboard laisse volontairement le trou visible au lieu de relier les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résultat le plus actionnable : le retard se propage d'un vol au suivant sur la même journée. Un avion parti en retard le matin fait décoller en retard tous ses vols suivants. La recommandation pratique tient en une phrase : réserver tôt le matin.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piège de cette slide, c'est l'effectif. Hawaiian affiche le meilleur taux mais sur 258 vols, et SkyWest apparaît à 50 % sur huit vols. C'est pourquoi le graphique affiche le nombre de vols de chaque compagnie, et pourquoi je donne aussi la comparaison à effectifs comparables : Delta contre ExpressJet, environ 17 points d'écart.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corrélation négative s'explique par la marge horaire : les compagnies gonflent le temps de vol prévu sur les longs courriers, ce qui laisse de quoi rattraper. Sur une navette de 90 miles, il n'y a aucune marge.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définition retenue vient du backend : un vol sans heure de départ ni heure d'arrivée. C'est une convention, pas une donnée d'annulation officielle — il faut le dire.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dashboard qui affiche une courbe continue là où il n'y a pas de données ment à son lecteur. Chaque limite est écrite à l'écran, à côté du graphique concerné.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important à défendre à l'oral : le frontend n'est pas qu'une couche de peinture, c'est le premier utilisateur de l'API. Ce défaut n'était visible ni dans les tests de l'API ni dans le schéma de la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peux enchaîner sur la démonstration live : onglet Vols pour montrer les filtres côté API, puis la carte.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566928" y="1600200"/>
            <a:ext cx="8229600" cy="274320"/>
          </a:xfrm>
          <a:prstGeom prst="rect">
            <a:avLst/>
          </a:prstGeom>
          <a:noFill/>
          <a:ln/>
        </p:spPr>
        <p:txBody>
          <a:bodyPr wrap="square" lIns="0" tIns="0" rIns="0" bIns="0" rtlCol="0" anchor="ctr"/>
          <a:lstStyle/>
          <a:p>
            <a:pPr indent="0" marL="0">
              <a:buNone/>
            </a:pPr>
            <a:r>
              <a:rPr lang="en-US" sz="1300" b="1" spc="240" kern="0" dirty="0">
                <a:solidFill>
                  <a:srgbClr val="8FC4E3"/>
                </a:solidFill>
                <a:latin typeface="Calibri" pitchFamily="34" charset="0"/>
                <a:ea typeface="Calibri" pitchFamily="34" charset="-122"/>
                <a:cs typeface="Calibri" pitchFamily="34" charset="-120"/>
              </a:rPr>
              <a:t>PROJET TRAFIC AÉRIEN ADP</a:t>
            </a:r>
            <a:endParaRPr lang="en-US" sz="1300" dirty="0"/>
          </a:p>
        </p:txBody>
      </p:sp>
      <p:sp>
        <p:nvSpPr>
          <p:cNvPr id="3" name="Text 1"/>
          <p:cNvSpPr txBox="1"/>
          <p:nvPr/>
        </p:nvSpPr>
        <p:spPr>
          <a:xfrm>
            <a:off x="566928" y="1965960"/>
            <a:ext cx="8595360" cy="1737360"/>
          </a:xfrm>
          <a:prstGeom prst="rect">
            <a:avLst/>
          </a:prstGeom>
          <a:noFill/>
          <a:ln/>
        </p:spPr>
        <p:txBody>
          <a:bodyPr wrap="square" lIns="0" tIns="0" rIns="0" bIns="0" rtlCol="0" anchor="t"/>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252 704 vols au départ</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de New York, décortiqués</a:t>
            </a:r>
            <a:endParaRPr lang="en-US" sz="4000" dirty="0"/>
          </a:p>
        </p:txBody>
      </p:sp>
      <p:sp>
        <p:nvSpPr>
          <p:cNvPr id="4" name="Text 2"/>
          <p:cNvSpPr txBox="1"/>
          <p:nvPr/>
        </p:nvSpPr>
        <p:spPr>
          <a:xfrm>
            <a:off x="566928" y="3794760"/>
            <a:ext cx="8595360" cy="365760"/>
          </a:xfrm>
          <a:prstGeom prst="rect">
            <a:avLst/>
          </a:prstGeom>
          <a:noFill/>
          <a:ln/>
        </p:spPr>
        <p:txBody>
          <a:bodyPr wrap="square" lIns="0" tIns="0" rIns="0" bIns="0" rtlCol="0" anchor="ctr"/>
          <a:lstStyle/>
          <a:p>
            <a:pPr indent="0" marL="0">
              <a:buNone/>
            </a:pPr>
            <a:r>
              <a:rPr lang="en-US" sz="1500" dirty="0">
                <a:solidFill>
                  <a:srgbClr val="CFE3F1"/>
                </a:solidFill>
                <a:latin typeface="Calibri" pitchFamily="34" charset="0"/>
                <a:ea typeface="Calibri" pitchFamily="34" charset="-122"/>
                <a:cs typeface="Calibri" pitchFamily="34" charset="-120"/>
              </a:rPr>
              <a:t>Dashboard Shiny et analyse du trafic, des retards et des annulations</a:t>
            </a:r>
            <a:endParaRPr lang="en-US" sz="1500" dirty="0"/>
          </a:p>
        </p:txBody>
      </p:sp>
      <p:sp>
        <p:nvSpPr>
          <p:cNvPr id="5" name="Shape 3"/>
          <p:cNvSpPr/>
          <p:nvPr/>
        </p:nvSpPr>
        <p:spPr>
          <a:xfrm>
            <a:off x="566928" y="4617720"/>
            <a:ext cx="4663440" cy="960120"/>
          </a:xfrm>
          <a:prstGeom prst="roundRect">
            <a:avLst>
              <a:gd name="adj" fmla="val 7619"/>
            </a:avLst>
          </a:prstGeom>
          <a:solidFill>
            <a:srgbClr val="134E70"/>
          </a:solidFill>
          <a:ln w="12700">
            <a:solidFill>
              <a:srgbClr val="1F6288"/>
            </a:solidFill>
            <a:prstDash val="solid"/>
          </a:ln>
        </p:spPr>
      </p:sp>
      <p:sp>
        <p:nvSpPr>
          <p:cNvPr id="6" name="Text 4"/>
          <p:cNvSpPr txBox="1"/>
          <p:nvPr/>
        </p:nvSpPr>
        <p:spPr>
          <a:xfrm>
            <a:off x="768096" y="4754880"/>
            <a:ext cx="4297680" cy="7132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Marcus Linguet</a:t>
            </a:r>
            <a:endParaRPr lang="en-US" sz="1400" dirty="0"/>
          </a:p>
          <a:p>
            <a:pPr indent="0" marL="0">
              <a:buNone/>
            </a:pPr>
            <a:r>
              <a:rPr lang="en-US" sz="1150" dirty="0">
                <a:solidFill>
                  <a:srgbClr val="CFE3F1"/>
                </a:solidFill>
                <a:latin typeface="Calibri" pitchFamily="34" charset="0"/>
                <a:ea typeface="Calibri" pitchFamily="34" charset="-122"/>
                <a:cs typeface="Calibri" pitchFamily="34" charset="-120"/>
              </a:rPr>
              <a:t>Partie 5 — dashboard, frontend et présentation</a:t>
            </a:r>
            <a:endParaRPr lang="en-US" sz="1400" dirty="0"/>
          </a:p>
        </p:txBody>
      </p:sp>
      <p:sp>
        <p:nvSpPr>
          <p:cNvPr id="7" name="Text 5"/>
          <p:cNvSpPr txBox="1"/>
          <p:nvPr/>
        </p:nvSpPr>
        <p:spPr>
          <a:xfrm>
            <a:off x="5577840" y="4956048"/>
            <a:ext cx="6035040" cy="320040"/>
          </a:xfrm>
          <a:prstGeom prst="rect">
            <a:avLst/>
          </a:prstGeom>
          <a:noFill/>
          <a:ln/>
        </p:spPr>
        <p:txBody>
          <a:bodyPr wrap="square" lIns="0" tIns="0" rIns="0" bIns="0" rtlCol="0" anchor="ctr"/>
          <a:lstStyle/>
          <a:p>
            <a:pPr indent="0" marL="0">
              <a:buNone/>
            </a:pPr>
            <a:r>
              <a:rPr lang="en-US" sz="1200" dirty="0">
                <a:solidFill>
                  <a:srgbClr val="8FC4E3"/>
                </a:solidFill>
                <a:latin typeface="Calibri" pitchFamily="34" charset="0"/>
                <a:ea typeface="Calibri" pitchFamily="34" charset="-122"/>
                <a:cs typeface="Calibri" pitchFamily="34" charset="-120"/>
              </a:rPr>
              <a:t>MySQL 8  ·  API REST Plumber  ·  Shiny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384048"/>
            <a:ext cx="7315200" cy="256032"/>
          </a:xfrm>
          <a:prstGeom prst="rect">
            <a:avLst/>
          </a:prstGeom>
          <a:noFill/>
          <a:ln/>
        </p:spPr>
        <p:txBody>
          <a:bodyPr wrap="square" lIns="0" tIns="0" rIns="0" bIns="0" rtlCol="0" anchor="ctr"/>
          <a:lstStyle/>
          <a:p>
            <a:pPr indent="0" marL="0">
              <a:buNone/>
            </a:pPr>
            <a:r>
              <a:rPr lang="en-US" sz="1200" b="1" spc="160" kern="0" dirty="0">
                <a:solidFill>
                  <a:srgbClr val="1D8AC1"/>
                </a:solidFill>
                <a:latin typeface="Calibri" pitchFamily="34" charset="0"/>
                <a:ea typeface="Calibri" pitchFamily="34" charset="-122"/>
                <a:cs typeface="Calibri" pitchFamily="34" charset="-120"/>
              </a:rPr>
              <a:t>LE SUJET</a:t>
            </a:r>
            <a:endParaRPr lang="en-US" sz="1200" dirty="0"/>
          </a:p>
        </p:txBody>
      </p:sp>
      <p:sp>
        <p:nvSpPr>
          <p:cNvPr id="3" name="Text 1"/>
          <p:cNvSpPr txBox="1"/>
          <p:nvPr/>
        </p:nvSpPr>
        <p:spPr>
          <a:xfrm>
            <a:off x="566928" y="640080"/>
            <a:ext cx="11057839" cy="658368"/>
          </a:xfrm>
          <a:prstGeom prst="rect">
            <a:avLst/>
          </a:prstGeom>
          <a:noFill/>
          <a:ln/>
        </p:spPr>
        <p:txBody>
          <a:bodyPr wrap="square" lIns="0" tIns="0" rIns="0" bIns="0" rtlCol="0" anchor="ctr"/>
          <a:lstStyle/>
          <a:p>
            <a:pPr indent="0" marL="0">
              <a:buNone/>
            </a:pPr>
            <a:r>
              <a:rPr lang="en-US" sz="3200" b="1" dirty="0">
                <a:solidFill>
                  <a:srgbClr val="12202B"/>
                </a:solidFill>
                <a:latin typeface="Cambria" pitchFamily="34" charset="0"/>
                <a:ea typeface="Cambria" pitchFamily="34" charset="-122"/>
                <a:cs typeface="Cambria" pitchFamily="34" charset="-120"/>
              </a:rPr>
              <a:t>Un an de vols au départ de New York</a:t>
            </a:r>
            <a:endParaRPr lang="en-US" sz="3200" dirty="0"/>
          </a:p>
        </p:txBody>
      </p:sp>
      <p:sp>
        <p:nvSpPr>
          <p:cNvPr id="4" name="Text 2"/>
          <p:cNvSpPr txBox="1"/>
          <p:nvPr/>
        </p:nvSpPr>
        <p:spPr>
          <a:xfrm>
            <a:off x="566928" y="1298448"/>
            <a:ext cx="10692079" cy="365760"/>
          </a:xfrm>
          <a:prstGeom prst="rect">
            <a:avLst/>
          </a:prstGeom>
          <a:noFill/>
          <a:ln/>
        </p:spPr>
        <p:txBody>
          <a:bodyPr wrap="square" lIns="0" tIns="0" rIns="0" bIns="0" rtlCol="0" anchor="ctr"/>
          <a:lstStyle/>
          <a:p>
            <a:pPr indent="0" marL="0">
              <a:buNone/>
            </a:pPr>
            <a:r>
              <a:rPr lang="en-US" sz="1400" dirty="0">
                <a:solidFill>
                  <a:srgbClr val="5A6B7B"/>
                </a:solidFill>
                <a:latin typeface="Calibri" pitchFamily="34" charset="0"/>
                <a:ea typeface="Calibri" pitchFamily="34" charset="-122"/>
                <a:cs typeface="Calibri" pitchFamily="34" charset="-120"/>
              </a:rPr>
              <a:t>Cinq tables issues de cinq formats différents, une question : où et quand le trafic se concentre-t-il, et qu'est-ce qui explique les retards ?</a:t>
            </a:r>
            <a:endParaRPr lang="en-US" sz="1400" dirty="0"/>
          </a:p>
        </p:txBody>
      </p:sp>
      <p:sp>
        <p:nvSpPr>
          <p:cNvPr id="5" name="Shape 3"/>
          <p:cNvSpPr/>
          <p:nvPr/>
        </p:nvSpPr>
        <p:spPr>
          <a:xfrm>
            <a:off x="566928" y="1965960"/>
            <a:ext cx="2615184" cy="1371600"/>
          </a:xfrm>
          <a:prstGeom prst="roundRect">
            <a:avLst>
              <a:gd name="adj" fmla="val 5333"/>
            </a:avLst>
          </a:prstGeom>
          <a:solidFill>
            <a:srgbClr val="0B3C5D"/>
          </a:solidFill>
          <a:ln w="12700">
            <a:solidFill>
              <a:srgbClr val="0B3C5D"/>
            </a:solidFill>
            <a:prstDash val="solid"/>
          </a:ln>
          <a:effectLst>
            <a:outerShdw sx="100000" sy="100000" kx="0" ky="0" algn="bl" rotWithShape="0" blurRad="101600" dist="508" dir="5400000">
              <a:srgbClr val="9FB3C4">
                <a:alpha val="28000"/>
              </a:srgbClr>
            </a:outerShdw>
          </a:effectLst>
        </p:spPr>
      </p:sp>
      <p:sp>
        <p:nvSpPr>
          <p:cNvPr id="6" name="Text 4"/>
          <p:cNvSpPr txBox="1"/>
          <p:nvPr/>
        </p:nvSpPr>
        <p:spPr>
          <a:xfrm>
            <a:off x="713232" y="2075688"/>
            <a:ext cx="2322576" cy="56692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252 704</a:t>
            </a:r>
            <a:endParaRPr lang="en-US" sz="3000" dirty="0"/>
          </a:p>
        </p:txBody>
      </p:sp>
      <p:sp>
        <p:nvSpPr>
          <p:cNvPr id="7" name="Text 5"/>
          <p:cNvSpPr txBox="1"/>
          <p:nvPr/>
        </p:nvSpPr>
        <p:spPr>
          <a:xfrm>
            <a:off x="713232" y="2642616"/>
            <a:ext cx="2322576" cy="585216"/>
          </a:xfrm>
          <a:prstGeom prst="rect">
            <a:avLst/>
          </a:prstGeom>
          <a:noFill/>
          <a:ln/>
        </p:spPr>
        <p:txBody>
          <a:bodyPr wrap="square" lIns="0" tIns="0" rIns="0" bIns="0" rtlCol="0" anchor="t"/>
          <a:lstStyle/>
          <a:p>
            <a:pPr indent="0" marL="0">
              <a:buNone/>
            </a:pPr>
            <a:r>
              <a:rPr lang="en-US" sz="1150" dirty="0">
                <a:solidFill>
                  <a:srgbClr val="CFE3F1"/>
                </a:solidFill>
                <a:latin typeface="Calibri" pitchFamily="34" charset="0"/>
                <a:ea typeface="Calibri" pitchFamily="34" charset="-122"/>
                <a:cs typeface="Calibri" pitchFamily="34" charset="-120"/>
              </a:rPr>
              <a:t>vols enregistrés</a:t>
            </a:r>
            <a:endParaRPr lang="en-US" sz="1150" dirty="0"/>
          </a:p>
        </p:txBody>
      </p:sp>
      <p:sp>
        <p:nvSpPr>
          <p:cNvPr id="8" name="Shape 6"/>
          <p:cNvSpPr/>
          <p:nvPr/>
        </p:nvSpPr>
        <p:spPr>
          <a:xfrm>
            <a:off x="3364992" y="1965960"/>
            <a:ext cx="2615184" cy="1371600"/>
          </a:xfrm>
          <a:prstGeom prst="roundRect">
            <a:avLst>
              <a:gd name="adj" fmla="val 5333"/>
            </a:avLst>
          </a:prstGeom>
          <a:solidFill>
            <a:srgbClr val="E8F1F8"/>
          </a:solidFill>
          <a:ln w="12700">
            <a:solidFill>
              <a:srgbClr val="E8F1F8"/>
            </a:solidFill>
            <a:prstDash val="solid"/>
          </a:ln>
          <a:effectLst>
            <a:outerShdw sx="100000" sy="100000" kx="0" ky="0" algn="bl" rotWithShape="0" blurRad="101600" dist="508" dir="5400000">
              <a:srgbClr val="9FB3C4">
                <a:alpha val="28000"/>
              </a:srgbClr>
            </a:outerShdw>
          </a:effectLst>
        </p:spPr>
      </p:sp>
      <p:sp>
        <p:nvSpPr>
          <p:cNvPr id="9" name="Text 7"/>
          <p:cNvSpPr txBox="1"/>
          <p:nvPr/>
        </p:nvSpPr>
        <p:spPr>
          <a:xfrm>
            <a:off x="3511296" y="2075688"/>
            <a:ext cx="2322576" cy="566928"/>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103</a:t>
            </a:r>
            <a:endParaRPr lang="en-US" sz="3000" dirty="0"/>
          </a:p>
        </p:txBody>
      </p:sp>
      <p:sp>
        <p:nvSpPr>
          <p:cNvPr id="10" name="Text 8"/>
          <p:cNvSpPr txBox="1"/>
          <p:nvPr/>
        </p:nvSpPr>
        <p:spPr>
          <a:xfrm>
            <a:off x="3511296" y="2642616"/>
            <a:ext cx="2322576" cy="585216"/>
          </a:xfrm>
          <a:prstGeom prst="rect">
            <a:avLst/>
          </a:prstGeom>
          <a:noFill/>
          <a:ln/>
        </p:spPr>
        <p:txBody>
          <a:bodyPr wrap="square" lIns="0" tIns="0" rIns="0" bIns="0" rtlCol="0" anchor="t"/>
          <a:lstStyle/>
          <a:p>
            <a:pPr indent="0" marL="0">
              <a:buNone/>
            </a:pPr>
            <a:r>
              <a:rPr lang="en-US" sz="1150" dirty="0">
                <a:solidFill>
                  <a:srgbClr val="5A6B7B"/>
                </a:solidFill>
                <a:latin typeface="Calibri" pitchFamily="34" charset="0"/>
                <a:ea typeface="Calibri" pitchFamily="34" charset="-122"/>
                <a:cs typeface="Calibri" pitchFamily="34" charset="-120"/>
              </a:rPr>
              <a:t>destinations desservies</a:t>
            </a:r>
            <a:endParaRPr lang="en-US" sz="1150" dirty="0"/>
          </a:p>
        </p:txBody>
      </p:sp>
      <p:sp>
        <p:nvSpPr>
          <p:cNvPr id="11" name="Shape 9"/>
          <p:cNvSpPr/>
          <p:nvPr/>
        </p:nvSpPr>
        <p:spPr>
          <a:xfrm>
            <a:off x="6163056" y="1965960"/>
            <a:ext cx="2615184" cy="1371600"/>
          </a:xfrm>
          <a:prstGeom prst="roundRect">
            <a:avLst>
              <a:gd name="adj" fmla="val 5333"/>
            </a:avLst>
          </a:prstGeom>
          <a:solidFill>
            <a:srgbClr val="E8F1F8"/>
          </a:solidFill>
          <a:ln w="12700">
            <a:solidFill>
              <a:srgbClr val="E8F1F8"/>
            </a:solidFill>
            <a:prstDash val="solid"/>
          </a:ln>
          <a:effectLst>
            <a:outerShdw sx="100000" sy="100000" kx="0" ky="0" algn="bl" rotWithShape="0" blurRad="101600" dist="508" dir="5400000">
              <a:srgbClr val="9FB3C4">
                <a:alpha val="28000"/>
              </a:srgbClr>
            </a:outerShdw>
          </a:effectLst>
        </p:spPr>
      </p:sp>
      <p:sp>
        <p:nvSpPr>
          <p:cNvPr id="12" name="Text 10"/>
          <p:cNvSpPr txBox="1"/>
          <p:nvPr/>
        </p:nvSpPr>
        <p:spPr>
          <a:xfrm>
            <a:off x="6309360" y="2075688"/>
            <a:ext cx="2322576" cy="566928"/>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16</a:t>
            </a:r>
            <a:endParaRPr lang="en-US" sz="3000" dirty="0"/>
          </a:p>
        </p:txBody>
      </p:sp>
      <p:sp>
        <p:nvSpPr>
          <p:cNvPr id="13" name="Text 11"/>
          <p:cNvSpPr txBox="1"/>
          <p:nvPr/>
        </p:nvSpPr>
        <p:spPr>
          <a:xfrm>
            <a:off x="6309360" y="2642616"/>
            <a:ext cx="2322576" cy="585216"/>
          </a:xfrm>
          <a:prstGeom prst="rect">
            <a:avLst/>
          </a:prstGeom>
          <a:noFill/>
          <a:ln/>
        </p:spPr>
        <p:txBody>
          <a:bodyPr wrap="square" lIns="0" tIns="0" rIns="0" bIns="0" rtlCol="0" anchor="t"/>
          <a:lstStyle/>
          <a:p>
            <a:pPr indent="0" marL="0">
              <a:buNone/>
            </a:pPr>
            <a:r>
              <a:rPr lang="en-US" sz="1150" dirty="0">
                <a:solidFill>
                  <a:srgbClr val="5A6B7B"/>
                </a:solidFill>
                <a:latin typeface="Calibri" pitchFamily="34" charset="0"/>
                <a:ea typeface="Calibri" pitchFamily="34" charset="-122"/>
                <a:cs typeface="Calibri" pitchFamily="34" charset="-120"/>
              </a:rPr>
              <a:t>compagnies aériennes</a:t>
            </a:r>
            <a:endParaRPr lang="en-US" sz="1150" dirty="0"/>
          </a:p>
        </p:txBody>
      </p:sp>
      <p:sp>
        <p:nvSpPr>
          <p:cNvPr id="14" name="Shape 12"/>
          <p:cNvSpPr/>
          <p:nvPr/>
        </p:nvSpPr>
        <p:spPr>
          <a:xfrm>
            <a:off x="8961120" y="1965960"/>
            <a:ext cx="2615184" cy="1371600"/>
          </a:xfrm>
          <a:prstGeom prst="roundRect">
            <a:avLst>
              <a:gd name="adj" fmla="val 5333"/>
            </a:avLst>
          </a:prstGeom>
          <a:solidFill>
            <a:srgbClr val="E8F1F8"/>
          </a:solidFill>
          <a:ln w="12700">
            <a:solidFill>
              <a:srgbClr val="E8F1F8"/>
            </a:solidFill>
            <a:prstDash val="solid"/>
          </a:ln>
          <a:effectLst>
            <a:outerShdw sx="100000" sy="100000" kx="0" ky="0" algn="bl" rotWithShape="0" blurRad="101600" dist="508" dir="5400000">
              <a:srgbClr val="9FB3C4">
                <a:alpha val="28000"/>
              </a:srgbClr>
            </a:outerShdw>
          </a:effectLst>
        </p:spPr>
      </p:sp>
      <p:sp>
        <p:nvSpPr>
          <p:cNvPr id="15" name="Text 13"/>
          <p:cNvSpPr txBox="1"/>
          <p:nvPr/>
        </p:nvSpPr>
        <p:spPr>
          <a:xfrm>
            <a:off x="9107424" y="2075688"/>
            <a:ext cx="2322576" cy="566928"/>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3</a:t>
            </a:r>
            <a:endParaRPr lang="en-US" sz="3000" dirty="0"/>
          </a:p>
        </p:txBody>
      </p:sp>
      <p:sp>
        <p:nvSpPr>
          <p:cNvPr id="16" name="Text 14"/>
          <p:cNvSpPr txBox="1"/>
          <p:nvPr/>
        </p:nvSpPr>
        <p:spPr>
          <a:xfrm>
            <a:off x="9107424" y="2642616"/>
            <a:ext cx="2322576" cy="585216"/>
          </a:xfrm>
          <a:prstGeom prst="rect">
            <a:avLst/>
          </a:prstGeom>
          <a:noFill/>
          <a:ln/>
        </p:spPr>
        <p:txBody>
          <a:bodyPr wrap="square" lIns="0" tIns="0" rIns="0" bIns="0" rtlCol="0" anchor="t"/>
          <a:lstStyle/>
          <a:p>
            <a:pPr indent="0" marL="0">
              <a:buNone/>
            </a:pPr>
            <a:r>
              <a:rPr lang="en-US" sz="1150" dirty="0">
                <a:solidFill>
                  <a:srgbClr val="5A6B7B"/>
                </a:solidFill>
                <a:latin typeface="Calibri" pitchFamily="34" charset="0"/>
                <a:ea typeface="Calibri" pitchFamily="34" charset="-122"/>
                <a:cs typeface="Calibri" pitchFamily="34" charset="-120"/>
              </a:rPr>
              <a:t>aéroports de départ : JFK, LGA, EWR</a:t>
            </a:r>
            <a:endParaRPr lang="en-US" sz="1150" dirty="0"/>
          </a:p>
        </p:txBody>
      </p:sp>
      <p:sp>
        <p:nvSpPr>
          <p:cNvPr id="17" name="Text 15"/>
          <p:cNvSpPr txBox="1"/>
          <p:nvPr/>
        </p:nvSpPr>
        <p:spPr>
          <a:xfrm>
            <a:off x="566928" y="3657600"/>
            <a:ext cx="5120640" cy="274320"/>
          </a:xfrm>
          <a:prstGeom prst="rect">
            <a:avLst/>
          </a:prstGeom>
          <a:noFill/>
          <a:ln/>
        </p:spPr>
        <p:txBody>
          <a:bodyPr wrap="square" lIns="0" tIns="0" rIns="0" bIns="0" rtlCol="0" anchor="ctr"/>
          <a:lstStyle/>
          <a:p>
            <a:pPr indent="0" marL="0">
              <a:buNone/>
            </a:pPr>
            <a:r>
              <a:rPr lang="en-US" sz="1700" b="1" dirty="0">
                <a:solidFill>
                  <a:srgbClr val="12202B"/>
                </a:solidFill>
                <a:latin typeface="Cambria" pitchFamily="34" charset="0"/>
                <a:ea typeface="Cambria" pitchFamily="34" charset="-122"/>
                <a:cs typeface="Cambria" pitchFamily="34" charset="-120"/>
              </a:rPr>
              <a:t>Les cinq sources</a:t>
            </a:r>
            <a:endParaRPr lang="en-US" sz="1700" dirty="0"/>
          </a:p>
        </p:txBody>
      </p:sp>
      <p:sp>
        <p:nvSpPr>
          <p:cNvPr id="18" name="Text 16"/>
          <p:cNvSpPr txBox="1"/>
          <p:nvPr/>
        </p:nvSpPr>
        <p:spPr>
          <a:xfrm>
            <a:off x="566928" y="4023360"/>
            <a:ext cx="5212080" cy="2011680"/>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350" dirty="0">
                <a:solidFill>
                  <a:srgbClr val="12202B"/>
                </a:solidFill>
                <a:latin typeface="Calibri" pitchFamily="34" charset="0"/>
                <a:ea typeface="Calibri" pitchFamily="34" charset="-122"/>
                <a:cs typeface="Calibri" pitchFamily="34" charset="-120"/>
              </a:rPr>
              <a:t>airlines.json — les compagnies</a:t>
            </a:r>
            <a:endParaRPr lang="en-US" sz="1350" dirty="0"/>
          </a:p>
          <a:p>
            <a:pPr marL="342900" indent="-342900">
              <a:lnSpc>
                <a:spcPts val="1800"/>
              </a:lnSpc>
              <a:spcAft>
                <a:spcPts val="700"/>
              </a:spcAft>
              <a:buSzPct val="100000"/>
              <a:buChar char="•"/>
            </a:pPr>
            <a:r>
              <a:rPr lang="en-US" sz="1350" dirty="0">
                <a:solidFill>
                  <a:srgbClr val="12202B"/>
                </a:solidFill>
                <a:latin typeface="Calibri" pitchFamily="34" charset="0"/>
                <a:ea typeface="Calibri" pitchFamily="34" charset="-122"/>
                <a:cs typeface="Calibri" pitchFamily="34" charset="-120"/>
              </a:rPr>
              <a:t>airports.xlsx — 1 462 aéroports et leurs coordonnées</a:t>
            </a:r>
            <a:endParaRPr lang="en-US" sz="1350" dirty="0"/>
          </a:p>
          <a:p>
            <a:pPr marL="342900" indent="-342900">
              <a:lnSpc>
                <a:spcPts val="1800"/>
              </a:lnSpc>
              <a:spcAft>
                <a:spcPts val="700"/>
              </a:spcAft>
              <a:buSzPct val="100000"/>
              <a:buChar char="•"/>
            </a:pPr>
            <a:r>
              <a:rPr lang="en-US" sz="1350" dirty="0">
                <a:solidFill>
                  <a:srgbClr val="12202B"/>
                </a:solidFill>
                <a:latin typeface="Calibri" pitchFamily="34" charset="0"/>
                <a:ea typeface="Calibri" pitchFamily="34" charset="-122"/>
                <a:cs typeface="Calibri" pitchFamily="34" charset="-120"/>
              </a:rPr>
              <a:t>flights.xlsx — les vols, table centrale</a:t>
            </a:r>
            <a:endParaRPr lang="en-US" sz="1350" dirty="0"/>
          </a:p>
          <a:p>
            <a:pPr marL="342900" indent="-342900">
              <a:lnSpc>
                <a:spcPts val="1800"/>
              </a:lnSpc>
              <a:spcAft>
                <a:spcPts val="700"/>
              </a:spcAft>
              <a:buSzPct val="100000"/>
              <a:buChar char="•"/>
            </a:pPr>
            <a:r>
              <a:rPr lang="en-US" sz="1350" dirty="0">
                <a:solidFill>
                  <a:srgbClr val="12202B"/>
                </a:solidFill>
                <a:latin typeface="Calibri" pitchFamily="34" charset="0"/>
                <a:ea typeface="Calibri" pitchFamily="34" charset="-122"/>
                <a:cs typeface="Calibri" pitchFamily="34" charset="-120"/>
              </a:rPr>
              <a:t>planes.html — la flotte, page web à parser</a:t>
            </a:r>
            <a:endParaRPr lang="en-US" sz="1350" dirty="0"/>
          </a:p>
          <a:p>
            <a:pPr marL="342900" indent="-342900">
              <a:lnSpc>
                <a:spcPts val="1800"/>
              </a:lnSpc>
              <a:spcAft>
                <a:spcPts val="700"/>
              </a:spcAft>
              <a:buSzPct val="100000"/>
              <a:buChar char="•"/>
            </a:pPr>
            <a:r>
              <a:rPr lang="en-US" sz="1350" dirty="0">
                <a:solidFill>
                  <a:srgbClr val="12202B"/>
                </a:solidFill>
                <a:latin typeface="Calibri" pitchFamily="34" charset="0"/>
                <a:ea typeface="Calibri" pitchFamily="34" charset="-122"/>
                <a:cs typeface="Calibri" pitchFamily="34" charset="-120"/>
              </a:rPr>
              <a:t>weather.pdf — la météo horaire, extraite d'un PDF</a:t>
            </a:r>
            <a:endParaRPr lang="en-US" sz="1350" dirty="0"/>
          </a:p>
        </p:txBody>
      </p:sp>
      <p:sp>
        <p:nvSpPr>
          <p:cNvPr id="19" name="Text 17"/>
          <p:cNvSpPr txBox="1"/>
          <p:nvPr/>
        </p:nvSpPr>
        <p:spPr>
          <a:xfrm>
            <a:off x="6217920" y="3657600"/>
            <a:ext cx="5486400" cy="274320"/>
          </a:xfrm>
          <a:prstGeom prst="rect">
            <a:avLst/>
          </a:prstGeom>
          <a:noFill/>
          <a:ln/>
        </p:spPr>
        <p:txBody>
          <a:bodyPr wrap="square" lIns="0" tIns="0" rIns="0" bIns="0" rtlCol="0" anchor="ctr"/>
          <a:lstStyle/>
          <a:p>
            <a:pPr indent="0" marL="0">
              <a:buNone/>
            </a:pPr>
            <a:r>
              <a:rPr lang="en-US" sz="1700" b="1" dirty="0">
                <a:solidFill>
                  <a:srgbClr val="12202B"/>
                </a:solidFill>
                <a:latin typeface="Cambria" pitchFamily="34" charset="0"/>
                <a:ea typeface="Cambria" pitchFamily="34" charset="-122"/>
                <a:cs typeface="Cambria" pitchFamily="34" charset="-120"/>
              </a:rPr>
              <a:t>Ce que le dashboard doit permettre</a:t>
            </a:r>
            <a:endParaRPr lang="en-US" sz="1700" dirty="0"/>
          </a:p>
        </p:txBody>
      </p:sp>
      <p:sp>
        <p:nvSpPr>
          <p:cNvPr id="20" name="Text 18"/>
          <p:cNvSpPr txBox="1"/>
          <p:nvPr/>
        </p:nvSpPr>
        <p:spPr>
          <a:xfrm>
            <a:off x="6217920" y="4023360"/>
            <a:ext cx="5394960" cy="2011680"/>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350" dirty="0">
                <a:solidFill>
                  <a:srgbClr val="12202B"/>
                </a:solidFill>
                <a:latin typeface="Calibri" pitchFamily="34" charset="0"/>
                <a:ea typeface="Calibri" pitchFamily="34" charset="-122"/>
                <a:cs typeface="Calibri" pitchFamily="34" charset="-120"/>
              </a:rPr>
              <a:t>Mesurer le trafic : par aéroport, par mois, par jour</a:t>
            </a:r>
            <a:endParaRPr lang="en-US" sz="1350" dirty="0"/>
          </a:p>
          <a:p>
            <a:pPr marL="342900" indent="-342900">
              <a:lnSpc>
                <a:spcPts val="1800"/>
              </a:lnSpc>
              <a:spcAft>
                <a:spcPts val="700"/>
              </a:spcAft>
              <a:buSzPct val="100000"/>
              <a:buChar char="•"/>
            </a:pPr>
            <a:r>
              <a:rPr lang="en-US" sz="1350" dirty="0">
                <a:solidFill>
                  <a:srgbClr val="12202B"/>
                </a:solidFill>
                <a:latin typeface="Calibri" pitchFamily="34" charset="0"/>
                <a:ea typeface="Calibri" pitchFamily="34" charset="-122"/>
                <a:cs typeface="Calibri" pitchFamily="34" charset="-120"/>
              </a:rPr>
              <a:t>Comparer la ponctualité des compagnies et des aéroports</a:t>
            </a:r>
            <a:endParaRPr lang="en-US" sz="1350" dirty="0"/>
          </a:p>
          <a:p>
            <a:pPr marL="342900" indent="-342900">
              <a:lnSpc>
                <a:spcPts val="1800"/>
              </a:lnSpc>
              <a:spcAft>
                <a:spcPts val="700"/>
              </a:spcAft>
              <a:buSzPct val="100000"/>
              <a:buChar char="•"/>
            </a:pPr>
            <a:r>
              <a:rPr lang="en-US" sz="1350" dirty="0">
                <a:solidFill>
                  <a:srgbClr val="12202B"/>
                </a:solidFill>
                <a:latin typeface="Calibri" pitchFamily="34" charset="0"/>
                <a:ea typeface="Calibri" pitchFamily="34" charset="-122"/>
                <a:cs typeface="Calibri" pitchFamily="34" charset="-120"/>
              </a:rPr>
              <a:t>Situer les annulations dans le temps</a:t>
            </a:r>
            <a:endParaRPr lang="en-US" sz="1350" dirty="0"/>
          </a:p>
          <a:p>
            <a:pPr marL="342900" indent="-342900">
              <a:lnSpc>
                <a:spcPts val="1800"/>
              </a:lnSpc>
              <a:spcAft>
                <a:spcPts val="700"/>
              </a:spcAft>
              <a:buSzPct val="100000"/>
              <a:buChar char="•"/>
            </a:pPr>
            <a:r>
              <a:rPr lang="en-US" sz="1350" dirty="0">
                <a:solidFill>
                  <a:srgbClr val="12202B"/>
                </a:solidFill>
                <a:latin typeface="Calibri" pitchFamily="34" charset="0"/>
                <a:ea typeface="Calibri" pitchFamily="34" charset="-122"/>
                <a:cs typeface="Calibri" pitchFamily="34" charset="-120"/>
              </a:rPr>
              <a:t>Explorer un vol précis sans écrire une ligne de SQL</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384048"/>
            <a:ext cx="7315200" cy="256032"/>
          </a:xfrm>
          <a:prstGeom prst="rect">
            <a:avLst/>
          </a:prstGeom>
          <a:noFill/>
          <a:ln/>
        </p:spPr>
        <p:txBody>
          <a:bodyPr wrap="square" lIns="0" tIns="0" rIns="0" bIns="0" rtlCol="0" anchor="ctr"/>
          <a:lstStyle/>
          <a:p>
            <a:pPr indent="0" marL="0">
              <a:buNone/>
            </a:pPr>
            <a:r>
              <a:rPr lang="en-US" sz="1200" b="1" spc="160" kern="0" dirty="0">
                <a:solidFill>
                  <a:srgbClr val="1D8AC1"/>
                </a:solidFill>
                <a:latin typeface="Calibri" pitchFamily="34" charset="0"/>
                <a:ea typeface="Calibri" pitchFamily="34" charset="-122"/>
                <a:cs typeface="Calibri" pitchFamily="34" charset="-120"/>
              </a:rPr>
              <a:t>ARCHITECTURE</a:t>
            </a:r>
            <a:endParaRPr lang="en-US" sz="1200" dirty="0"/>
          </a:p>
        </p:txBody>
      </p:sp>
      <p:sp>
        <p:nvSpPr>
          <p:cNvPr id="3" name="Text 1"/>
          <p:cNvSpPr txBox="1"/>
          <p:nvPr/>
        </p:nvSpPr>
        <p:spPr>
          <a:xfrm>
            <a:off x="566928" y="640080"/>
            <a:ext cx="11057839" cy="658368"/>
          </a:xfrm>
          <a:prstGeom prst="rect">
            <a:avLst/>
          </a:prstGeom>
          <a:noFill/>
          <a:ln/>
        </p:spPr>
        <p:txBody>
          <a:bodyPr wrap="square" lIns="0" tIns="0" rIns="0" bIns="0" rtlCol="0" anchor="ctr"/>
          <a:lstStyle/>
          <a:p>
            <a:pPr indent="0" marL="0">
              <a:buNone/>
            </a:pPr>
            <a:r>
              <a:rPr lang="en-US" sz="3200" b="1" dirty="0">
                <a:solidFill>
                  <a:srgbClr val="12202B"/>
                </a:solidFill>
                <a:latin typeface="Cambria" pitchFamily="34" charset="0"/>
                <a:ea typeface="Cambria" pitchFamily="34" charset="-122"/>
                <a:cs typeface="Cambria" pitchFamily="34" charset="-120"/>
              </a:rPr>
              <a:t>Quatre étages, quatre responsabilités</a:t>
            </a:r>
            <a:endParaRPr lang="en-US" sz="3200" dirty="0"/>
          </a:p>
        </p:txBody>
      </p:sp>
      <p:sp>
        <p:nvSpPr>
          <p:cNvPr id="4" name="Text 2"/>
          <p:cNvSpPr txBox="1"/>
          <p:nvPr/>
        </p:nvSpPr>
        <p:spPr>
          <a:xfrm>
            <a:off x="566928" y="1298448"/>
            <a:ext cx="10692079" cy="365760"/>
          </a:xfrm>
          <a:prstGeom prst="rect">
            <a:avLst/>
          </a:prstGeom>
          <a:noFill/>
          <a:ln/>
        </p:spPr>
        <p:txBody>
          <a:bodyPr wrap="square" lIns="0" tIns="0" rIns="0" bIns="0" rtlCol="0" anchor="ctr"/>
          <a:lstStyle/>
          <a:p>
            <a:pPr indent="0" marL="0">
              <a:buNone/>
            </a:pPr>
            <a:r>
              <a:rPr lang="en-US" sz="1400" dirty="0">
                <a:solidFill>
                  <a:srgbClr val="5A6B7B"/>
                </a:solidFill>
                <a:latin typeface="Calibri" pitchFamily="34" charset="0"/>
                <a:ea typeface="Calibri" pitchFamily="34" charset="-122"/>
                <a:cs typeface="Calibri" pitchFamily="34" charset="-120"/>
              </a:rPr>
              <a:t>Chaque étage ne parle qu'à son voisin : le dashboard n'ouvre aucune connexion à la base.</a:t>
            </a:r>
            <a:endParaRPr lang="en-US" sz="1400" dirty="0"/>
          </a:p>
        </p:txBody>
      </p:sp>
      <p:sp>
        <p:nvSpPr>
          <p:cNvPr id="5" name="Shape 3"/>
          <p:cNvSpPr/>
          <p:nvPr/>
        </p:nvSpPr>
        <p:spPr>
          <a:xfrm>
            <a:off x="566928" y="2011680"/>
            <a:ext cx="2651760" cy="2606040"/>
          </a:xfrm>
          <a:prstGeom prst="roundRect">
            <a:avLst>
              <a:gd name="adj" fmla="val 2807"/>
            </a:avLst>
          </a:prstGeom>
          <a:solidFill>
            <a:srgbClr val="E8F1F8"/>
          </a:solidFill>
          <a:ln w="12700">
            <a:solidFill>
              <a:srgbClr val="CFE3F1"/>
            </a:solidFill>
            <a:prstDash val="solid"/>
          </a:ln>
          <a:effectLst>
            <a:outerShdw sx="100000" sy="100000" kx="0" ky="0" algn="bl" rotWithShape="0" blurRad="101600" dist="508" dir="5400000">
              <a:srgbClr val="9FB3C4">
                <a:alpha val="28000"/>
              </a:srgbClr>
            </a:outerShdw>
          </a:effectLst>
        </p:spPr>
      </p:sp>
      <p:sp>
        <p:nvSpPr>
          <p:cNvPr id="6" name="Shape 4"/>
          <p:cNvSpPr/>
          <p:nvPr/>
        </p:nvSpPr>
        <p:spPr>
          <a:xfrm>
            <a:off x="749808" y="2194560"/>
            <a:ext cx="420624" cy="420624"/>
          </a:xfrm>
          <a:prstGeom prst="ellipse">
            <a:avLst/>
          </a:prstGeom>
          <a:solidFill>
            <a:srgbClr val="0B3C5D"/>
          </a:solidFill>
          <a:ln w="12700">
            <a:solidFill>
              <a:srgbClr val="0B3C5D"/>
            </a:solidFill>
            <a:prstDash val="solid"/>
          </a:ln>
        </p:spPr>
      </p:sp>
      <p:sp>
        <p:nvSpPr>
          <p:cNvPr id="7" name="Text 5"/>
          <p:cNvSpPr txBox="1"/>
          <p:nvPr/>
        </p:nvSpPr>
        <p:spPr>
          <a:xfrm>
            <a:off x="749808" y="2231136"/>
            <a:ext cx="420624"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252728" y="2231136"/>
            <a:ext cx="1828800" cy="365760"/>
          </a:xfrm>
          <a:prstGeom prst="rect">
            <a:avLst/>
          </a:prstGeom>
          <a:noFill/>
          <a:ln/>
        </p:spPr>
        <p:txBody>
          <a:bodyPr wrap="square" lIns="0" tIns="0" rIns="0" bIns="0" rtlCol="0" anchor="ctr"/>
          <a:lstStyle/>
          <a:p>
            <a:pPr indent="0" marL="0">
              <a:buNone/>
            </a:pPr>
            <a:r>
              <a:rPr lang="en-US" sz="1450" b="1" dirty="0">
                <a:solidFill>
                  <a:srgbClr val="12202B"/>
                </a:solidFill>
                <a:latin typeface="Cambria" pitchFamily="34" charset="0"/>
                <a:ea typeface="Cambria" pitchFamily="34" charset="-122"/>
                <a:cs typeface="Cambria" pitchFamily="34" charset="-120"/>
              </a:rPr>
              <a:t>Fichiers sources</a:t>
            </a:r>
            <a:endParaRPr lang="en-US" sz="1450" dirty="0"/>
          </a:p>
        </p:txBody>
      </p:sp>
      <p:sp>
        <p:nvSpPr>
          <p:cNvPr id="9" name="Text 7"/>
          <p:cNvSpPr txBox="1"/>
          <p:nvPr/>
        </p:nvSpPr>
        <p:spPr>
          <a:xfrm>
            <a:off x="749808" y="2788920"/>
            <a:ext cx="2286000" cy="1143000"/>
          </a:xfrm>
          <a:prstGeom prst="rect">
            <a:avLst/>
          </a:prstGeom>
          <a:noFill/>
          <a:ln/>
        </p:spPr>
        <p:txBody>
          <a:bodyPr wrap="square" lIns="0" tIns="0" rIns="0" bIns="0" rtlCol="0" anchor="t"/>
          <a:lstStyle/>
          <a:p>
            <a:pPr indent="0" marL="0">
              <a:lnSpc>
                <a:spcPts val="1500"/>
              </a:lnSpc>
              <a:buNone/>
            </a:pPr>
            <a:r>
              <a:rPr lang="en-US" sz="1150" dirty="0">
                <a:solidFill>
                  <a:srgbClr val="5A6B7B"/>
                </a:solidFill>
                <a:latin typeface="Calibri" pitchFamily="34" charset="0"/>
                <a:ea typeface="Calibri" pitchFamily="34" charset="-122"/>
                <a:cs typeface="Calibri" pitchFamily="34" charset="-120"/>
              </a:rPr>
              <a:t>xlsx, json, html, pdf</a:t>
            </a:r>
            <a:endParaRPr lang="en-US" sz="1150" dirty="0"/>
          </a:p>
          <a:p>
            <a:pPr indent="0" marL="0">
              <a:lnSpc>
                <a:spcPts val="1500"/>
              </a:lnSpc>
              <a:buNone/>
            </a:pPr>
            <a:r>
              <a:rPr lang="en-US" sz="1150" dirty="0">
                <a:solidFill>
                  <a:srgbClr val="5A6B7B"/>
                </a:solidFill>
                <a:latin typeface="Calibri" pitchFamily="34" charset="0"/>
                <a:ea typeface="Calibri" pitchFamily="34" charset="-122"/>
                <a:cs typeface="Calibri" pitchFamily="34" charset="-120"/>
              </a:rPr>
              <a:t>Nettoyage et complétion</a:t>
            </a:r>
            <a:endParaRPr lang="en-US" sz="1150" dirty="0"/>
          </a:p>
          <a:p>
            <a:pPr indent="0" marL="0">
              <a:lnSpc>
                <a:spcPts val="1500"/>
              </a:lnSpc>
              <a:buNone/>
            </a:pPr>
            <a:r>
              <a:rPr lang="en-US" sz="1150" dirty="0">
                <a:solidFill>
                  <a:srgbClr val="5A6B7B"/>
                </a:solidFill>
                <a:latin typeface="Calibri" pitchFamily="34" charset="0"/>
                <a:ea typeface="Calibri" pitchFamily="34" charset="-122"/>
                <a:cs typeface="Calibri" pitchFamily="34" charset="-120"/>
              </a:rPr>
              <a:t>des clés étrangères</a:t>
            </a:r>
            <a:endParaRPr lang="en-US" sz="1150" dirty="0"/>
          </a:p>
        </p:txBody>
      </p:sp>
      <p:sp>
        <p:nvSpPr>
          <p:cNvPr id="10" name="Text 8"/>
          <p:cNvSpPr txBox="1"/>
          <p:nvPr/>
        </p:nvSpPr>
        <p:spPr>
          <a:xfrm>
            <a:off x="749808" y="4069080"/>
            <a:ext cx="2286000" cy="320040"/>
          </a:xfrm>
          <a:prstGeom prst="rect">
            <a:avLst/>
          </a:prstGeom>
          <a:noFill/>
          <a:ln/>
        </p:spPr>
        <p:txBody>
          <a:bodyPr wrap="square" lIns="0" tIns="0" rIns="0" bIns="0" rtlCol="0" anchor="ctr"/>
          <a:lstStyle/>
          <a:p>
            <a:pPr indent="0" marL="0">
              <a:buNone/>
            </a:pPr>
            <a:r>
              <a:rPr lang="en-US" sz="1100" b="1" dirty="0">
                <a:solidFill>
                  <a:srgbClr val="1D8AC1"/>
                </a:solidFill>
                <a:latin typeface="Calibri" pitchFamily="34" charset="0"/>
                <a:ea typeface="Calibri" pitchFamily="34" charset="-122"/>
                <a:cs typeface="Calibri" pitchFamily="34" charset="-120"/>
              </a:rPr>
              <a:t>Salma</a:t>
            </a:r>
            <a:endParaRPr lang="en-US" sz="1100" dirty="0"/>
          </a:p>
        </p:txBody>
      </p:sp>
      <p:sp>
        <p:nvSpPr>
          <p:cNvPr id="11" name="Text 9"/>
          <p:cNvSpPr txBox="1"/>
          <p:nvPr/>
        </p:nvSpPr>
        <p:spPr>
          <a:xfrm>
            <a:off x="3182112" y="3063240"/>
            <a:ext cx="292608" cy="365760"/>
          </a:xfrm>
          <a:prstGeom prst="rect">
            <a:avLst/>
          </a:prstGeom>
          <a:noFill/>
          <a:ln/>
        </p:spPr>
        <p:txBody>
          <a:bodyPr wrap="square" lIns="0" tIns="0" rIns="0" bIns="0" rtlCol="0" anchor="ctr"/>
          <a:lstStyle/>
          <a:p>
            <a:pPr algn="ctr" indent="0" marL="0">
              <a:buNone/>
            </a:pPr>
            <a:r>
              <a:rPr lang="en-US" sz="2000" dirty="0">
                <a:solidFill>
                  <a:srgbClr val="5A6B7B"/>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3419856" y="2011680"/>
            <a:ext cx="2651760" cy="2606040"/>
          </a:xfrm>
          <a:prstGeom prst="roundRect">
            <a:avLst>
              <a:gd name="adj" fmla="val 2807"/>
            </a:avLst>
          </a:prstGeom>
          <a:solidFill>
            <a:srgbClr val="E8F1F8"/>
          </a:solidFill>
          <a:ln w="12700">
            <a:solidFill>
              <a:srgbClr val="CFE3F1"/>
            </a:solidFill>
            <a:prstDash val="solid"/>
          </a:ln>
          <a:effectLst>
            <a:outerShdw sx="100000" sy="100000" kx="0" ky="0" algn="bl" rotWithShape="0" blurRad="101600" dist="508" dir="5400000">
              <a:srgbClr val="9FB3C4">
                <a:alpha val="28000"/>
              </a:srgbClr>
            </a:outerShdw>
          </a:effectLst>
        </p:spPr>
      </p:sp>
      <p:sp>
        <p:nvSpPr>
          <p:cNvPr id="13" name="Shape 11"/>
          <p:cNvSpPr/>
          <p:nvPr/>
        </p:nvSpPr>
        <p:spPr>
          <a:xfrm>
            <a:off x="3602736" y="2194560"/>
            <a:ext cx="420624" cy="420624"/>
          </a:xfrm>
          <a:prstGeom prst="ellipse">
            <a:avLst/>
          </a:prstGeom>
          <a:solidFill>
            <a:srgbClr val="0B3C5D"/>
          </a:solidFill>
          <a:ln w="12700">
            <a:solidFill>
              <a:srgbClr val="0B3C5D"/>
            </a:solidFill>
            <a:prstDash val="solid"/>
          </a:ln>
        </p:spPr>
      </p:sp>
      <p:sp>
        <p:nvSpPr>
          <p:cNvPr id="14" name="Text 12"/>
          <p:cNvSpPr txBox="1"/>
          <p:nvPr/>
        </p:nvSpPr>
        <p:spPr>
          <a:xfrm>
            <a:off x="3602736" y="2231136"/>
            <a:ext cx="420624"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5" name="Text 13"/>
          <p:cNvSpPr txBox="1"/>
          <p:nvPr/>
        </p:nvSpPr>
        <p:spPr>
          <a:xfrm>
            <a:off x="4105656" y="2231136"/>
            <a:ext cx="1828800" cy="365760"/>
          </a:xfrm>
          <a:prstGeom prst="rect">
            <a:avLst/>
          </a:prstGeom>
          <a:noFill/>
          <a:ln/>
        </p:spPr>
        <p:txBody>
          <a:bodyPr wrap="square" lIns="0" tIns="0" rIns="0" bIns="0" rtlCol="0" anchor="ctr"/>
          <a:lstStyle/>
          <a:p>
            <a:pPr indent="0" marL="0">
              <a:buNone/>
            </a:pPr>
            <a:r>
              <a:rPr lang="en-US" sz="1450" b="1" dirty="0">
                <a:solidFill>
                  <a:srgbClr val="12202B"/>
                </a:solidFill>
                <a:latin typeface="Cambria" pitchFamily="34" charset="0"/>
                <a:ea typeface="Cambria" pitchFamily="34" charset="-122"/>
                <a:cs typeface="Cambria" pitchFamily="34" charset="-120"/>
              </a:rPr>
              <a:t>MySQL 8</a:t>
            </a:r>
            <a:endParaRPr lang="en-US" sz="1450" dirty="0"/>
          </a:p>
        </p:txBody>
      </p:sp>
      <p:sp>
        <p:nvSpPr>
          <p:cNvPr id="16" name="Text 14"/>
          <p:cNvSpPr txBox="1"/>
          <p:nvPr/>
        </p:nvSpPr>
        <p:spPr>
          <a:xfrm>
            <a:off x="3602736" y="2788920"/>
            <a:ext cx="2286000" cy="1143000"/>
          </a:xfrm>
          <a:prstGeom prst="rect">
            <a:avLst/>
          </a:prstGeom>
          <a:noFill/>
          <a:ln/>
        </p:spPr>
        <p:txBody>
          <a:bodyPr wrap="square" lIns="0" tIns="0" rIns="0" bIns="0" rtlCol="0" anchor="t"/>
          <a:lstStyle/>
          <a:p>
            <a:pPr indent="0" marL="0">
              <a:lnSpc>
                <a:spcPts val="1500"/>
              </a:lnSpc>
              <a:buNone/>
            </a:pPr>
            <a:r>
              <a:rPr lang="en-US" sz="1150" dirty="0">
                <a:solidFill>
                  <a:srgbClr val="5A6B7B"/>
                </a:solidFill>
                <a:latin typeface="Calibri" pitchFamily="34" charset="0"/>
                <a:ea typeface="Calibri" pitchFamily="34" charset="-122"/>
                <a:cs typeface="Calibri" pitchFamily="34" charset="-120"/>
              </a:rPr>
              <a:t>5 tables, clés primaires</a:t>
            </a:r>
            <a:endParaRPr lang="en-US" sz="1150" dirty="0"/>
          </a:p>
          <a:p>
            <a:pPr indent="0" marL="0">
              <a:lnSpc>
                <a:spcPts val="1500"/>
              </a:lnSpc>
              <a:buNone/>
            </a:pPr>
            <a:r>
              <a:rPr lang="en-US" sz="1150" dirty="0">
                <a:solidFill>
                  <a:srgbClr val="5A6B7B"/>
                </a:solidFill>
                <a:latin typeface="Calibri" pitchFamily="34" charset="0"/>
                <a:ea typeface="Calibri" pitchFamily="34" charset="-122"/>
                <a:cs typeface="Calibri" pitchFamily="34" charset="-120"/>
              </a:rPr>
              <a:t>et étrangères, contraintes</a:t>
            </a:r>
            <a:endParaRPr lang="en-US" sz="1150" dirty="0"/>
          </a:p>
          <a:p>
            <a:pPr indent="0" marL="0">
              <a:lnSpc>
                <a:spcPts val="1500"/>
              </a:lnSpc>
              <a:buNone/>
            </a:pPr>
            <a:r>
              <a:rPr lang="en-US" sz="1150" dirty="0">
                <a:solidFill>
                  <a:srgbClr val="5A6B7B"/>
                </a:solidFill>
                <a:latin typeface="Calibri" pitchFamily="34" charset="0"/>
                <a:ea typeface="Calibri" pitchFamily="34" charset="-122"/>
                <a:cs typeface="Calibri" pitchFamily="34" charset="-120"/>
              </a:rPr>
              <a:t>CHECK et index</a:t>
            </a:r>
            <a:endParaRPr lang="en-US" sz="1150" dirty="0"/>
          </a:p>
        </p:txBody>
      </p:sp>
      <p:sp>
        <p:nvSpPr>
          <p:cNvPr id="17" name="Text 15"/>
          <p:cNvSpPr txBox="1"/>
          <p:nvPr/>
        </p:nvSpPr>
        <p:spPr>
          <a:xfrm>
            <a:off x="3602736" y="4069080"/>
            <a:ext cx="2286000" cy="320040"/>
          </a:xfrm>
          <a:prstGeom prst="rect">
            <a:avLst/>
          </a:prstGeom>
          <a:noFill/>
          <a:ln/>
        </p:spPr>
        <p:txBody>
          <a:bodyPr wrap="square" lIns="0" tIns="0" rIns="0" bIns="0" rtlCol="0" anchor="ctr"/>
          <a:lstStyle/>
          <a:p>
            <a:pPr indent="0" marL="0">
              <a:buNone/>
            </a:pPr>
            <a:r>
              <a:rPr lang="en-US" sz="1100" b="1" dirty="0">
                <a:solidFill>
                  <a:srgbClr val="1D8AC1"/>
                </a:solidFill>
                <a:latin typeface="Calibri" pitchFamily="34" charset="0"/>
                <a:ea typeface="Calibri" pitchFamily="34" charset="-122"/>
                <a:cs typeface="Calibri" pitchFamily="34" charset="-120"/>
              </a:rPr>
              <a:t>Meissa</a:t>
            </a:r>
            <a:endParaRPr lang="en-US" sz="1100" dirty="0"/>
          </a:p>
        </p:txBody>
      </p:sp>
      <p:sp>
        <p:nvSpPr>
          <p:cNvPr id="18" name="Text 16"/>
          <p:cNvSpPr txBox="1"/>
          <p:nvPr/>
        </p:nvSpPr>
        <p:spPr>
          <a:xfrm>
            <a:off x="6035040" y="3063240"/>
            <a:ext cx="292608" cy="365760"/>
          </a:xfrm>
          <a:prstGeom prst="rect">
            <a:avLst/>
          </a:prstGeom>
          <a:noFill/>
          <a:ln/>
        </p:spPr>
        <p:txBody>
          <a:bodyPr wrap="square" lIns="0" tIns="0" rIns="0" bIns="0" rtlCol="0" anchor="ctr"/>
          <a:lstStyle/>
          <a:p>
            <a:pPr algn="ctr" indent="0" marL="0">
              <a:buNone/>
            </a:pPr>
            <a:r>
              <a:rPr lang="en-US" sz="2000" dirty="0">
                <a:solidFill>
                  <a:srgbClr val="5A6B7B"/>
                </a:solidFill>
                <a:latin typeface="Calibri" pitchFamily="34" charset="0"/>
                <a:ea typeface="Calibri" pitchFamily="34" charset="-122"/>
                <a:cs typeface="Calibri" pitchFamily="34" charset="-120"/>
              </a:rPr>
              <a:t>→</a:t>
            </a:r>
            <a:endParaRPr lang="en-US" sz="2000" dirty="0"/>
          </a:p>
        </p:txBody>
      </p:sp>
      <p:sp>
        <p:nvSpPr>
          <p:cNvPr id="19" name="Shape 17"/>
          <p:cNvSpPr/>
          <p:nvPr/>
        </p:nvSpPr>
        <p:spPr>
          <a:xfrm>
            <a:off x="6272784" y="2011680"/>
            <a:ext cx="2651760" cy="2606040"/>
          </a:xfrm>
          <a:prstGeom prst="roundRect">
            <a:avLst>
              <a:gd name="adj" fmla="val 2807"/>
            </a:avLst>
          </a:prstGeom>
          <a:solidFill>
            <a:srgbClr val="E8F1F8"/>
          </a:solidFill>
          <a:ln w="12700">
            <a:solidFill>
              <a:srgbClr val="CFE3F1"/>
            </a:solidFill>
            <a:prstDash val="solid"/>
          </a:ln>
          <a:effectLst>
            <a:outerShdw sx="100000" sy="100000" kx="0" ky="0" algn="bl" rotWithShape="0" blurRad="101600" dist="508" dir="5400000">
              <a:srgbClr val="9FB3C4">
                <a:alpha val="28000"/>
              </a:srgbClr>
            </a:outerShdw>
          </a:effectLst>
        </p:spPr>
      </p:sp>
      <p:sp>
        <p:nvSpPr>
          <p:cNvPr id="20" name="Shape 18"/>
          <p:cNvSpPr/>
          <p:nvPr/>
        </p:nvSpPr>
        <p:spPr>
          <a:xfrm>
            <a:off x="6455664" y="2194560"/>
            <a:ext cx="420624" cy="420624"/>
          </a:xfrm>
          <a:prstGeom prst="ellipse">
            <a:avLst/>
          </a:prstGeom>
          <a:solidFill>
            <a:srgbClr val="0B3C5D"/>
          </a:solidFill>
          <a:ln w="12700">
            <a:solidFill>
              <a:srgbClr val="0B3C5D"/>
            </a:solidFill>
            <a:prstDash val="solid"/>
          </a:ln>
        </p:spPr>
      </p:sp>
      <p:sp>
        <p:nvSpPr>
          <p:cNvPr id="21" name="Text 19"/>
          <p:cNvSpPr txBox="1"/>
          <p:nvPr/>
        </p:nvSpPr>
        <p:spPr>
          <a:xfrm>
            <a:off x="6455664" y="2231136"/>
            <a:ext cx="420624"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2" name="Text 20"/>
          <p:cNvSpPr txBox="1"/>
          <p:nvPr/>
        </p:nvSpPr>
        <p:spPr>
          <a:xfrm>
            <a:off x="6958584" y="2231136"/>
            <a:ext cx="1828800" cy="365760"/>
          </a:xfrm>
          <a:prstGeom prst="rect">
            <a:avLst/>
          </a:prstGeom>
          <a:noFill/>
          <a:ln/>
        </p:spPr>
        <p:txBody>
          <a:bodyPr wrap="square" lIns="0" tIns="0" rIns="0" bIns="0" rtlCol="0" anchor="ctr"/>
          <a:lstStyle/>
          <a:p>
            <a:pPr indent="0" marL="0">
              <a:buNone/>
            </a:pPr>
            <a:r>
              <a:rPr lang="en-US" sz="1450" b="1" dirty="0">
                <a:solidFill>
                  <a:srgbClr val="12202B"/>
                </a:solidFill>
                <a:latin typeface="Cambria" pitchFamily="34" charset="0"/>
                <a:ea typeface="Cambria" pitchFamily="34" charset="-122"/>
                <a:cs typeface="Cambria" pitchFamily="34" charset="-120"/>
              </a:rPr>
              <a:t>API REST Plumber</a:t>
            </a:r>
            <a:endParaRPr lang="en-US" sz="1450" dirty="0"/>
          </a:p>
        </p:txBody>
      </p:sp>
      <p:sp>
        <p:nvSpPr>
          <p:cNvPr id="23" name="Text 21"/>
          <p:cNvSpPr txBox="1"/>
          <p:nvPr/>
        </p:nvSpPr>
        <p:spPr>
          <a:xfrm>
            <a:off x="6455664" y="2788920"/>
            <a:ext cx="2286000" cy="1143000"/>
          </a:xfrm>
          <a:prstGeom prst="rect">
            <a:avLst/>
          </a:prstGeom>
          <a:noFill/>
          <a:ln/>
        </p:spPr>
        <p:txBody>
          <a:bodyPr wrap="square" lIns="0" tIns="0" rIns="0" bIns="0" rtlCol="0" anchor="t"/>
          <a:lstStyle/>
          <a:p>
            <a:pPr indent="0" marL="0">
              <a:lnSpc>
                <a:spcPts val="1500"/>
              </a:lnSpc>
              <a:buNone/>
            </a:pPr>
            <a:r>
              <a:rPr lang="en-US" sz="1150" dirty="0">
                <a:solidFill>
                  <a:srgbClr val="5A6B7B"/>
                </a:solidFill>
                <a:latin typeface="Calibri" pitchFamily="34" charset="0"/>
                <a:ea typeface="Calibri" pitchFamily="34" charset="-122"/>
                <a:cs typeface="Calibri" pitchFamily="34" charset="-120"/>
              </a:rPr>
              <a:t>30 endpoints JSON</a:t>
            </a:r>
            <a:endParaRPr lang="en-US" sz="1150" dirty="0"/>
          </a:p>
          <a:p>
            <a:pPr indent="0" marL="0">
              <a:lnSpc>
                <a:spcPts val="1500"/>
              </a:lnSpc>
              <a:buNone/>
            </a:pPr>
            <a:r>
              <a:rPr lang="en-US" sz="1150" dirty="0">
                <a:solidFill>
                  <a:srgbClr val="5A6B7B"/>
                </a:solidFill>
                <a:latin typeface="Calibri" pitchFamily="34" charset="0"/>
                <a:ea typeface="Calibri" pitchFamily="34" charset="-122"/>
                <a:cs typeface="Calibri" pitchFamily="34" charset="-120"/>
              </a:rPr>
              <a:t>Pagination, validation</a:t>
            </a:r>
            <a:endParaRPr lang="en-US" sz="1150" dirty="0"/>
          </a:p>
          <a:p>
            <a:pPr indent="0" marL="0">
              <a:lnSpc>
                <a:spcPts val="1500"/>
              </a:lnSpc>
              <a:buNone/>
            </a:pPr>
            <a:r>
              <a:rPr lang="en-US" sz="1150" dirty="0">
                <a:solidFill>
                  <a:srgbClr val="5A6B7B"/>
                </a:solidFill>
                <a:latin typeface="Calibri" pitchFamily="34" charset="0"/>
                <a:ea typeface="Calibri" pitchFamily="34" charset="-122"/>
                <a:cs typeface="Calibri" pitchFamily="34" charset="-120"/>
              </a:rPr>
              <a:t>des paramètres</a:t>
            </a:r>
            <a:endParaRPr lang="en-US" sz="1150" dirty="0"/>
          </a:p>
        </p:txBody>
      </p:sp>
      <p:sp>
        <p:nvSpPr>
          <p:cNvPr id="24" name="Text 22"/>
          <p:cNvSpPr txBox="1"/>
          <p:nvPr/>
        </p:nvSpPr>
        <p:spPr>
          <a:xfrm>
            <a:off x="6455664" y="4069080"/>
            <a:ext cx="2286000" cy="320040"/>
          </a:xfrm>
          <a:prstGeom prst="rect">
            <a:avLst/>
          </a:prstGeom>
          <a:noFill/>
          <a:ln/>
        </p:spPr>
        <p:txBody>
          <a:bodyPr wrap="square" lIns="0" tIns="0" rIns="0" bIns="0" rtlCol="0" anchor="ctr"/>
          <a:lstStyle/>
          <a:p>
            <a:pPr indent="0" marL="0">
              <a:buNone/>
            </a:pPr>
            <a:r>
              <a:rPr lang="en-US" sz="1100" b="1" dirty="0">
                <a:solidFill>
                  <a:srgbClr val="1D8AC1"/>
                </a:solidFill>
                <a:latin typeface="Calibri" pitchFamily="34" charset="0"/>
                <a:ea typeface="Calibri" pitchFamily="34" charset="-122"/>
                <a:cs typeface="Calibri" pitchFamily="34" charset="-120"/>
              </a:rPr>
              <a:t>Hedi</a:t>
            </a:r>
            <a:endParaRPr lang="en-US" sz="1100" dirty="0"/>
          </a:p>
        </p:txBody>
      </p:sp>
      <p:sp>
        <p:nvSpPr>
          <p:cNvPr id="25" name="Text 23"/>
          <p:cNvSpPr txBox="1"/>
          <p:nvPr/>
        </p:nvSpPr>
        <p:spPr>
          <a:xfrm>
            <a:off x="8887968" y="3063240"/>
            <a:ext cx="292608" cy="365760"/>
          </a:xfrm>
          <a:prstGeom prst="rect">
            <a:avLst/>
          </a:prstGeom>
          <a:noFill/>
          <a:ln/>
        </p:spPr>
        <p:txBody>
          <a:bodyPr wrap="square" lIns="0" tIns="0" rIns="0" bIns="0" rtlCol="0" anchor="ctr"/>
          <a:lstStyle/>
          <a:p>
            <a:pPr algn="ctr" indent="0" marL="0">
              <a:buNone/>
            </a:pPr>
            <a:r>
              <a:rPr lang="en-US" sz="2000" dirty="0">
                <a:solidFill>
                  <a:srgbClr val="5A6B7B"/>
                </a:solidFill>
                <a:latin typeface="Calibri" pitchFamily="34" charset="0"/>
                <a:ea typeface="Calibri" pitchFamily="34" charset="-122"/>
                <a:cs typeface="Calibri" pitchFamily="34" charset="-120"/>
              </a:rPr>
              <a:t>→</a:t>
            </a:r>
            <a:endParaRPr lang="en-US" sz="2000" dirty="0"/>
          </a:p>
        </p:txBody>
      </p:sp>
      <p:sp>
        <p:nvSpPr>
          <p:cNvPr id="26" name="Shape 24"/>
          <p:cNvSpPr/>
          <p:nvPr/>
        </p:nvSpPr>
        <p:spPr>
          <a:xfrm>
            <a:off x="9125712" y="2011680"/>
            <a:ext cx="2651760" cy="2606040"/>
          </a:xfrm>
          <a:prstGeom prst="roundRect">
            <a:avLst>
              <a:gd name="adj" fmla="val 2807"/>
            </a:avLst>
          </a:prstGeom>
          <a:solidFill>
            <a:srgbClr val="0B3C5D"/>
          </a:solidFill>
          <a:ln w="12700">
            <a:solidFill>
              <a:srgbClr val="0B3C5D"/>
            </a:solidFill>
            <a:prstDash val="solid"/>
          </a:ln>
          <a:effectLst>
            <a:outerShdw sx="100000" sy="100000" kx="0" ky="0" algn="bl" rotWithShape="0" blurRad="101600" dist="508" dir="5400000">
              <a:srgbClr val="9FB3C4">
                <a:alpha val="28000"/>
              </a:srgbClr>
            </a:outerShdw>
          </a:effectLst>
        </p:spPr>
      </p:sp>
      <p:sp>
        <p:nvSpPr>
          <p:cNvPr id="27" name="Shape 25"/>
          <p:cNvSpPr/>
          <p:nvPr/>
        </p:nvSpPr>
        <p:spPr>
          <a:xfrm>
            <a:off x="9308592" y="2194560"/>
            <a:ext cx="420624" cy="420624"/>
          </a:xfrm>
          <a:prstGeom prst="ellipse">
            <a:avLst/>
          </a:prstGeom>
          <a:solidFill>
            <a:srgbClr val="E4572E"/>
          </a:solidFill>
          <a:ln w="12700">
            <a:solidFill>
              <a:srgbClr val="E4572E"/>
            </a:solidFill>
            <a:prstDash val="solid"/>
          </a:ln>
        </p:spPr>
      </p:sp>
      <p:sp>
        <p:nvSpPr>
          <p:cNvPr id="28" name="Text 26"/>
          <p:cNvSpPr txBox="1"/>
          <p:nvPr/>
        </p:nvSpPr>
        <p:spPr>
          <a:xfrm>
            <a:off x="9308592" y="2231136"/>
            <a:ext cx="420624"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9" name="Text 27"/>
          <p:cNvSpPr txBox="1"/>
          <p:nvPr/>
        </p:nvSpPr>
        <p:spPr>
          <a:xfrm>
            <a:off x="9811512" y="2231136"/>
            <a:ext cx="182880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Dashboard Shiny</a:t>
            </a:r>
            <a:endParaRPr lang="en-US" sz="1450" dirty="0"/>
          </a:p>
        </p:txBody>
      </p:sp>
      <p:sp>
        <p:nvSpPr>
          <p:cNvPr id="30" name="Text 28"/>
          <p:cNvSpPr txBox="1"/>
          <p:nvPr/>
        </p:nvSpPr>
        <p:spPr>
          <a:xfrm>
            <a:off x="9308592" y="2788920"/>
            <a:ext cx="2286000" cy="1143000"/>
          </a:xfrm>
          <a:prstGeom prst="rect">
            <a:avLst/>
          </a:prstGeom>
          <a:noFill/>
          <a:ln/>
        </p:spPr>
        <p:txBody>
          <a:bodyPr wrap="square" lIns="0" tIns="0" rIns="0" bIns="0" rtlCol="0" anchor="t"/>
          <a:lstStyle/>
          <a:p>
            <a:pPr indent="0" marL="0">
              <a:lnSpc>
                <a:spcPts val="1500"/>
              </a:lnSpc>
              <a:buNone/>
            </a:pPr>
            <a:r>
              <a:rPr lang="en-US" sz="1150" dirty="0">
                <a:solidFill>
                  <a:srgbClr val="CFE3F1"/>
                </a:solidFill>
                <a:latin typeface="Calibri" pitchFamily="34" charset="0"/>
                <a:ea typeface="Calibri" pitchFamily="34" charset="-122"/>
                <a:cs typeface="Calibri" pitchFamily="34" charset="-120"/>
              </a:rPr>
              <a:t>8 onglets, graphiques</a:t>
            </a:r>
            <a:endParaRPr lang="en-US" sz="1150" dirty="0"/>
          </a:p>
          <a:p>
            <a:pPr indent="0" marL="0">
              <a:lnSpc>
                <a:spcPts val="1500"/>
              </a:lnSpc>
              <a:buNone/>
            </a:pPr>
            <a:r>
              <a:rPr lang="en-US" sz="1150" dirty="0">
                <a:solidFill>
                  <a:srgbClr val="CFE3F1"/>
                </a:solidFill>
                <a:latin typeface="Calibri" pitchFamily="34" charset="0"/>
                <a:ea typeface="Calibri" pitchFamily="34" charset="-122"/>
                <a:cs typeface="Calibri" pitchFamily="34" charset="-120"/>
              </a:rPr>
              <a:t>interactifs, explorateur</a:t>
            </a:r>
            <a:endParaRPr lang="en-US" sz="1150" dirty="0"/>
          </a:p>
          <a:p>
            <a:pPr indent="0" marL="0">
              <a:lnSpc>
                <a:spcPts val="1500"/>
              </a:lnSpc>
              <a:buNone/>
            </a:pPr>
            <a:r>
              <a:rPr lang="en-US" sz="1150" dirty="0">
                <a:solidFill>
                  <a:srgbClr val="CFE3F1"/>
                </a:solidFill>
                <a:latin typeface="Calibri" pitchFamily="34" charset="0"/>
                <a:ea typeface="Calibri" pitchFamily="34" charset="-122"/>
                <a:cs typeface="Calibri" pitchFamily="34" charset="-120"/>
              </a:rPr>
              <a:t>de vols</a:t>
            </a:r>
            <a:endParaRPr lang="en-US" sz="1150" dirty="0"/>
          </a:p>
        </p:txBody>
      </p:sp>
      <p:sp>
        <p:nvSpPr>
          <p:cNvPr id="31" name="Text 29"/>
          <p:cNvSpPr txBox="1"/>
          <p:nvPr/>
        </p:nvSpPr>
        <p:spPr>
          <a:xfrm>
            <a:off x="9308592" y="4069080"/>
            <a:ext cx="2286000" cy="320040"/>
          </a:xfrm>
          <a:prstGeom prst="rect">
            <a:avLst/>
          </a:prstGeom>
          <a:noFill/>
          <a:ln/>
        </p:spPr>
        <p:txBody>
          <a:bodyPr wrap="square" lIns="0" tIns="0" rIns="0" bIns="0" rtlCol="0" anchor="ctr"/>
          <a:lstStyle/>
          <a:p>
            <a:pPr indent="0" marL="0">
              <a:buNone/>
            </a:pPr>
            <a:r>
              <a:rPr lang="en-US" sz="1100" b="1" dirty="0">
                <a:solidFill>
                  <a:srgbClr val="E8A33D"/>
                </a:solidFill>
                <a:latin typeface="Calibri" pitchFamily="34" charset="0"/>
                <a:ea typeface="Calibri" pitchFamily="34" charset="-122"/>
                <a:cs typeface="Calibri" pitchFamily="34" charset="-120"/>
              </a:rPr>
              <a:t>Marcus</a:t>
            </a:r>
            <a:endParaRPr lang="en-US" sz="1100" dirty="0"/>
          </a:p>
        </p:txBody>
      </p:sp>
      <p:sp>
        <p:nvSpPr>
          <p:cNvPr id="32" name="Shape 30"/>
          <p:cNvSpPr/>
          <p:nvPr/>
        </p:nvSpPr>
        <p:spPr>
          <a:xfrm>
            <a:off x="566928" y="4892040"/>
            <a:ext cx="11057839" cy="914400"/>
          </a:xfrm>
          <a:prstGeom prst="roundRect">
            <a:avLst>
              <a:gd name="adj" fmla="val 8000"/>
            </a:avLst>
          </a:prstGeom>
          <a:solidFill>
            <a:srgbClr val="FBF3EA"/>
          </a:solidFill>
          <a:ln w="12700">
            <a:solidFill>
              <a:srgbClr val="F0DDC6"/>
            </a:solidFill>
            <a:prstDash val="solid"/>
          </a:ln>
          <a:effectLst>
            <a:outerShdw sx="100000" sy="100000" kx="0" ky="0" algn="bl" rotWithShape="0" blurRad="101600" dist="508" dir="5400000">
              <a:srgbClr val="9FB3C4">
                <a:alpha val="28000"/>
              </a:srgbClr>
            </a:outerShdw>
          </a:effectLst>
        </p:spPr>
      </p:sp>
      <p:sp>
        <p:nvSpPr>
          <p:cNvPr id="33" name="Text 31"/>
          <p:cNvSpPr txBox="1"/>
          <p:nvPr/>
        </p:nvSpPr>
        <p:spPr>
          <a:xfrm>
            <a:off x="786384" y="5047488"/>
            <a:ext cx="10600639" cy="640080"/>
          </a:xfrm>
          <a:prstGeom prst="rect">
            <a:avLst/>
          </a:prstGeom>
          <a:noFill/>
          <a:ln/>
        </p:spPr>
        <p:txBody>
          <a:bodyPr wrap="square" lIns="0" tIns="0" rIns="0" bIns="0" rtlCol="0" anchor="t"/>
          <a:lstStyle/>
          <a:p>
            <a:pPr indent="0" marL="0">
              <a:lnSpc>
                <a:spcPts val="1600"/>
              </a:lnSpc>
              <a:buNone/>
            </a:pPr>
            <a:r>
              <a:rPr lang="en-US" sz="1200" b="1" dirty="0">
                <a:solidFill>
                  <a:srgbClr val="12202B"/>
                </a:solidFill>
                <a:latin typeface="Calibri" pitchFamily="34" charset="0"/>
                <a:ea typeface="Calibri" pitchFamily="34" charset="-122"/>
                <a:cs typeface="Calibri" pitchFamily="34" charset="-120"/>
              </a:rPr>
              <a:t>Pourquoi passer par une API plutôt que lire MySQL directement ? </a:t>
            </a:r>
            <a:pPr indent="0" marL="0">
              <a:lnSpc>
                <a:spcPts val="1600"/>
              </a:lnSpc>
              <a:buNone/>
            </a:pPr>
            <a:r>
              <a:rPr lang="en-US" sz="1200" dirty="0">
                <a:solidFill>
                  <a:srgbClr val="5A6B7B"/>
                </a:solidFill>
                <a:latin typeface="Calibri" pitchFamily="34" charset="0"/>
                <a:ea typeface="Calibri" pitchFamily="34" charset="-122"/>
                <a:cs typeface="Calibri" pitchFamily="34" charset="-120"/>
              </a:rPr>
              <a:t>Le dashboard peut tourner sur un autre poste que la base, la logique SQL reste au même endroit pour tous les consommateurs, et les identifiants de la base ne quittent jamais le backend.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384048"/>
            <a:ext cx="7315200" cy="256032"/>
          </a:xfrm>
          <a:prstGeom prst="rect">
            <a:avLst/>
          </a:prstGeom>
          <a:noFill/>
          <a:ln/>
        </p:spPr>
        <p:txBody>
          <a:bodyPr wrap="square" lIns="0" tIns="0" rIns="0" bIns="0" rtlCol="0" anchor="ctr"/>
          <a:lstStyle/>
          <a:p>
            <a:pPr indent="0" marL="0">
              <a:buNone/>
            </a:pPr>
            <a:r>
              <a:rPr lang="en-US" sz="1200" b="1" spc="160" kern="0" dirty="0">
                <a:solidFill>
                  <a:srgbClr val="1D8AC1"/>
                </a:solidFill>
                <a:latin typeface="Calibri" pitchFamily="34" charset="0"/>
                <a:ea typeface="Calibri" pitchFamily="34" charset="-122"/>
                <a:cs typeface="Calibri" pitchFamily="34" charset="-120"/>
              </a:rPr>
              <a:t>LE LIVRABLE</a:t>
            </a:r>
            <a:endParaRPr lang="en-US" sz="1200" dirty="0"/>
          </a:p>
        </p:txBody>
      </p:sp>
      <p:sp>
        <p:nvSpPr>
          <p:cNvPr id="3" name="Text 1"/>
          <p:cNvSpPr txBox="1"/>
          <p:nvPr/>
        </p:nvSpPr>
        <p:spPr>
          <a:xfrm>
            <a:off x="566928" y="640080"/>
            <a:ext cx="11057839" cy="658368"/>
          </a:xfrm>
          <a:prstGeom prst="rect">
            <a:avLst/>
          </a:prstGeom>
          <a:noFill/>
          <a:ln/>
        </p:spPr>
        <p:txBody>
          <a:bodyPr wrap="square" lIns="0" tIns="0" rIns="0" bIns="0" rtlCol="0" anchor="ctr"/>
          <a:lstStyle/>
          <a:p>
            <a:pPr indent="0" marL="0">
              <a:buNone/>
            </a:pPr>
            <a:r>
              <a:rPr lang="en-US" sz="3200" b="1" dirty="0">
                <a:solidFill>
                  <a:srgbClr val="12202B"/>
                </a:solidFill>
                <a:latin typeface="Cambria" pitchFamily="34" charset="0"/>
                <a:ea typeface="Cambria" pitchFamily="34" charset="-122"/>
                <a:cs typeface="Cambria" pitchFamily="34" charset="-120"/>
              </a:rPr>
              <a:t>Un dashboard en huit onglets</a:t>
            </a:r>
            <a:endParaRPr lang="en-US" sz="3200" dirty="0"/>
          </a:p>
        </p:txBody>
      </p:sp>
      <p:pic>
        <p:nvPicPr>
          <p:cNvPr id="4" name="Image 0" descr="/Users/marcuslinguet/Downloads/trafic-aerien-adp/presentation/figures/10_dashboard_vue_ensemble.png">    </p:cNvPr>
          <p:cNvPicPr>
            <a:picLocks noChangeAspect="1"/>
          </p:cNvPicPr>
          <p:nvPr/>
        </p:nvPicPr>
        <p:blipFill>
          <a:blip r:embed="rId1"/>
          <a:stretch>
            <a:fillRect/>
          </a:stretch>
        </p:blipFill>
        <p:spPr>
          <a:xfrm>
            <a:off x="566928" y="1371600"/>
            <a:ext cx="4892040" cy="4572000"/>
          </a:xfrm>
          <a:prstGeom prst="rect">
            <a:avLst/>
          </a:prstGeom>
        </p:spPr>
      </p:pic>
      <p:sp>
        <p:nvSpPr>
          <p:cNvPr id="5" name="Shape 2"/>
          <p:cNvSpPr/>
          <p:nvPr/>
        </p:nvSpPr>
        <p:spPr>
          <a:xfrm>
            <a:off x="5806440" y="1536192"/>
            <a:ext cx="274320" cy="274320"/>
          </a:xfrm>
          <a:prstGeom prst="ellipse">
            <a:avLst/>
          </a:prstGeom>
          <a:solidFill>
            <a:srgbClr val="1D8AC1"/>
          </a:solidFill>
          <a:ln w="12700">
            <a:solidFill>
              <a:srgbClr val="1D8AC1"/>
            </a:solidFill>
            <a:prstDash val="solid"/>
          </a:ln>
        </p:spPr>
      </p:sp>
      <p:sp>
        <p:nvSpPr>
          <p:cNvPr id="6" name="Text 3"/>
          <p:cNvSpPr txBox="1"/>
          <p:nvPr/>
        </p:nvSpPr>
        <p:spPr>
          <a:xfrm>
            <a:off x="5806440" y="1563624"/>
            <a:ext cx="2743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7" name="Text 4"/>
          <p:cNvSpPr txBox="1"/>
          <p:nvPr/>
        </p:nvSpPr>
        <p:spPr>
          <a:xfrm>
            <a:off x="6236208" y="1481328"/>
            <a:ext cx="5394960" cy="384048"/>
          </a:xfrm>
          <a:prstGeom prst="rect">
            <a:avLst/>
          </a:prstGeom>
          <a:noFill/>
          <a:ln/>
        </p:spPr>
        <p:txBody>
          <a:bodyPr wrap="square" lIns="0" tIns="0" rIns="0" bIns="0" rtlCol="0" anchor="ctr"/>
          <a:lstStyle/>
          <a:p>
            <a:pPr indent="0" marL="0">
              <a:buNone/>
            </a:pPr>
            <a:r>
              <a:rPr lang="en-US" sz="1300" b="1" dirty="0">
                <a:solidFill>
                  <a:srgbClr val="12202B"/>
                </a:solidFill>
                <a:latin typeface="Calibri" pitchFamily="34" charset="0"/>
                <a:ea typeface="Calibri" pitchFamily="34" charset="-122"/>
                <a:cs typeface="Calibri" pitchFamily="34" charset="-120"/>
              </a:rPr>
              <a:t>Vue d'ensemble  </a:t>
            </a:r>
            <a:pPr indent="0" marL="0">
              <a:buNone/>
            </a:pPr>
            <a:r>
              <a:rPr lang="en-US" sz="1150" dirty="0">
                <a:solidFill>
                  <a:srgbClr val="5A6B7B"/>
                </a:solidFill>
                <a:latin typeface="Calibri" pitchFamily="34" charset="0"/>
                <a:ea typeface="Calibri" pitchFamily="34" charset="-122"/>
                <a:cs typeface="Calibri" pitchFamily="34" charset="-120"/>
              </a:rPr>
              <a:t>volumétrie et cadrage général</a:t>
            </a:r>
            <a:endParaRPr lang="en-US" sz="1300" dirty="0"/>
          </a:p>
        </p:txBody>
      </p:sp>
      <p:sp>
        <p:nvSpPr>
          <p:cNvPr id="8" name="Shape 5"/>
          <p:cNvSpPr/>
          <p:nvPr/>
        </p:nvSpPr>
        <p:spPr>
          <a:xfrm>
            <a:off x="5806440" y="2103120"/>
            <a:ext cx="274320" cy="274320"/>
          </a:xfrm>
          <a:prstGeom prst="ellipse">
            <a:avLst/>
          </a:prstGeom>
          <a:solidFill>
            <a:srgbClr val="1D8AC1"/>
          </a:solidFill>
          <a:ln w="12700">
            <a:solidFill>
              <a:srgbClr val="1D8AC1"/>
            </a:solidFill>
            <a:prstDash val="solid"/>
          </a:ln>
        </p:spPr>
      </p:sp>
      <p:sp>
        <p:nvSpPr>
          <p:cNvPr id="9" name="Text 6"/>
          <p:cNvSpPr txBox="1"/>
          <p:nvPr/>
        </p:nvSpPr>
        <p:spPr>
          <a:xfrm>
            <a:off x="5806440" y="2130552"/>
            <a:ext cx="2743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0" name="Text 7"/>
          <p:cNvSpPr txBox="1"/>
          <p:nvPr/>
        </p:nvSpPr>
        <p:spPr>
          <a:xfrm>
            <a:off x="6236208" y="2048256"/>
            <a:ext cx="5394960" cy="384048"/>
          </a:xfrm>
          <a:prstGeom prst="rect">
            <a:avLst/>
          </a:prstGeom>
          <a:noFill/>
          <a:ln/>
        </p:spPr>
        <p:txBody>
          <a:bodyPr wrap="square" lIns="0" tIns="0" rIns="0" bIns="0" rtlCol="0" anchor="ctr"/>
          <a:lstStyle/>
          <a:p>
            <a:pPr indent="0" marL="0">
              <a:buNone/>
            </a:pPr>
            <a:r>
              <a:rPr lang="en-US" sz="1300" b="1" dirty="0">
                <a:solidFill>
                  <a:srgbClr val="12202B"/>
                </a:solidFill>
                <a:latin typeface="Calibri" pitchFamily="34" charset="0"/>
                <a:ea typeface="Calibri" pitchFamily="34" charset="-122"/>
                <a:cs typeface="Calibri" pitchFamily="34" charset="-120"/>
              </a:rPr>
              <a:t>Trafic  </a:t>
            </a:r>
            <a:pPr indent="0" marL="0">
              <a:buNone/>
            </a:pPr>
            <a:r>
              <a:rPr lang="en-US" sz="1150" dirty="0">
                <a:solidFill>
                  <a:srgbClr val="5A6B7B"/>
                </a:solidFill>
                <a:latin typeface="Calibri" pitchFamily="34" charset="0"/>
                <a:ea typeface="Calibri" pitchFamily="34" charset="-122"/>
                <a:cs typeface="Calibri" pitchFamily="34" charset="-120"/>
              </a:rPr>
              <a:t>saisonnalité, croissance, périodes</a:t>
            </a:r>
            <a:endParaRPr lang="en-US" sz="1300" dirty="0"/>
          </a:p>
        </p:txBody>
      </p:sp>
      <p:sp>
        <p:nvSpPr>
          <p:cNvPr id="11" name="Shape 8"/>
          <p:cNvSpPr/>
          <p:nvPr/>
        </p:nvSpPr>
        <p:spPr>
          <a:xfrm>
            <a:off x="5806440" y="2670048"/>
            <a:ext cx="274320" cy="274320"/>
          </a:xfrm>
          <a:prstGeom prst="ellipse">
            <a:avLst/>
          </a:prstGeom>
          <a:solidFill>
            <a:srgbClr val="1D8AC1"/>
          </a:solidFill>
          <a:ln w="12700">
            <a:solidFill>
              <a:srgbClr val="1D8AC1"/>
            </a:solidFill>
            <a:prstDash val="solid"/>
          </a:ln>
        </p:spPr>
      </p:sp>
      <p:sp>
        <p:nvSpPr>
          <p:cNvPr id="12" name="Text 9"/>
          <p:cNvSpPr txBox="1"/>
          <p:nvPr/>
        </p:nvSpPr>
        <p:spPr>
          <a:xfrm>
            <a:off x="5806440" y="2697480"/>
            <a:ext cx="2743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3" name="Text 10"/>
          <p:cNvSpPr txBox="1"/>
          <p:nvPr/>
        </p:nvSpPr>
        <p:spPr>
          <a:xfrm>
            <a:off x="6236208" y="2615184"/>
            <a:ext cx="5394960" cy="384048"/>
          </a:xfrm>
          <a:prstGeom prst="rect">
            <a:avLst/>
          </a:prstGeom>
          <a:noFill/>
          <a:ln/>
        </p:spPr>
        <p:txBody>
          <a:bodyPr wrap="square" lIns="0" tIns="0" rIns="0" bIns="0" rtlCol="0" anchor="ctr"/>
          <a:lstStyle/>
          <a:p>
            <a:pPr indent="0" marL="0">
              <a:buNone/>
            </a:pPr>
            <a:r>
              <a:rPr lang="en-US" sz="1300" b="1" dirty="0">
                <a:solidFill>
                  <a:srgbClr val="12202B"/>
                </a:solidFill>
                <a:latin typeface="Calibri" pitchFamily="34" charset="0"/>
                <a:ea typeface="Calibri" pitchFamily="34" charset="-122"/>
                <a:cs typeface="Calibri" pitchFamily="34" charset="-120"/>
              </a:rPr>
              <a:t>Retards  </a:t>
            </a:r>
            <a:pPr indent="0" marL="0">
              <a:buNone/>
            </a:pPr>
            <a:r>
              <a:rPr lang="en-US" sz="1150" dirty="0">
                <a:solidFill>
                  <a:srgbClr val="5A6B7B"/>
                </a:solidFill>
                <a:latin typeface="Calibri" pitchFamily="34" charset="0"/>
                <a:ea typeface="Calibri" pitchFamily="34" charset="-122"/>
                <a:cs typeface="Calibri" pitchFamily="34" charset="-120"/>
              </a:rPr>
              <a:t>synthèse, compagnies, aéroports, extrêmes</a:t>
            </a:r>
            <a:endParaRPr lang="en-US" sz="1300" dirty="0"/>
          </a:p>
        </p:txBody>
      </p:sp>
      <p:sp>
        <p:nvSpPr>
          <p:cNvPr id="14" name="Shape 11"/>
          <p:cNvSpPr/>
          <p:nvPr/>
        </p:nvSpPr>
        <p:spPr>
          <a:xfrm>
            <a:off x="5806440" y="3236976"/>
            <a:ext cx="274320" cy="274320"/>
          </a:xfrm>
          <a:prstGeom prst="ellipse">
            <a:avLst/>
          </a:prstGeom>
          <a:solidFill>
            <a:srgbClr val="1D8AC1"/>
          </a:solidFill>
          <a:ln w="12700">
            <a:solidFill>
              <a:srgbClr val="1D8AC1"/>
            </a:solidFill>
            <a:prstDash val="solid"/>
          </a:ln>
        </p:spPr>
      </p:sp>
      <p:sp>
        <p:nvSpPr>
          <p:cNvPr id="15" name="Text 12"/>
          <p:cNvSpPr txBox="1"/>
          <p:nvPr/>
        </p:nvSpPr>
        <p:spPr>
          <a:xfrm>
            <a:off x="5806440" y="3264408"/>
            <a:ext cx="2743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6" name="Text 13"/>
          <p:cNvSpPr txBox="1"/>
          <p:nvPr/>
        </p:nvSpPr>
        <p:spPr>
          <a:xfrm>
            <a:off x="6236208" y="3182112"/>
            <a:ext cx="5394960" cy="384048"/>
          </a:xfrm>
          <a:prstGeom prst="rect">
            <a:avLst/>
          </a:prstGeom>
          <a:noFill/>
          <a:ln/>
        </p:spPr>
        <p:txBody>
          <a:bodyPr wrap="square" lIns="0" tIns="0" rIns="0" bIns="0" rtlCol="0" anchor="ctr"/>
          <a:lstStyle/>
          <a:p>
            <a:pPr indent="0" marL="0">
              <a:buNone/>
            </a:pPr>
            <a:r>
              <a:rPr lang="en-US" sz="1300" b="1" dirty="0">
                <a:solidFill>
                  <a:srgbClr val="12202B"/>
                </a:solidFill>
                <a:latin typeface="Calibri" pitchFamily="34" charset="0"/>
                <a:ea typeface="Calibri" pitchFamily="34" charset="-122"/>
                <a:cs typeface="Calibri" pitchFamily="34" charset="-120"/>
              </a:rPr>
              <a:t>Annulations  </a:t>
            </a:r>
            <a:pPr indent="0" marL="0">
              <a:buNone/>
            </a:pPr>
            <a:r>
              <a:rPr lang="en-US" sz="1150" dirty="0">
                <a:solidFill>
                  <a:srgbClr val="5A6B7B"/>
                </a:solidFill>
                <a:latin typeface="Calibri" pitchFamily="34" charset="0"/>
                <a:ea typeface="Calibri" pitchFamily="34" charset="-122"/>
                <a:cs typeface="Calibri" pitchFamily="34" charset="-120"/>
              </a:rPr>
              <a:t>volumétrie et qualité des données</a:t>
            </a:r>
            <a:endParaRPr lang="en-US" sz="1300" dirty="0"/>
          </a:p>
        </p:txBody>
      </p:sp>
      <p:sp>
        <p:nvSpPr>
          <p:cNvPr id="17" name="Shape 14"/>
          <p:cNvSpPr/>
          <p:nvPr/>
        </p:nvSpPr>
        <p:spPr>
          <a:xfrm>
            <a:off x="5806440" y="3803904"/>
            <a:ext cx="274320" cy="274320"/>
          </a:xfrm>
          <a:prstGeom prst="ellipse">
            <a:avLst/>
          </a:prstGeom>
          <a:solidFill>
            <a:srgbClr val="1D8AC1"/>
          </a:solidFill>
          <a:ln w="12700">
            <a:solidFill>
              <a:srgbClr val="1D8AC1"/>
            </a:solidFill>
            <a:prstDash val="solid"/>
          </a:ln>
        </p:spPr>
      </p:sp>
      <p:sp>
        <p:nvSpPr>
          <p:cNvPr id="18" name="Text 15"/>
          <p:cNvSpPr txBox="1"/>
          <p:nvPr/>
        </p:nvSpPr>
        <p:spPr>
          <a:xfrm>
            <a:off x="5806440" y="3831336"/>
            <a:ext cx="2743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9" name="Text 16"/>
          <p:cNvSpPr txBox="1"/>
          <p:nvPr/>
        </p:nvSpPr>
        <p:spPr>
          <a:xfrm>
            <a:off x="6236208" y="3749040"/>
            <a:ext cx="5394960" cy="384048"/>
          </a:xfrm>
          <a:prstGeom prst="rect">
            <a:avLst/>
          </a:prstGeom>
          <a:noFill/>
          <a:ln/>
        </p:spPr>
        <p:txBody>
          <a:bodyPr wrap="square" lIns="0" tIns="0" rIns="0" bIns="0" rtlCol="0" anchor="ctr"/>
          <a:lstStyle/>
          <a:p>
            <a:pPr indent="0" marL="0">
              <a:buNone/>
            </a:pPr>
            <a:r>
              <a:rPr lang="en-US" sz="1300" b="1" dirty="0">
                <a:solidFill>
                  <a:srgbClr val="12202B"/>
                </a:solidFill>
                <a:latin typeface="Calibri" pitchFamily="34" charset="0"/>
                <a:ea typeface="Calibri" pitchFamily="34" charset="-122"/>
                <a:cs typeface="Calibri" pitchFamily="34" charset="-120"/>
              </a:rPr>
              <a:t>Carte  </a:t>
            </a:r>
            <a:pPr indent="0" marL="0">
              <a:buNone/>
            </a:pPr>
            <a:r>
              <a:rPr lang="en-US" sz="1150" dirty="0">
                <a:solidFill>
                  <a:srgbClr val="5A6B7B"/>
                </a:solidFill>
                <a:latin typeface="Calibri" pitchFamily="34" charset="0"/>
                <a:ea typeface="Calibri" pitchFamily="34" charset="-122"/>
                <a:cs typeface="Calibri" pitchFamily="34" charset="-120"/>
              </a:rPr>
              <a:t>réseau origine → destination</a:t>
            </a:r>
            <a:endParaRPr lang="en-US" sz="1300" dirty="0"/>
          </a:p>
        </p:txBody>
      </p:sp>
      <p:sp>
        <p:nvSpPr>
          <p:cNvPr id="20" name="Shape 17"/>
          <p:cNvSpPr/>
          <p:nvPr/>
        </p:nvSpPr>
        <p:spPr>
          <a:xfrm>
            <a:off x="5806440" y="4370832"/>
            <a:ext cx="274320" cy="274320"/>
          </a:xfrm>
          <a:prstGeom prst="ellipse">
            <a:avLst/>
          </a:prstGeom>
          <a:solidFill>
            <a:srgbClr val="1D8AC1"/>
          </a:solidFill>
          <a:ln w="12700">
            <a:solidFill>
              <a:srgbClr val="1D8AC1"/>
            </a:solidFill>
            <a:prstDash val="solid"/>
          </a:ln>
        </p:spPr>
      </p:sp>
      <p:sp>
        <p:nvSpPr>
          <p:cNvPr id="21" name="Text 18"/>
          <p:cNvSpPr txBox="1"/>
          <p:nvPr/>
        </p:nvSpPr>
        <p:spPr>
          <a:xfrm>
            <a:off x="5806440" y="4398264"/>
            <a:ext cx="2743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2" name="Text 19"/>
          <p:cNvSpPr txBox="1"/>
          <p:nvPr/>
        </p:nvSpPr>
        <p:spPr>
          <a:xfrm>
            <a:off x="6236208" y="4315968"/>
            <a:ext cx="5394960" cy="384048"/>
          </a:xfrm>
          <a:prstGeom prst="rect">
            <a:avLst/>
          </a:prstGeom>
          <a:noFill/>
          <a:ln/>
        </p:spPr>
        <p:txBody>
          <a:bodyPr wrap="square" lIns="0" tIns="0" rIns="0" bIns="0" rtlCol="0" anchor="ctr"/>
          <a:lstStyle/>
          <a:p>
            <a:pPr indent="0" marL="0">
              <a:buNone/>
            </a:pPr>
            <a:r>
              <a:rPr lang="en-US" sz="1300" b="1" dirty="0">
                <a:solidFill>
                  <a:srgbClr val="12202B"/>
                </a:solidFill>
                <a:latin typeface="Calibri" pitchFamily="34" charset="0"/>
                <a:ea typeface="Calibri" pitchFamily="34" charset="-122"/>
                <a:cs typeface="Calibri" pitchFamily="34" charset="-120"/>
              </a:rPr>
              <a:t>Météo  </a:t>
            </a:r>
            <a:pPr indent="0" marL="0">
              <a:buNone/>
            </a:pPr>
            <a:r>
              <a:rPr lang="en-US" sz="1150" dirty="0">
                <a:solidFill>
                  <a:srgbClr val="5A6B7B"/>
                </a:solidFill>
                <a:latin typeface="Calibri" pitchFamily="34" charset="0"/>
                <a:ea typeface="Calibri" pitchFamily="34" charset="-122"/>
                <a:cs typeface="Calibri" pitchFamily="34" charset="-120"/>
              </a:rPr>
              <a:t>température, vent, précipitations</a:t>
            </a:r>
            <a:endParaRPr lang="en-US" sz="1300" dirty="0"/>
          </a:p>
        </p:txBody>
      </p:sp>
      <p:sp>
        <p:nvSpPr>
          <p:cNvPr id="23" name="Shape 20"/>
          <p:cNvSpPr/>
          <p:nvPr/>
        </p:nvSpPr>
        <p:spPr>
          <a:xfrm>
            <a:off x="5806440" y="4937760"/>
            <a:ext cx="274320" cy="274320"/>
          </a:xfrm>
          <a:prstGeom prst="ellipse">
            <a:avLst/>
          </a:prstGeom>
          <a:solidFill>
            <a:srgbClr val="E4572E"/>
          </a:solidFill>
          <a:ln w="12700">
            <a:solidFill>
              <a:srgbClr val="E4572E"/>
            </a:solidFill>
            <a:prstDash val="solid"/>
          </a:ln>
        </p:spPr>
      </p:sp>
      <p:sp>
        <p:nvSpPr>
          <p:cNvPr id="24" name="Text 21"/>
          <p:cNvSpPr txBox="1"/>
          <p:nvPr/>
        </p:nvSpPr>
        <p:spPr>
          <a:xfrm>
            <a:off x="5806440" y="4965192"/>
            <a:ext cx="2743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25" name="Text 22"/>
          <p:cNvSpPr txBox="1"/>
          <p:nvPr/>
        </p:nvSpPr>
        <p:spPr>
          <a:xfrm>
            <a:off x="6236208" y="4882896"/>
            <a:ext cx="5394960" cy="384048"/>
          </a:xfrm>
          <a:prstGeom prst="rect">
            <a:avLst/>
          </a:prstGeom>
          <a:noFill/>
          <a:ln/>
        </p:spPr>
        <p:txBody>
          <a:bodyPr wrap="square" lIns="0" tIns="0" rIns="0" bIns="0" rtlCol="0" anchor="ctr"/>
          <a:lstStyle/>
          <a:p>
            <a:pPr indent="0" marL="0">
              <a:buNone/>
            </a:pPr>
            <a:r>
              <a:rPr lang="en-US" sz="1300" b="1" dirty="0">
                <a:solidFill>
                  <a:srgbClr val="12202B"/>
                </a:solidFill>
                <a:latin typeface="Calibri" pitchFamily="34" charset="0"/>
                <a:ea typeface="Calibri" pitchFamily="34" charset="-122"/>
                <a:cs typeface="Calibri" pitchFamily="34" charset="-120"/>
              </a:rPr>
              <a:t>Vols  </a:t>
            </a:r>
            <a:pPr indent="0" marL="0">
              <a:buNone/>
            </a:pPr>
            <a:r>
              <a:rPr lang="en-US" sz="1150" dirty="0">
                <a:solidFill>
                  <a:srgbClr val="5A6B7B"/>
                </a:solidFill>
                <a:latin typeface="Calibri" pitchFamily="34" charset="0"/>
                <a:ea typeface="Calibri" pitchFamily="34" charset="-122"/>
                <a:cs typeface="Calibri" pitchFamily="34" charset="-120"/>
              </a:rPr>
              <a:t>explorateur filtré, trié, paginé</a:t>
            </a:r>
            <a:endParaRPr lang="en-US" sz="1300" dirty="0"/>
          </a:p>
        </p:txBody>
      </p:sp>
      <p:sp>
        <p:nvSpPr>
          <p:cNvPr id="26" name="Shape 23"/>
          <p:cNvSpPr/>
          <p:nvPr/>
        </p:nvSpPr>
        <p:spPr>
          <a:xfrm>
            <a:off x="5806440" y="5504688"/>
            <a:ext cx="274320" cy="274320"/>
          </a:xfrm>
          <a:prstGeom prst="ellipse">
            <a:avLst/>
          </a:prstGeom>
          <a:solidFill>
            <a:srgbClr val="1D8AC1"/>
          </a:solidFill>
          <a:ln w="12700">
            <a:solidFill>
              <a:srgbClr val="1D8AC1"/>
            </a:solidFill>
            <a:prstDash val="solid"/>
          </a:ln>
        </p:spPr>
      </p:sp>
      <p:sp>
        <p:nvSpPr>
          <p:cNvPr id="27" name="Text 24"/>
          <p:cNvSpPr txBox="1"/>
          <p:nvPr/>
        </p:nvSpPr>
        <p:spPr>
          <a:xfrm>
            <a:off x="5806440" y="5532120"/>
            <a:ext cx="2743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28" name="Text 25"/>
          <p:cNvSpPr txBox="1"/>
          <p:nvPr/>
        </p:nvSpPr>
        <p:spPr>
          <a:xfrm>
            <a:off x="6236208" y="5449824"/>
            <a:ext cx="5394960" cy="384048"/>
          </a:xfrm>
          <a:prstGeom prst="rect">
            <a:avLst/>
          </a:prstGeom>
          <a:noFill/>
          <a:ln/>
        </p:spPr>
        <p:txBody>
          <a:bodyPr wrap="square" lIns="0" tIns="0" rIns="0" bIns="0" rtlCol="0" anchor="ctr"/>
          <a:lstStyle/>
          <a:p>
            <a:pPr indent="0" marL="0">
              <a:buNone/>
            </a:pPr>
            <a:r>
              <a:rPr lang="en-US" sz="1300" b="1" dirty="0">
                <a:solidFill>
                  <a:srgbClr val="12202B"/>
                </a:solidFill>
                <a:latin typeface="Calibri" pitchFamily="34" charset="0"/>
                <a:ea typeface="Calibri" pitchFamily="34" charset="-122"/>
                <a:cs typeface="Calibri" pitchFamily="34" charset="-120"/>
              </a:rPr>
              <a:t>Données &amp; méthode  </a:t>
            </a:r>
            <a:pPr indent="0" marL="0">
              <a:buNone/>
            </a:pPr>
            <a:r>
              <a:rPr lang="en-US" sz="1150" dirty="0">
                <a:solidFill>
                  <a:srgbClr val="5A6B7B"/>
                </a:solidFill>
                <a:latin typeface="Calibri" pitchFamily="34" charset="0"/>
                <a:ea typeface="Calibri" pitchFamily="34" charset="-122"/>
                <a:cs typeface="Calibri" pitchFamily="34" charset="-120"/>
              </a:rPr>
              <a:t>sources et conventions de lecture</a:t>
            </a:r>
            <a:endParaRPr lang="en-US" sz="1300" dirty="0"/>
          </a:p>
        </p:txBody>
      </p:sp>
      <p:sp>
        <p:nvSpPr>
          <p:cNvPr id="29" name="Shape 26"/>
          <p:cNvSpPr/>
          <p:nvPr/>
        </p:nvSpPr>
        <p:spPr>
          <a:xfrm>
            <a:off x="5806440" y="5943600"/>
            <a:ext cx="5833872" cy="566928"/>
          </a:xfrm>
          <a:prstGeom prst="roundRect">
            <a:avLst>
              <a:gd name="adj" fmla="val 12903"/>
            </a:avLst>
          </a:prstGeom>
          <a:solidFill>
            <a:srgbClr val="E8F1F8"/>
          </a:solidFill>
          <a:ln w="12700">
            <a:solidFill>
              <a:srgbClr val="CFE3F1"/>
            </a:solidFill>
            <a:prstDash val="solid"/>
          </a:ln>
        </p:spPr>
      </p:sp>
      <p:sp>
        <p:nvSpPr>
          <p:cNvPr id="30" name="Text 27"/>
          <p:cNvSpPr txBox="1"/>
          <p:nvPr/>
        </p:nvSpPr>
        <p:spPr>
          <a:xfrm>
            <a:off x="5989320" y="6035040"/>
            <a:ext cx="5486400" cy="411480"/>
          </a:xfrm>
          <a:prstGeom prst="rect">
            <a:avLst/>
          </a:prstGeom>
          <a:noFill/>
          <a:ln/>
        </p:spPr>
        <p:txBody>
          <a:bodyPr wrap="square" lIns="0" tIns="0" rIns="0" bIns="0" rtlCol="0" anchor="ctr"/>
          <a:lstStyle/>
          <a:p>
            <a:pPr indent="0" marL="0">
              <a:buNone/>
            </a:pPr>
            <a:r>
              <a:rPr lang="en-US" sz="1100" dirty="0">
                <a:solidFill>
                  <a:srgbClr val="5A6B7B"/>
                </a:solidFill>
                <a:latin typeface="Calibri" pitchFamily="34" charset="0"/>
                <a:ea typeface="Calibri" pitchFamily="34" charset="-122"/>
                <a:cs typeface="Calibri" pitchFamily="34" charset="-120"/>
              </a:rPr>
              <a:t>Si l'API tombe, le badge passe au rouge et chaque graphique affiche l'erreur : la session ne tombe jamais.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384048"/>
            <a:ext cx="7315200" cy="256032"/>
          </a:xfrm>
          <a:prstGeom prst="rect">
            <a:avLst/>
          </a:prstGeom>
          <a:noFill/>
          <a:ln/>
        </p:spPr>
        <p:txBody>
          <a:bodyPr wrap="square" lIns="0" tIns="0" rIns="0" bIns="0" rtlCol="0" anchor="ctr"/>
          <a:lstStyle/>
          <a:p>
            <a:pPr indent="0" marL="0">
              <a:buNone/>
            </a:pPr>
            <a:r>
              <a:rPr lang="en-US" sz="1200" b="1" spc="160" kern="0" dirty="0">
                <a:solidFill>
                  <a:srgbClr val="1D8AC1"/>
                </a:solidFill>
                <a:latin typeface="Calibri" pitchFamily="34" charset="0"/>
                <a:ea typeface="Calibri" pitchFamily="34" charset="-122"/>
                <a:cs typeface="Calibri" pitchFamily="34" charset="-120"/>
              </a:rPr>
              <a:t>RÉSULTAT 1 — GÉOGRAPHIE</a:t>
            </a:r>
            <a:endParaRPr lang="en-US" sz="1200" dirty="0"/>
          </a:p>
        </p:txBody>
      </p:sp>
      <p:sp>
        <p:nvSpPr>
          <p:cNvPr id="3" name="Text 1"/>
          <p:cNvSpPr txBox="1"/>
          <p:nvPr/>
        </p:nvSpPr>
        <p:spPr>
          <a:xfrm>
            <a:off x="566928" y="640080"/>
            <a:ext cx="11057839" cy="658368"/>
          </a:xfrm>
          <a:prstGeom prst="rect">
            <a:avLst/>
          </a:prstGeom>
          <a:noFill/>
          <a:ln/>
        </p:spPr>
        <p:txBody>
          <a:bodyPr wrap="square" lIns="0" tIns="0" rIns="0" bIns="0" rtlCol="0" anchor="ctr"/>
          <a:lstStyle/>
          <a:p>
            <a:pPr indent="0" marL="0">
              <a:buNone/>
            </a:pPr>
            <a:r>
              <a:rPr lang="en-US" sz="3200" b="1" dirty="0">
                <a:solidFill>
                  <a:srgbClr val="12202B"/>
                </a:solidFill>
                <a:latin typeface="Cambria" pitchFamily="34" charset="0"/>
                <a:ea typeface="Cambria" pitchFamily="34" charset="-122"/>
                <a:cs typeface="Cambria" pitchFamily="34" charset="-120"/>
              </a:rPr>
              <a:t>Trois aéroports à parts presque égales</a:t>
            </a:r>
            <a:endParaRPr lang="en-US" sz="3200" dirty="0"/>
          </a:p>
        </p:txBody>
      </p:sp>
      <p:sp>
        <p:nvSpPr>
          <p:cNvPr id="4" name="Text 2"/>
          <p:cNvSpPr txBox="1"/>
          <p:nvPr/>
        </p:nvSpPr>
        <p:spPr>
          <a:xfrm>
            <a:off x="566928" y="1298448"/>
            <a:ext cx="10692079" cy="365760"/>
          </a:xfrm>
          <a:prstGeom prst="rect">
            <a:avLst/>
          </a:prstGeom>
          <a:noFill/>
          <a:ln/>
        </p:spPr>
        <p:txBody>
          <a:bodyPr wrap="square" lIns="0" tIns="0" rIns="0" bIns="0" rtlCol="0" anchor="ctr"/>
          <a:lstStyle/>
          <a:p>
            <a:pPr indent="0" marL="0">
              <a:buNone/>
            </a:pPr>
            <a:r>
              <a:rPr lang="en-US" sz="1400" dirty="0">
                <a:solidFill>
                  <a:srgbClr val="5A6B7B"/>
                </a:solidFill>
                <a:latin typeface="Calibri" pitchFamily="34" charset="0"/>
                <a:ea typeface="Calibri" pitchFamily="34" charset="-122"/>
                <a:cs typeface="Calibri" pitchFamily="34" charset="-120"/>
              </a:rPr>
              <a:t>Aucun des trois aéroports new-yorkais ne domine : 5 points séparent le premier du dernier.</a:t>
            </a:r>
            <a:endParaRPr lang="en-US" sz="1400" dirty="0"/>
          </a:p>
        </p:txBody>
      </p:sp>
      <p:sp>
        <p:nvSpPr>
          <p:cNvPr id="5" name="Shape 3"/>
          <p:cNvSpPr/>
          <p:nvPr/>
        </p:nvSpPr>
        <p:spPr>
          <a:xfrm>
            <a:off x="566928" y="1920240"/>
            <a:ext cx="1828800" cy="1207008"/>
          </a:xfrm>
          <a:prstGeom prst="roundRect">
            <a:avLst>
              <a:gd name="adj" fmla="val 6061"/>
            </a:avLst>
          </a:prstGeom>
          <a:solidFill>
            <a:srgbClr val="E8F1F8"/>
          </a:solidFill>
          <a:ln w="12700">
            <a:solidFill>
              <a:srgbClr val="CFE3F1"/>
            </a:solidFill>
            <a:prstDash val="solid"/>
          </a:ln>
          <a:effectLst>
            <a:outerShdw sx="100000" sy="100000" kx="0" ky="0" algn="bl" rotWithShape="0" blurRad="101600" dist="508" dir="5400000">
              <a:srgbClr val="9FB3C4">
                <a:alpha val="28000"/>
              </a:srgbClr>
            </a:outerShdw>
          </a:effectLst>
        </p:spPr>
      </p:sp>
      <p:sp>
        <p:nvSpPr>
          <p:cNvPr id="6" name="Text 4"/>
          <p:cNvSpPr txBox="1"/>
          <p:nvPr/>
        </p:nvSpPr>
        <p:spPr>
          <a:xfrm>
            <a:off x="694944" y="2011680"/>
            <a:ext cx="1554480" cy="292608"/>
          </a:xfrm>
          <a:prstGeom prst="rect">
            <a:avLst/>
          </a:prstGeom>
          <a:noFill/>
          <a:ln/>
        </p:spPr>
        <p:txBody>
          <a:bodyPr wrap="square" lIns="0" tIns="0" rIns="0" bIns="0" rtlCol="0" anchor="ctr"/>
          <a:lstStyle/>
          <a:p>
            <a:pPr indent="0" marL="0">
              <a:buNone/>
            </a:pPr>
            <a:r>
              <a:rPr lang="en-US" sz="1150" b="1" dirty="0">
                <a:solidFill>
                  <a:srgbClr val="2E9E6B"/>
                </a:solidFill>
                <a:latin typeface="Calibri" pitchFamily="34" charset="0"/>
                <a:ea typeface="Calibri" pitchFamily="34" charset="-122"/>
                <a:cs typeface="Calibri" pitchFamily="34" charset="-120"/>
              </a:rPr>
              <a:t>EWR</a:t>
            </a:r>
            <a:endParaRPr lang="en-US" sz="1150" dirty="0"/>
          </a:p>
        </p:txBody>
      </p:sp>
      <p:sp>
        <p:nvSpPr>
          <p:cNvPr id="7" name="Text 5"/>
          <p:cNvSpPr txBox="1"/>
          <p:nvPr/>
        </p:nvSpPr>
        <p:spPr>
          <a:xfrm>
            <a:off x="694944" y="2286000"/>
            <a:ext cx="1554480" cy="457200"/>
          </a:xfrm>
          <a:prstGeom prst="rect">
            <a:avLst/>
          </a:prstGeom>
          <a:noFill/>
          <a:ln/>
        </p:spPr>
        <p:txBody>
          <a:bodyPr wrap="square" lIns="0" tIns="0" rIns="0" bIns="0" rtlCol="0" anchor="ctr"/>
          <a:lstStyle/>
          <a:p>
            <a:pPr indent="0" marL="0">
              <a:buNone/>
            </a:pPr>
            <a:r>
              <a:rPr lang="en-US" sz="2400" b="1" dirty="0">
                <a:solidFill>
                  <a:srgbClr val="12202B"/>
                </a:solidFill>
                <a:latin typeface="Cambria" pitchFamily="34" charset="0"/>
                <a:ea typeface="Cambria" pitchFamily="34" charset="-122"/>
                <a:cs typeface="Cambria" pitchFamily="34" charset="-120"/>
              </a:rPr>
              <a:t>36,1 %</a:t>
            </a:r>
            <a:endParaRPr lang="en-US" sz="2400" dirty="0"/>
          </a:p>
        </p:txBody>
      </p:sp>
      <p:sp>
        <p:nvSpPr>
          <p:cNvPr id="8" name="Text 6"/>
          <p:cNvSpPr txBox="1"/>
          <p:nvPr/>
        </p:nvSpPr>
        <p:spPr>
          <a:xfrm>
            <a:off x="694944" y="2743200"/>
            <a:ext cx="1554480" cy="27432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91 241 vols</a:t>
            </a:r>
            <a:endParaRPr lang="en-US" sz="1050" dirty="0"/>
          </a:p>
        </p:txBody>
      </p:sp>
      <p:sp>
        <p:nvSpPr>
          <p:cNvPr id="9" name="Shape 7"/>
          <p:cNvSpPr/>
          <p:nvPr/>
        </p:nvSpPr>
        <p:spPr>
          <a:xfrm>
            <a:off x="2542032" y="1920240"/>
            <a:ext cx="1828800" cy="1207008"/>
          </a:xfrm>
          <a:prstGeom prst="roundRect">
            <a:avLst>
              <a:gd name="adj" fmla="val 6061"/>
            </a:avLst>
          </a:prstGeom>
          <a:solidFill>
            <a:srgbClr val="E8F1F8"/>
          </a:solidFill>
          <a:ln w="12700">
            <a:solidFill>
              <a:srgbClr val="CFE3F1"/>
            </a:solidFill>
            <a:prstDash val="solid"/>
          </a:ln>
          <a:effectLst>
            <a:outerShdw sx="100000" sy="100000" kx="0" ky="0" algn="bl" rotWithShape="0" blurRad="101600" dist="508" dir="5400000">
              <a:srgbClr val="9FB3C4">
                <a:alpha val="28000"/>
              </a:srgbClr>
            </a:outerShdw>
          </a:effectLst>
        </p:spPr>
      </p:sp>
      <p:sp>
        <p:nvSpPr>
          <p:cNvPr id="10" name="Text 8"/>
          <p:cNvSpPr txBox="1"/>
          <p:nvPr/>
        </p:nvSpPr>
        <p:spPr>
          <a:xfrm>
            <a:off x="2670048" y="2011680"/>
            <a:ext cx="1554480" cy="292608"/>
          </a:xfrm>
          <a:prstGeom prst="rect">
            <a:avLst/>
          </a:prstGeom>
          <a:noFill/>
          <a:ln/>
        </p:spPr>
        <p:txBody>
          <a:bodyPr wrap="square" lIns="0" tIns="0" rIns="0" bIns="0" rtlCol="0" anchor="ctr"/>
          <a:lstStyle/>
          <a:p>
            <a:pPr indent="0" marL="0">
              <a:buNone/>
            </a:pPr>
            <a:r>
              <a:rPr lang="en-US" sz="1150" b="1" dirty="0">
                <a:solidFill>
                  <a:srgbClr val="0B3C5D"/>
                </a:solidFill>
                <a:latin typeface="Calibri" pitchFamily="34" charset="0"/>
                <a:ea typeface="Calibri" pitchFamily="34" charset="-122"/>
                <a:cs typeface="Calibri" pitchFamily="34" charset="-120"/>
              </a:rPr>
              <a:t>JFK</a:t>
            </a:r>
            <a:endParaRPr lang="en-US" sz="1150" dirty="0"/>
          </a:p>
        </p:txBody>
      </p:sp>
      <p:sp>
        <p:nvSpPr>
          <p:cNvPr id="11" name="Text 9"/>
          <p:cNvSpPr txBox="1"/>
          <p:nvPr/>
        </p:nvSpPr>
        <p:spPr>
          <a:xfrm>
            <a:off x="2670048" y="2286000"/>
            <a:ext cx="1554480" cy="457200"/>
          </a:xfrm>
          <a:prstGeom prst="rect">
            <a:avLst/>
          </a:prstGeom>
          <a:noFill/>
          <a:ln/>
        </p:spPr>
        <p:txBody>
          <a:bodyPr wrap="square" lIns="0" tIns="0" rIns="0" bIns="0" rtlCol="0" anchor="ctr"/>
          <a:lstStyle/>
          <a:p>
            <a:pPr indent="0" marL="0">
              <a:buNone/>
            </a:pPr>
            <a:r>
              <a:rPr lang="en-US" sz="2400" b="1" dirty="0">
                <a:solidFill>
                  <a:srgbClr val="12202B"/>
                </a:solidFill>
                <a:latin typeface="Cambria" pitchFamily="34" charset="0"/>
                <a:ea typeface="Cambria" pitchFamily="34" charset="-122"/>
                <a:cs typeface="Cambria" pitchFamily="34" charset="-120"/>
              </a:rPr>
              <a:t>32,9 %</a:t>
            </a:r>
            <a:endParaRPr lang="en-US" sz="2400" dirty="0"/>
          </a:p>
        </p:txBody>
      </p:sp>
      <p:sp>
        <p:nvSpPr>
          <p:cNvPr id="12" name="Text 10"/>
          <p:cNvSpPr txBox="1"/>
          <p:nvPr/>
        </p:nvSpPr>
        <p:spPr>
          <a:xfrm>
            <a:off x="2670048" y="2743200"/>
            <a:ext cx="1554480" cy="27432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83 119 vols</a:t>
            </a:r>
            <a:endParaRPr lang="en-US" sz="1050" dirty="0"/>
          </a:p>
        </p:txBody>
      </p:sp>
      <p:sp>
        <p:nvSpPr>
          <p:cNvPr id="13" name="Shape 11"/>
          <p:cNvSpPr/>
          <p:nvPr/>
        </p:nvSpPr>
        <p:spPr>
          <a:xfrm>
            <a:off x="4517136" y="1920240"/>
            <a:ext cx="1828800" cy="1207008"/>
          </a:xfrm>
          <a:prstGeom prst="roundRect">
            <a:avLst>
              <a:gd name="adj" fmla="val 6061"/>
            </a:avLst>
          </a:prstGeom>
          <a:solidFill>
            <a:srgbClr val="E8F1F8"/>
          </a:solidFill>
          <a:ln w="12700">
            <a:solidFill>
              <a:srgbClr val="CFE3F1"/>
            </a:solidFill>
            <a:prstDash val="solid"/>
          </a:ln>
          <a:effectLst>
            <a:outerShdw sx="100000" sy="100000" kx="0" ky="0" algn="bl" rotWithShape="0" blurRad="101600" dist="508" dir="5400000">
              <a:srgbClr val="9FB3C4">
                <a:alpha val="28000"/>
              </a:srgbClr>
            </a:outerShdw>
          </a:effectLst>
        </p:spPr>
      </p:sp>
      <p:sp>
        <p:nvSpPr>
          <p:cNvPr id="14" name="Text 12"/>
          <p:cNvSpPr txBox="1"/>
          <p:nvPr/>
        </p:nvSpPr>
        <p:spPr>
          <a:xfrm>
            <a:off x="4645152" y="2011680"/>
            <a:ext cx="1554480" cy="292608"/>
          </a:xfrm>
          <a:prstGeom prst="rect">
            <a:avLst/>
          </a:prstGeom>
          <a:noFill/>
          <a:ln/>
        </p:spPr>
        <p:txBody>
          <a:bodyPr wrap="square" lIns="0" tIns="0" rIns="0" bIns="0" rtlCol="0" anchor="ctr"/>
          <a:lstStyle/>
          <a:p>
            <a:pPr indent="0" marL="0">
              <a:buNone/>
            </a:pPr>
            <a:r>
              <a:rPr lang="en-US" sz="1150" b="1" dirty="0">
                <a:solidFill>
                  <a:srgbClr val="1D8AC1"/>
                </a:solidFill>
                <a:latin typeface="Calibri" pitchFamily="34" charset="0"/>
                <a:ea typeface="Calibri" pitchFamily="34" charset="-122"/>
                <a:cs typeface="Calibri" pitchFamily="34" charset="-120"/>
              </a:rPr>
              <a:t>LGA</a:t>
            </a:r>
            <a:endParaRPr lang="en-US" sz="1150" dirty="0"/>
          </a:p>
        </p:txBody>
      </p:sp>
      <p:sp>
        <p:nvSpPr>
          <p:cNvPr id="15" name="Text 13"/>
          <p:cNvSpPr txBox="1"/>
          <p:nvPr/>
        </p:nvSpPr>
        <p:spPr>
          <a:xfrm>
            <a:off x="4645152" y="2286000"/>
            <a:ext cx="1554480" cy="457200"/>
          </a:xfrm>
          <a:prstGeom prst="rect">
            <a:avLst/>
          </a:prstGeom>
          <a:noFill/>
          <a:ln/>
        </p:spPr>
        <p:txBody>
          <a:bodyPr wrap="square" lIns="0" tIns="0" rIns="0" bIns="0" rtlCol="0" anchor="ctr"/>
          <a:lstStyle/>
          <a:p>
            <a:pPr indent="0" marL="0">
              <a:buNone/>
            </a:pPr>
            <a:r>
              <a:rPr lang="en-US" sz="2400" b="1" dirty="0">
                <a:solidFill>
                  <a:srgbClr val="12202B"/>
                </a:solidFill>
                <a:latin typeface="Cambria" pitchFamily="34" charset="0"/>
                <a:ea typeface="Cambria" pitchFamily="34" charset="-122"/>
                <a:cs typeface="Cambria" pitchFamily="34" charset="-120"/>
              </a:rPr>
              <a:t>31,0 %</a:t>
            </a:r>
            <a:endParaRPr lang="en-US" sz="2400" dirty="0"/>
          </a:p>
        </p:txBody>
      </p:sp>
      <p:sp>
        <p:nvSpPr>
          <p:cNvPr id="16" name="Text 14"/>
          <p:cNvSpPr txBox="1"/>
          <p:nvPr/>
        </p:nvSpPr>
        <p:spPr>
          <a:xfrm>
            <a:off x="4645152" y="2743200"/>
            <a:ext cx="1554480" cy="27432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78 344 vols</a:t>
            </a:r>
            <a:endParaRPr lang="en-US" sz="1050" dirty="0"/>
          </a:p>
        </p:txBody>
      </p:sp>
      <p:graphicFrame>
        <p:nvGraphicFramePr>
          <p:cNvPr id="17" name="Chart 0" descr=""/>
          <p:cNvGraphicFramePr/>
          <p:nvPr/>
        </p:nvGraphicFramePr>
        <p:xfrm>
          <a:off x="6309360" y="1783080"/>
          <a:ext cx="5349240" cy="3977640"/>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txBox="1"/>
          <p:nvPr/>
        </p:nvSpPr>
        <p:spPr>
          <a:xfrm>
            <a:off x="566928" y="3383280"/>
            <a:ext cx="5303520" cy="274320"/>
          </a:xfrm>
          <a:prstGeom prst="rect">
            <a:avLst/>
          </a:prstGeom>
          <a:noFill/>
          <a:ln/>
        </p:spPr>
        <p:txBody>
          <a:bodyPr wrap="square" lIns="0" tIns="0" rIns="0" bIns="0" rtlCol="0" anchor="ctr"/>
          <a:lstStyle/>
          <a:p>
            <a:pPr indent="0" marL="0">
              <a:buNone/>
            </a:pPr>
            <a:r>
              <a:rPr lang="en-US" sz="1500" b="1" dirty="0">
                <a:solidFill>
                  <a:srgbClr val="12202B"/>
                </a:solidFill>
                <a:latin typeface="Cambria" pitchFamily="34" charset="0"/>
                <a:ea typeface="Cambria" pitchFamily="34" charset="-122"/>
                <a:cs typeface="Cambria" pitchFamily="34" charset="-120"/>
              </a:rPr>
              <a:t>Les lignes les plus fréquentées</a:t>
            </a:r>
            <a:endParaRPr lang="en-US" sz="1500" dirty="0"/>
          </a:p>
        </p:txBody>
      </p:sp>
      <p:sp>
        <p:nvSpPr>
          <p:cNvPr id="19" name="Shape 16"/>
          <p:cNvSpPr/>
          <p:nvPr/>
        </p:nvSpPr>
        <p:spPr>
          <a:xfrm>
            <a:off x="566928" y="3749040"/>
            <a:ext cx="5303520" cy="365760"/>
          </a:xfrm>
          <a:prstGeom prst="roundRect">
            <a:avLst>
              <a:gd name="adj" fmla="val 20000"/>
            </a:avLst>
          </a:prstGeom>
          <a:solidFill>
            <a:srgbClr val="F4F7FA"/>
          </a:solidFill>
          <a:ln w="12700">
            <a:solidFill>
              <a:srgbClr val="F4F7FA"/>
            </a:solidFill>
            <a:prstDash val="solid"/>
          </a:ln>
        </p:spPr>
      </p:sp>
      <p:sp>
        <p:nvSpPr>
          <p:cNvPr id="20" name="Text 17"/>
          <p:cNvSpPr txBox="1"/>
          <p:nvPr/>
        </p:nvSpPr>
        <p:spPr>
          <a:xfrm>
            <a:off x="713232" y="3776472"/>
            <a:ext cx="3108960" cy="310896"/>
          </a:xfrm>
          <a:prstGeom prst="rect">
            <a:avLst/>
          </a:prstGeom>
          <a:noFill/>
          <a:ln/>
        </p:spPr>
        <p:txBody>
          <a:bodyPr wrap="square" lIns="0" tIns="0" rIns="0" bIns="0" rtlCol="0" anchor="ctr"/>
          <a:lstStyle/>
          <a:p>
            <a:pPr indent="0" marL="0">
              <a:buNone/>
            </a:pPr>
            <a:r>
              <a:rPr lang="en-US" sz="1200" dirty="0">
                <a:solidFill>
                  <a:srgbClr val="12202B"/>
                </a:solidFill>
                <a:latin typeface="Calibri" pitchFamily="34" charset="0"/>
                <a:ea typeface="Calibri" pitchFamily="34" charset="-122"/>
                <a:cs typeface="Calibri" pitchFamily="34" charset="-120"/>
              </a:rPr>
              <a:t>JFK → LAX</a:t>
            </a:r>
            <a:endParaRPr lang="en-US" sz="1200" dirty="0"/>
          </a:p>
        </p:txBody>
      </p:sp>
      <p:sp>
        <p:nvSpPr>
          <p:cNvPr id="21" name="Text 18"/>
          <p:cNvSpPr txBox="1"/>
          <p:nvPr/>
        </p:nvSpPr>
        <p:spPr>
          <a:xfrm>
            <a:off x="3858768" y="3776472"/>
            <a:ext cx="1828800" cy="310896"/>
          </a:xfrm>
          <a:prstGeom prst="rect">
            <a:avLst/>
          </a:prstGeom>
          <a:noFill/>
          <a:ln/>
        </p:spPr>
        <p:txBody>
          <a:bodyPr wrap="square" lIns="0" tIns="0" rIns="0" bIns="0" rtlCol="0" anchor="ctr"/>
          <a:lstStyle/>
          <a:p>
            <a:pPr algn="r" indent="0" marL="0">
              <a:buNone/>
            </a:pPr>
            <a:r>
              <a:rPr lang="en-US" sz="1200" b="1" dirty="0">
                <a:solidFill>
                  <a:srgbClr val="0B3C5D"/>
                </a:solidFill>
                <a:latin typeface="Calibri" pitchFamily="34" charset="0"/>
                <a:ea typeface="Calibri" pitchFamily="34" charset="-122"/>
                <a:cs typeface="Calibri" pitchFamily="34" charset="-120"/>
              </a:rPr>
              <a:t>8 447 vols</a:t>
            </a:r>
            <a:endParaRPr lang="en-US" sz="1200" dirty="0"/>
          </a:p>
        </p:txBody>
      </p:sp>
      <p:sp>
        <p:nvSpPr>
          <p:cNvPr id="22" name="Text 19"/>
          <p:cNvSpPr txBox="1"/>
          <p:nvPr/>
        </p:nvSpPr>
        <p:spPr>
          <a:xfrm>
            <a:off x="713232" y="4178808"/>
            <a:ext cx="3108960" cy="310896"/>
          </a:xfrm>
          <a:prstGeom prst="rect">
            <a:avLst/>
          </a:prstGeom>
          <a:noFill/>
          <a:ln/>
        </p:spPr>
        <p:txBody>
          <a:bodyPr wrap="square" lIns="0" tIns="0" rIns="0" bIns="0" rtlCol="0" anchor="ctr"/>
          <a:lstStyle/>
          <a:p>
            <a:pPr indent="0" marL="0">
              <a:buNone/>
            </a:pPr>
            <a:r>
              <a:rPr lang="en-US" sz="1200" dirty="0">
                <a:solidFill>
                  <a:srgbClr val="12202B"/>
                </a:solidFill>
                <a:latin typeface="Calibri" pitchFamily="34" charset="0"/>
                <a:ea typeface="Calibri" pitchFamily="34" charset="-122"/>
                <a:cs typeface="Calibri" pitchFamily="34" charset="-120"/>
              </a:rPr>
              <a:t>LGA → ATL</a:t>
            </a:r>
            <a:endParaRPr lang="en-US" sz="1200" dirty="0"/>
          </a:p>
        </p:txBody>
      </p:sp>
      <p:sp>
        <p:nvSpPr>
          <p:cNvPr id="23" name="Text 20"/>
          <p:cNvSpPr txBox="1"/>
          <p:nvPr/>
        </p:nvSpPr>
        <p:spPr>
          <a:xfrm>
            <a:off x="3858768" y="4178808"/>
            <a:ext cx="1828800" cy="310896"/>
          </a:xfrm>
          <a:prstGeom prst="rect">
            <a:avLst/>
          </a:prstGeom>
          <a:noFill/>
          <a:ln/>
        </p:spPr>
        <p:txBody>
          <a:bodyPr wrap="square" lIns="0" tIns="0" rIns="0" bIns="0" rtlCol="0" anchor="ctr"/>
          <a:lstStyle/>
          <a:p>
            <a:pPr algn="r" indent="0" marL="0">
              <a:buNone/>
            </a:pPr>
            <a:r>
              <a:rPr lang="en-US" sz="1200" b="1" dirty="0">
                <a:solidFill>
                  <a:srgbClr val="0B3C5D"/>
                </a:solidFill>
                <a:latin typeface="Calibri" pitchFamily="34" charset="0"/>
                <a:ea typeface="Calibri" pitchFamily="34" charset="-122"/>
                <a:cs typeface="Calibri" pitchFamily="34" charset="-120"/>
              </a:rPr>
              <a:t>7 816 vols</a:t>
            </a:r>
            <a:endParaRPr lang="en-US" sz="1200" dirty="0"/>
          </a:p>
        </p:txBody>
      </p:sp>
      <p:sp>
        <p:nvSpPr>
          <p:cNvPr id="24" name="Shape 21"/>
          <p:cNvSpPr/>
          <p:nvPr/>
        </p:nvSpPr>
        <p:spPr>
          <a:xfrm>
            <a:off x="566928" y="4553712"/>
            <a:ext cx="5303520" cy="365760"/>
          </a:xfrm>
          <a:prstGeom prst="roundRect">
            <a:avLst>
              <a:gd name="adj" fmla="val 20000"/>
            </a:avLst>
          </a:prstGeom>
          <a:solidFill>
            <a:srgbClr val="F4F7FA"/>
          </a:solidFill>
          <a:ln w="12700">
            <a:solidFill>
              <a:srgbClr val="F4F7FA"/>
            </a:solidFill>
            <a:prstDash val="solid"/>
          </a:ln>
        </p:spPr>
      </p:sp>
      <p:sp>
        <p:nvSpPr>
          <p:cNvPr id="25" name="Text 22"/>
          <p:cNvSpPr txBox="1"/>
          <p:nvPr/>
        </p:nvSpPr>
        <p:spPr>
          <a:xfrm>
            <a:off x="713232" y="4581144"/>
            <a:ext cx="3108960" cy="310896"/>
          </a:xfrm>
          <a:prstGeom prst="rect">
            <a:avLst/>
          </a:prstGeom>
          <a:noFill/>
          <a:ln/>
        </p:spPr>
        <p:txBody>
          <a:bodyPr wrap="square" lIns="0" tIns="0" rIns="0" bIns="0" rtlCol="0" anchor="ctr"/>
          <a:lstStyle/>
          <a:p>
            <a:pPr indent="0" marL="0">
              <a:buNone/>
            </a:pPr>
            <a:r>
              <a:rPr lang="en-US" sz="1200" dirty="0">
                <a:solidFill>
                  <a:srgbClr val="12202B"/>
                </a:solidFill>
                <a:latin typeface="Calibri" pitchFamily="34" charset="0"/>
                <a:ea typeface="Calibri" pitchFamily="34" charset="-122"/>
                <a:cs typeface="Calibri" pitchFamily="34" charset="-120"/>
              </a:rPr>
              <a:t>LGA → ORD</a:t>
            </a:r>
            <a:endParaRPr lang="en-US" sz="1200" dirty="0"/>
          </a:p>
        </p:txBody>
      </p:sp>
      <p:sp>
        <p:nvSpPr>
          <p:cNvPr id="26" name="Text 23"/>
          <p:cNvSpPr txBox="1"/>
          <p:nvPr/>
        </p:nvSpPr>
        <p:spPr>
          <a:xfrm>
            <a:off x="3858768" y="4581144"/>
            <a:ext cx="1828800" cy="310896"/>
          </a:xfrm>
          <a:prstGeom prst="rect">
            <a:avLst/>
          </a:prstGeom>
          <a:noFill/>
          <a:ln/>
        </p:spPr>
        <p:txBody>
          <a:bodyPr wrap="square" lIns="0" tIns="0" rIns="0" bIns="0" rtlCol="0" anchor="ctr"/>
          <a:lstStyle/>
          <a:p>
            <a:pPr algn="r" indent="0" marL="0">
              <a:buNone/>
            </a:pPr>
            <a:r>
              <a:rPr lang="en-US" sz="1200" b="1" dirty="0">
                <a:solidFill>
                  <a:srgbClr val="0B3C5D"/>
                </a:solidFill>
                <a:latin typeface="Calibri" pitchFamily="34" charset="0"/>
                <a:ea typeface="Calibri" pitchFamily="34" charset="-122"/>
                <a:cs typeface="Calibri" pitchFamily="34" charset="-120"/>
              </a:rPr>
              <a:t>6 500 vols</a:t>
            </a:r>
            <a:endParaRPr lang="en-US" sz="1200" dirty="0"/>
          </a:p>
        </p:txBody>
      </p:sp>
      <p:sp>
        <p:nvSpPr>
          <p:cNvPr id="27" name="Text 24"/>
          <p:cNvSpPr txBox="1"/>
          <p:nvPr/>
        </p:nvSpPr>
        <p:spPr>
          <a:xfrm>
            <a:off x="713232" y="4983480"/>
            <a:ext cx="3108960" cy="310896"/>
          </a:xfrm>
          <a:prstGeom prst="rect">
            <a:avLst/>
          </a:prstGeom>
          <a:noFill/>
          <a:ln/>
        </p:spPr>
        <p:txBody>
          <a:bodyPr wrap="square" lIns="0" tIns="0" rIns="0" bIns="0" rtlCol="0" anchor="ctr"/>
          <a:lstStyle/>
          <a:p>
            <a:pPr indent="0" marL="0">
              <a:buNone/>
            </a:pPr>
            <a:r>
              <a:rPr lang="en-US" sz="1200" dirty="0">
                <a:solidFill>
                  <a:srgbClr val="12202B"/>
                </a:solidFill>
                <a:latin typeface="Calibri" pitchFamily="34" charset="0"/>
                <a:ea typeface="Calibri" pitchFamily="34" charset="-122"/>
                <a:cs typeface="Calibri" pitchFamily="34" charset="-120"/>
              </a:rPr>
              <a:t>JFK → SFO</a:t>
            </a:r>
            <a:endParaRPr lang="en-US" sz="1200" dirty="0"/>
          </a:p>
        </p:txBody>
      </p:sp>
      <p:sp>
        <p:nvSpPr>
          <p:cNvPr id="28" name="Text 25"/>
          <p:cNvSpPr txBox="1"/>
          <p:nvPr/>
        </p:nvSpPr>
        <p:spPr>
          <a:xfrm>
            <a:off x="3858768" y="4983480"/>
            <a:ext cx="1828800" cy="310896"/>
          </a:xfrm>
          <a:prstGeom prst="rect">
            <a:avLst/>
          </a:prstGeom>
          <a:noFill/>
          <a:ln/>
        </p:spPr>
        <p:txBody>
          <a:bodyPr wrap="square" lIns="0" tIns="0" rIns="0" bIns="0" rtlCol="0" anchor="ctr"/>
          <a:lstStyle/>
          <a:p>
            <a:pPr algn="r" indent="0" marL="0">
              <a:buNone/>
            </a:pPr>
            <a:r>
              <a:rPr lang="en-US" sz="1200" b="1" dirty="0">
                <a:solidFill>
                  <a:srgbClr val="0B3C5D"/>
                </a:solidFill>
                <a:latin typeface="Calibri" pitchFamily="34" charset="0"/>
                <a:ea typeface="Calibri" pitchFamily="34" charset="-122"/>
                <a:cs typeface="Calibri" pitchFamily="34" charset="-120"/>
              </a:rPr>
              <a:t>6 132 vols</a:t>
            </a:r>
            <a:endParaRPr lang="en-US" sz="1200" dirty="0"/>
          </a:p>
        </p:txBody>
      </p:sp>
      <p:sp>
        <p:nvSpPr>
          <p:cNvPr id="29" name="Shape 26"/>
          <p:cNvSpPr/>
          <p:nvPr/>
        </p:nvSpPr>
        <p:spPr>
          <a:xfrm>
            <a:off x="566928" y="5358384"/>
            <a:ext cx="5303520" cy="365760"/>
          </a:xfrm>
          <a:prstGeom prst="roundRect">
            <a:avLst>
              <a:gd name="adj" fmla="val 20000"/>
            </a:avLst>
          </a:prstGeom>
          <a:solidFill>
            <a:srgbClr val="F4F7FA"/>
          </a:solidFill>
          <a:ln w="12700">
            <a:solidFill>
              <a:srgbClr val="F4F7FA"/>
            </a:solidFill>
            <a:prstDash val="solid"/>
          </a:ln>
        </p:spPr>
      </p:sp>
      <p:sp>
        <p:nvSpPr>
          <p:cNvPr id="30" name="Text 27"/>
          <p:cNvSpPr txBox="1"/>
          <p:nvPr/>
        </p:nvSpPr>
        <p:spPr>
          <a:xfrm>
            <a:off x="713232" y="5385816"/>
            <a:ext cx="3108960" cy="310896"/>
          </a:xfrm>
          <a:prstGeom prst="rect">
            <a:avLst/>
          </a:prstGeom>
          <a:noFill/>
          <a:ln/>
        </p:spPr>
        <p:txBody>
          <a:bodyPr wrap="square" lIns="0" tIns="0" rIns="0" bIns="0" rtlCol="0" anchor="ctr"/>
          <a:lstStyle/>
          <a:p>
            <a:pPr indent="0" marL="0">
              <a:buNone/>
            </a:pPr>
            <a:r>
              <a:rPr lang="en-US" sz="1200" dirty="0">
                <a:solidFill>
                  <a:srgbClr val="12202B"/>
                </a:solidFill>
                <a:latin typeface="Calibri" pitchFamily="34" charset="0"/>
                <a:ea typeface="Calibri" pitchFamily="34" charset="-122"/>
                <a:cs typeface="Calibri" pitchFamily="34" charset="-120"/>
              </a:rPr>
              <a:t>LGA → CLT</a:t>
            </a:r>
            <a:endParaRPr lang="en-US" sz="1200" dirty="0"/>
          </a:p>
        </p:txBody>
      </p:sp>
      <p:sp>
        <p:nvSpPr>
          <p:cNvPr id="31" name="Text 28"/>
          <p:cNvSpPr txBox="1"/>
          <p:nvPr/>
        </p:nvSpPr>
        <p:spPr>
          <a:xfrm>
            <a:off x="3858768" y="5385816"/>
            <a:ext cx="1828800" cy="310896"/>
          </a:xfrm>
          <a:prstGeom prst="rect">
            <a:avLst/>
          </a:prstGeom>
          <a:noFill/>
          <a:ln/>
        </p:spPr>
        <p:txBody>
          <a:bodyPr wrap="square" lIns="0" tIns="0" rIns="0" bIns="0" rtlCol="0" anchor="ctr"/>
          <a:lstStyle/>
          <a:p>
            <a:pPr algn="r" indent="0" marL="0">
              <a:buNone/>
            </a:pPr>
            <a:r>
              <a:rPr lang="en-US" sz="1200" b="1" dirty="0">
                <a:solidFill>
                  <a:srgbClr val="0B3C5D"/>
                </a:solidFill>
                <a:latin typeface="Calibri" pitchFamily="34" charset="0"/>
                <a:ea typeface="Calibri" pitchFamily="34" charset="-122"/>
                <a:cs typeface="Calibri" pitchFamily="34" charset="-120"/>
              </a:rPr>
              <a:t>4 486 vols</a:t>
            </a:r>
            <a:endParaRPr lang="en-US" sz="1200" dirty="0"/>
          </a:p>
        </p:txBody>
      </p:sp>
      <p:sp>
        <p:nvSpPr>
          <p:cNvPr id="32" name="Text 29"/>
          <p:cNvSpPr txBox="1"/>
          <p:nvPr/>
        </p:nvSpPr>
        <p:spPr>
          <a:xfrm>
            <a:off x="566928" y="5989320"/>
            <a:ext cx="11057839" cy="274320"/>
          </a:xfrm>
          <a:prstGeom prst="rect">
            <a:avLst/>
          </a:prstGeom>
          <a:noFill/>
          <a:ln/>
        </p:spPr>
        <p:txBody>
          <a:bodyPr wrap="square" lIns="0" tIns="0" rIns="0" bIns="0" rtlCol="0" anchor="ctr"/>
          <a:lstStyle/>
          <a:p>
            <a:pPr indent="0" marL="0">
              <a:buNone/>
            </a:pPr>
            <a:r>
              <a:rPr lang="en-US" sz="1000" i="1" dirty="0">
                <a:solidFill>
                  <a:srgbClr val="5A6B7B"/>
                </a:solidFill>
                <a:latin typeface="Calibri" pitchFamily="34" charset="0"/>
                <a:ea typeface="Calibri" pitchFamily="34" charset="-122"/>
                <a:cs typeface="Calibri" pitchFamily="34" charset="-120"/>
              </a:rPr>
              <a:t>Source : API /traffic/top-airports et /routes/top</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384048"/>
            <a:ext cx="7315200" cy="256032"/>
          </a:xfrm>
          <a:prstGeom prst="rect">
            <a:avLst/>
          </a:prstGeom>
          <a:noFill/>
          <a:ln/>
        </p:spPr>
        <p:txBody>
          <a:bodyPr wrap="square" lIns="0" tIns="0" rIns="0" bIns="0" rtlCol="0" anchor="ctr"/>
          <a:lstStyle/>
          <a:p>
            <a:pPr indent="0" marL="0">
              <a:buNone/>
            </a:pPr>
            <a:r>
              <a:rPr lang="en-US" sz="1200" b="1" spc="160" kern="0" dirty="0">
                <a:solidFill>
                  <a:srgbClr val="1D8AC1"/>
                </a:solidFill>
                <a:latin typeface="Calibri" pitchFamily="34" charset="0"/>
                <a:ea typeface="Calibri" pitchFamily="34" charset="-122"/>
                <a:cs typeface="Calibri" pitchFamily="34" charset="-120"/>
              </a:rPr>
              <a:t>RÉSULTAT 2 — CALENDRIER</a:t>
            </a:r>
            <a:endParaRPr lang="en-US" sz="1200" dirty="0"/>
          </a:p>
        </p:txBody>
      </p:sp>
      <p:sp>
        <p:nvSpPr>
          <p:cNvPr id="3" name="Text 1"/>
          <p:cNvSpPr txBox="1"/>
          <p:nvPr/>
        </p:nvSpPr>
        <p:spPr>
          <a:xfrm>
            <a:off x="566928" y="640080"/>
            <a:ext cx="11057839" cy="658368"/>
          </a:xfrm>
          <a:prstGeom prst="rect">
            <a:avLst/>
          </a:prstGeom>
          <a:noFill/>
          <a:ln/>
        </p:spPr>
        <p:txBody>
          <a:bodyPr wrap="square" lIns="0" tIns="0" rIns="0" bIns="0" rtlCol="0" anchor="ctr"/>
          <a:lstStyle/>
          <a:p>
            <a:pPr indent="0" marL="0">
              <a:buNone/>
            </a:pPr>
            <a:r>
              <a:rPr lang="en-US" sz="3200" b="1" dirty="0">
                <a:solidFill>
                  <a:srgbClr val="12202B"/>
                </a:solidFill>
                <a:latin typeface="Cambria" pitchFamily="34" charset="0"/>
                <a:ea typeface="Cambria" pitchFamily="34" charset="-122"/>
                <a:cs typeface="Cambria" pitchFamily="34" charset="-120"/>
              </a:rPr>
              <a:t>Un trafic très régulier, sauf le dimanche</a:t>
            </a:r>
            <a:endParaRPr lang="en-US" sz="3200" dirty="0"/>
          </a:p>
        </p:txBody>
      </p:sp>
      <p:pic>
        <p:nvPicPr>
          <p:cNvPr id="4" name="Image 0" descr="/Users/marcuslinguet/Downloads/trafic-aerien-adp/presentation/figures/02_trafic_journalier.png">    </p:cNvPr>
          <p:cNvPicPr>
            <a:picLocks noChangeAspect="1"/>
          </p:cNvPicPr>
          <p:nvPr/>
        </p:nvPicPr>
        <p:blipFill>
          <a:blip r:embed="rId1"/>
          <a:stretch>
            <a:fillRect/>
          </a:stretch>
        </p:blipFill>
        <p:spPr>
          <a:xfrm>
            <a:off x="566928" y="1417320"/>
            <a:ext cx="7589520" cy="4251960"/>
          </a:xfrm>
          <a:prstGeom prst="rect">
            <a:avLst/>
          </a:prstGeom>
        </p:spPr>
      </p:pic>
      <p:sp>
        <p:nvSpPr>
          <p:cNvPr id="5" name="Shape 2"/>
          <p:cNvSpPr/>
          <p:nvPr/>
        </p:nvSpPr>
        <p:spPr>
          <a:xfrm>
            <a:off x="8366760" y="1481328"/>
            <a:ext cx="3246120" cy="1298448"/>
          </a:xfrm>
          <a:prstGeom prst="roundRect">
            <a:avLst>
              <a:gd name="adj" fmla="val 5634"/>
            </a:avLst>
          </a:prstGeom>
          <a:solidFill>
            <a:srgbClr val="0B3C5D"/>
          </a:solidFill>
          <a:ln w="12700">
            <a:solidFill>
              <a:srgbClr val="0B3C5D"/>
            </a:solidFill>
            <a:prstDash val="solid"/>
          </a:ln>
          <a:effectLst>
            <a:outerShdw sx="100000" sy="100000" kx="0" ky="0" algn="bl" rotWithShape="0" blurRad="101600" dist="508" dir="5400000">
              <a:srgbClr val="9FB3C4">
                <a:alpha val="28000"/>
              </a:srgbClr>
            </a:outerShdw>
          </a:effectLst>
        </p:spPr>
      </p:sp>
      <p:sp>
        <p:nvSpPr>
          <p:cNvPr id="6" name="Text 3"/>
          <p:cNvSpPr txBox="1"/>
          <p:nvPr/>
        </p:nvSpPr>
        <p:spPr>
          <a:xfrm>
            <a:off x="8513064" y="1591056"/>
            <a:ext cx="2953512"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70,3 %</a:t>
            </a:r>
            <a:endParaRPr lang="en-US" sz="2600" dirty="0"/>
          </a:p>
        </p:txBody>
      </p:sp>
      <p:sp>
        <p:nvSpPr>
          <p:cNvPr id="7" name="Text 4"/>
          <p:cNvSpPr txBox="1"/>
          <p:nvPr/>
        </p:nvSpPr>
        <p:spPr>
          <a:xfrm>
            <a:off x="8513064" y="2157984"/>
            <a:ext cx="2953512" cy="512064"/>
          </a:xfrm>
          <a:prstGeom prst="rect">
            <a:avLst/>
          </a:prstGeom>
          <a:noFill/>
          <a:ln/>
        </p:spPr>
        <p:txBody>
          <a:bodyPr wrap="square" lIns="0" tIns="0" rIns="0" bIns="0" rtlCol="0" anchor="t"/>
          <a:lstStyle/>
          <a:p>
            <a:pPr indent="0" marL="0">
              <a:buNone/>
            </a:pPr>
            <a:r>
              <a:rPr lang="en-US" sz="1150" dirty="0">
                <a:solidFill>
                  <a:srgbClr val="CFE3F1"/>
                </a:solidFill>
                <a:latin typeface="Calibri" pitchFamily="34" charset="0"/>
                <a:ea typeface="Calibri" pitchFamily="34" charset="-122"/>
                <a:cs typeface="Calibri" pitchFamily="34" charset="-120"/>
              </a:rPr>
              <a:t>des vols ont lieu en semaine, contre 29,7 % le week-end</a:t>
            </a:r>
            <a:endParaRPr lang="en-US" sz="1150" dirty="0"/>
          </a:p>
        </p:txBody>
      </p:sp>
      <p:sp>
        <p:nvSpPr>
          <p:cNvPr id="8" name="Shape 5"/>
          <p:cNvSpPr/>
          <p:nvPr/>
        </p:nvSpPr>
        <p:spPr>
          <a:xfrm>
            <a:off x="8366760" y="2889504"/>
            <a:ext cx="3246120" cy="1298448"/>
          </a:xfrm>
          <a:prstGeom prst="roundRect">
            <a:avLst>
              <a:gd name="adj" fmla="val 5634"/>
            </a:avLst>
          </a:prstGeom>
          <a:solidFill>
            <a:srgbClr val="FBEDE9"/>
          </a:solidFill>
          <a:ln w="12700">
            <a:solidFill>
              <a:srgbClr val="FBEDE9"/>
            </a:solidFill>
            <a:prstDash val="solid"/>
          </a:ln>
          <a:effectLst>
            <a:outerShdw sx="100000" sy="100000" kx="0" ky="0" algn="bl" rotWithShape="0" blurRad="101600" dist="508" dir="5400000">
              <a:srgbClr val="9FB3C4">
                <a:alpha val="28000"/>
              </a:srgbClr>
            </a:outerShdw>
          </a:effectLst>
        </p:spPr>
      </p:sp>
      <p:sp>
        <p:nvSpPr>
          <p:cNvPr id="9" name="Text 6"/>
          <p:cNvSpPr txBox="1"/>
          <p:nvPr/>
        </p:nvSpPr>
        <p:spPr>
          <a:xfrm>
            <a:off x="8513064" y="2999232"/>
            <a:ext cx="2953512" cy="566928"/>
          </a:xfrm>
          <a:prstGeom prst="rect">
            <a:avLst/>
          </a:prstGeom>
          <a:noFill/>
          <a:ln/>
        </p:spPr>
        <p:txBody>
          <a:bodyPr wrap="square" lIns="0" tIns="0" rIns="0" bIns="0" rtlCol="0" anchor="ctr"/>
          <a:lstStyle/>
          <a:p>
            <a:pPr indent="0" marL="0">
              <a:buNone/>
            </a:pPr>
            <a:r>
              <a:rPr lang="en-US" sz="2600" b="1" dirty="0">
                <a:solidFill>
                  <a:srgbClr val="E4572E"/>
                </a:solidFill>
                <a:latin typeface="Cambria" pitchFamily="34" charset="0"/>
                <a:ea typeface="Cambria" pitchFamily="34" charset="-122"/>
                <a:cs typeface="Cambria" pitchFamily="34" charset="-120"/>
              </a:rPr>
              <a:t>276 j</a:t>
            </a:r>
            <a:endParaRPr lang="en-US" sz="2600" dirty="0"/>
          </a:p>
        </p:txBody>
      </p:sp>
      <p:sp>
        <p:nvSpPr>
          <p:cNvPr id="10" name="Text 7"/>
          <p:cNvSpPr txBox="1"/>
          <p:nvPr/>
        </p:nvSpPr>
        <p:spPr>
          <a:xfrm>
            <a:off x="8513064" y="3566160"/>
            <a:ext cx="2953512" cy="512064"/>
          </a:xfrm>
          <a:prstGeom prst="rect">
            <a:avLst/>
          </a:prstGeom>
          <a:noFill/>
          <a:ln/>
        </p:spPr>
        <p:txBody>
          <a:bodyPr wrap="square" lIns="0" tIns="0" rIns="0" bIns="0" rtlCol="0" anchor="t"/>
          <a:lstStyle/>
          <a:p>
            <a:pPr indent="0" marL="0">
              <a:buNone/>
            </a:pPr>
            <a:r>
              <a:rPr lang="en-US" sz="1150" dirty="0">
                <a:solidFill>
                  <a:srgbClr val="5A6B7B"/>
                </a:solidFill>
                <a:latin typeface="Calibri" pitchFamily="34" charset="0"/>
                <a:ea typeface="Calibri" pitchFamily="34" charset="-122"/>
                <a:cs typeface="Calibri" pitchFamily="34" charset="-120"/>
              </a:rPr>
              <a:t>de données sur 365 : juillet est tronqué au 3, août et septembre sont absents</a:t>
            </a:r>
            <a:endParaRPr lang="en-US" sz="1150" dirty="0"/>
          </a:p>
        </p:txBody>
      </p:sp>
      <p:sp>
        <p:nvSpPr>
          <p:cNvPr id="11" name="Shape 8"/>
          <p:cNvSpPr/>
          <p:nvPr/>
        </p:nvSpPr>
        <p:spPr>
          <a:xfrm>
            <a:off x="8366760" y="4297680"/>
            <a:ext cx="3246120" cy="1371600"/>
          </a:xfrm>
          <a:prstGeom prst="roundRect">
            <a:avLst>
              <a:gd name="adj" fmla="val 5333"/>
            </a:avLst>
          </a:prstGeom>
          <a:solidFill>
            <a:srgbClr val="E8F1F8"/>
          </a:solidFill>
          <a:ln w="12700">
            <a:solidFill>
              <a:srgbClr val="E8F1F8"/>
            </a:solidFill>
            <a:prstDash val="solid"/>
          </a:ln>
          <a:effectLst>
            <a:outerShdw sx="100000" sy="100000" kx="0" ky="0" algn="bl" rotWithShape="0" blurRad="101600" dist="508" dir="5400000">
              <a:srgbClr val="9FB3C4">
                <a:alpha val="28000"/>
              </a:srgbClr>
            </a:outerShdw>
          </a:effectLst>
        </p:spPr>
      </p:sp>
      <p:sp>
        <p:nvSpPr>
          <p:cNvPr id="12" name="Text 9"/>
          <p:cNvSpPr txBox="1"/>
          <p:nvPr/>
        </p:nvSpPr>
        <p:spPr>
          <a:xfrm>
            <a:off x="8513064" y="4407408"/>
            <a:ext cx="2953512" cy="566928"/>
          </a:xfrm>
          <a:prstGeom prst="rect">
            <a:avLst/>
          </a:prstGeom>
          <a:noFill/>
          <a:ln/>
        </p:spPr>
        <p:txBody>
          <a:bodyPr wrap="square" lIns="0" tIns="0" rIns="0" bIns="0" rtlCol="0" anchor="ctr"/>
          <a:lstStyle/>
          <a:p>
            <a:pPr indent="0" marL="0">
              <a:buNone/>
            </a:pPr>
            <a:r>
              <a:rPr lang="en-US" sz="2600" b="1" dirty="0">
                <a:solidFill>
                  <a:srgbClr val="0B3C5D"/>
                </a:solidFill>
                <a:latin typeface="Cambria" pitchFamily="34" charset="0"/>
                <a:ea typeface="Cambria" pitchFamily="34" charset="-122"/>
                <a:cs typeface="Cambria" pitchFamily="34" charset="-120"/>
              </a:rPr>
              <a:t>≈ 915</a:t>
            </a:r>
            <a:endParaRPr lang="en-US" sz="2600" dirty="0"/>
          </a:p>
        </p:txBody>
      </p:sp>
      <p:sp>
        <p:nvSpPr>
          <p:cNvPr id="13" name="Text 10"/>
          <p:cNvSpPr txBox="1"/>
          <p:nvPr/>
        </p:nvSpPr>
        <p:spPr>
          <a:xfrm>
            <a:off x="8513064" y="4974336"/>
            <a:ext cx="2953512" cy="585216"/>
          </a:xfrm>
          <a:prstGeom prst="rect">
            <a:avLst/>
          </a:prstGeom>
          <a:noFill/>
          <a:ln/>
        </p:spPr>
        <p:txBody>
          <a:bodyPr wrap="square" lIns="0" tIns="0" rIns="0" bIns="0" rtlCol="0" anchor="t"/>
          <a:lstStyle/>
          <a:p>
            <a:pPr indent="0" marL="0">
              <a:buNone/>
            </a:pPr>
            <a:r>
              <a:rPr lang="en-US" sz="1150" dirty="0">
                <a:solidFill>
                  <a:srgbClr val="5A6B7B"/>
                </a:solidFill>
                <a:latin typeface="Calibri" pitchFamily="34" charset="0"/>
                <a:ea typeface="Calibri" pitchFamily="34" charset="-122"/>
                <a:cs typeface="Calibri" pitchFamily="34" charset="-120"/>
              </a:rPr>
              <a:t>vols par jour en moyenne, avec un creux hebdomadaire net le dimanche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384048"/>
            <a:ext cx="7315200" cy="256032"/>
          </a:xfrm>
          <a:prstGeom prst="rect">
            <a:avLst/>
          </a:prstGeom>
          <a:noFill/>
          <a:ln/>
        </p:spPr>
        <p:txBody>
          <a:bodyPr wrap="square" lIns="0" tIns="0" rIns="0" bIns="0" rtlCol="0" anchor="ctr"/>
          <a:lstStyle/>
          <a:p>
            <a:pPr indent="0" marL="0">
              <a:buNone/>
            </a:pPr>
            <a:r>
              <a:rPr lang="en-US" sz="1200" b="1" spc="160" kern="0" dirty="0">
                <a:solidFill>
                  <a:srgbClr val="1D8AC1"/>
                </a:solidFill>
                <a:latin typeface="Calibri" pitchFamily="34" charset="0"/>
                <a:ea typeface="Calibri" pitchFamily="34" charset="-122"/>
                <a:cs typeface="Calibri" pitchFamily="34" charset="-120"/>
              </a:rPr>
              <a:t>RÉSULTAT 3 — RETARDS</a:t>
            </a:r>
            <a:endParaRPr lang="en-US" sz="1200" dirty="0"/>
          </a:p>
        </p:txBody>
      </p:sp>
      <p:sp>
        <p:nvSpPr>
          <p:cNvPr id="3" name="Text 1"/>
          <p:cNvSpPr txBox="1"/>
          <p:nvPr/>
        </p:nvSpPr>
        <p:spPr>
          <a:xfrm>
            <a:off x="566928" y="640080"/>
            <a:ext cx="11057839" cy="658368"/>
          </a:xfrm>
          <a:prstGeom prst="rect">
            <a:avLst/>
          </a:prstGeom>
          <a:noFill/>
          <a:ln/>
        </p:spPr>
        <p:txBody>
          <a:bodyPr wrap="square" lIns="0" tIns="0" rIns="0" bIns="0" rtlCol="0" anchor="ctr"/>
          <a:lstStyle/>
          <a:p>
            <a:pPr indent="0" marL="0">
              <a:buNone/>
            </a:pPr>
            <a:r>
              <a:rPr lang="en-US" sz="3200" b="1" dirty="0">
                <a:solidFill>
                  <a:srgbClr val="12202B"/>
                </a:solidFill>
                <a:latin typeface="Cambria" pitchFamily="34" charset="0"/>
                <a:ea typeface="Cambria" pitchFamily="34" charset="-122"/>
                <a:cs typeface="Cambria" pitchFamily="34" charset="-120"/>
              </a:rPr>
              <a:t>Le retard n'est pas subi, il s'accumule</a:t>
            </a:r>
            <a:endParaRPr lang="en-US" sz="3200" dirty="0"/>
          </a:p>
        </p:txBody>
      </p:sp>
      <p:pic>
        <p:nvPicPr>
          <p:cNvPr id="4" name="Image 0" descr="/Users/marcuslinguet/Downloads/trafic-aerien-adp/presentation/figures/01_retard_par_heure.png">    </p:cNvPr>
          <p:cNvPicPr>
            <a:picLocks noChangeAspect="1"/>
          </p:cNvPicPr>
          <p:nvPr/>
        </p:nvPicPr>
        <p:blipFill>
          <a:blip r:embed="rId1"/>
          <a:stretch>
            <a:fillRect/>
          </a:stretch>
        </p:blipFill>
        <p:spPr>
          <a:xfrm>
            <a:off x="566928" y="1371600"/>
            <a:ext cx="7726680" cy="4325112"/>
          </a:xfrm>
          <a:prstGeom prst="rect">
            <a:avLst/>
          </a:prstGeom>
        </p:spPr>
      </p:pic>
      <p:sp>
        <p:nvSpPr>
          <p:cNvPr id="5" name="Shape 2"/>
          <p:cNvSpPr/>
          <p:nvPr/>
        </p:nvSpPr>
        <p:spPr>
          <a:xfrm>
            <a:off x="8503920" y="1417320"/>
            <a:ext cx="3108960" cy="1874520"/>
          </a:xfrm>
          <a:prstGeom prst="roundRect">
            <a:avLst>
              <a:gd name="adj" fmla="val 3902"/>
            </a:avLst>
          </a:prstGeom>
          <a:solidFill>
            <a:srgbClr val="0B3C5D"/>
          </a:solidFill>
          <a:ln w="12700">
            <a:solidFill>
              <a:srgbClr val="0B3C5D"/>
            </a:solidFill>
            <a:prstDash val="solid"/>
          </a:ln>
          <a:effectLst>
            <a:outerShdw sx="100000" sy="100000" kx="0" ky="0" algn="bl" rotWithShape="0" blurRad="101600" dist="508" dir="5400000">
              <a:srgbClr val="9FB3C4">
                <a:alpha val="28000"/>
              </a:srgbClr>
            </a:outerShdw>
          </a:effectLst>
        </p:spPr>
      </p:sp>
      <p:sp>
        <p:nvSpPr>
          <p:cNvPr id="6" name="Text 3"/>
          <p:cNvSpPr txBox="1"/>
          <p:nvPr/>
        </p:nvSpPr>
        <p:spPr>
          <a:xfrm>
            <a:off x="8686800" y="1554480"/>
            <a:ext cx="2743200" cy="566928"/>
          </a:xfrm>
          <a:prstGeom prst="rect">
            <a:avLst/>
          </a:prstGeom>
          <a:noFill/>
          <a:ln/>
        </p:spPr>
        <p:txBody>
          <a:bodyPr wrap="square" lIns="0" tIns="0" rIns="0" bIns="0" rtlCol="0" anchor="ctr"/>
          <a:lstStyle/>
          <a:p>
            <a:pPr indent="0" marL="0">
              <a:buNone/>
            </a:pPr>
            <a:r>
              <a:rPr lang="en-US" sz="3000" b="1" dirty="0">
                <a:solidFill>
                  <a:srgbClr val="E8A33D"/>
                </a:solidFill>
                <a:latin typeface="Cambria" pitchFamily="34" charset="0"/>
                <a:ea typeface="Cambria" pitchFamily="34" charset="-122"/>
                <a:cs typeface="Cambria" pitchFamily="34" charset="-120"/>
              </a:rPr>
              <a:t>× 30</a:t>
            </a:r>
            <a:endParaRPr lang="en-US" sz="3000" dirty="0"/>
          </a:p>
        </p:txBody>
      </p:sp>
      <p:sp>
        <p:nvSpPr>
          <p:cNvPr id="7" name="Text 4"/>
          <p:cNvSpPr txBox="1"/>
          <p:nvPr/>
        </p:nvSpPr>
        <p:spPr>
          <a:xfrm>
            <a:off x="8686800" y="2148840"/>
            <a:ext cx="2743200" cy="1051560"/>
          </a:xfrm>
          <a:prstGeom prst="rect">
            <a:avLst/>
          </a:prstGeom>
          <a:noFill/>
          <a:ln/>
        </p:spPr>
        <p:txBody>
          <a:bodyPr wrap="square" lIns="0" tIns="0" rIns="0" bIns="0" rtlCol="0" anchor="t"/>
          <a:lstStyle/>
          <a:p>
            <a:pPr indent="0" marL="0">
              <a:lnSpc>
                <a:spcPts val="1500"/>
              </a:lnSpc>
              <a:buNone/>
            </a:pPr>
            <a:r>
              <a:rPr lang="en-US" sz="1150" dirty="0">
                <a:solidFill>
                  <a:srgbClr val="CFE3F1"/>
                </a:solidFill>
                <a:latin typeface="Calibri" pitchFamily="34" charset="0"/>
                <a:ea typeface="Calibri" pitchFamily="34" charset="-122"/>
                <a:cs typeface="Calibri" pitchFamily="34" charset="-120"/>
              </a:rPr>
              <a:t>Entre un décollage à 5 h (0,8 min de retard moyen) et un décollage à 19 h (24 min), le retard moyen est multiplié par trente.</a:t>
            </a:r>
            <a:endParaRPr lang="en-US" sz="1150" dirty="0"/>
          </a:p>
        </p:txBody>
      </p:sp>
      <p:sp>
        <p:nvSpPr>
          <p:cNvPr id="8" name="Text 5"/>
          <p:cNvSpPr txBox="1"/>
          <p:nvPr/>
        </p:nvSpPr>
        <p:spPr>
          <a:xfrm>
            <a:off x="8503920" y="3474720"/>
            <a:ext cx="3108960" cy="2194560"/>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200" dirty="0">
                <a:solidFill>
                  <a:srgbClr val="12202B"/>
                </a:solidFill>
                <a:latin typeface="Calibri" pitchFamily="34" charset="0"/>
                <a:ea typeface="Calibri" pitchFamily="34" charset="-122"/>
                <a:cs typeface="Calibri" pitchFamily="34" charset="-120"/>
              </a:rPr>
              <a:t>39,1 % des départs partent en retard</a:t>
            </a:r>
            <a:endParaRPr lang="en-US" sz="1200" dirty="0"/>
          </a:p>
          <a:p>
            <a:pPr marL="342900" indent="-342900">
              <a:lnSpc>
                <a:spcPts val="1800"/>
              </a:lnSpc>
              <a:spcAft>
                <a:spcPts val="700"/>
              </a:spcAft>
              <a:buSzPct val="100000"/>
              <a:buChar char="•"/>
            </a:pPr>
            <a:r>
              <a:rPr lang="en-US" sz="1200" dirty="0">
                <a:solidFill>
                  <a:srgbClr val="12202B"/>
                </a:solidFill>
                <a:latin typeface="Calibri" pitchFamily="34" charset="0"/>
                <a:ea typeface="Calibri" pitchFamily="34" charset="-122"/>
                <a:cs typeface="Calibri" pitchFamily="34" charset="-120"/>
              </a:rPr>
              <a:t>12,4 min de retard moyen au départ</a:t>
            </a:r>
            <a:endParaRPr lang="en-US" sz="1200" dirty="0"/>
          </a:p>
          <a:p>
            <a:pPr marL="342900" indent="-342900">
              <a:lnSpc>
                <a:spcPts val="1800"/>
              </a:lnSpc>
              <a:spcAft>
                <a:spcPts val="700"/>
              </a:spcAft>
              <a:buSzPct val="100000"/>
              <a:buChar char="•"/>
            </a:pPr>
            <a:r>
              <a:rPr lang="en-US" sz="1200" dirty="0">
                <a:solidFill>
                  <a:srgbClr val="12202B"/>
                </a:solidFill>
                <a:latin typeface="Calibri" pitchFamily="34" charset="0"/>
                <a:ea typeface="Calibri" pitchFamily="34" charset="-122"/>
                <a:cs typeface="Calibri" pitchFamily="34" charset="-120"/>
              </a:rPr>
              <a:t>7,3 min seulement à l'arrivée : une partie se rattrape en vol</a:t>
            </a:r>
            <a:endParaRPr lang="en-US" sz="1200" dirty="0"/>
          </a:p>
          <a:p>
            <a:pPr marL="342900" indent="-342900">
              <a:lnSpc>
                <a:spcPts val="1800"/>
              </a:lnSpc>
              <a:spcAft>
                <a:spcPts val="700"/>
              </a:spcAft>
              <a:buSzPct val="100000"/>
              <a:buChar char="•"/>
            </a:pPr>
            <a:r>
              <a:rPr lang="en-US" sz="1200" dirty="0">
                <a:solidFill>
                  <a:srgbClr val="12202B"/>
                </a:solidFill>
                <a:latin typeface="Calibri" pitchFamily="34" charset="0"/>
                <a:ea typeface="Calibri" pitchFamily="34" charset="-122"/>
                <a:cs typeface="Calibri" pitchFamily="34" charset="-120"/>
              </a:rPr>
              <a:t>Record : 1 301 min, un JFK → Honolulu</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384048"/>
            <a:ext cx="7315200" cy="256032"/>
          </a:xfrm>
          <a:prstGeom prst="rect">
            <a:avLst/>
          </a:prstGeom>
          <a:noFill/>
          <a:ln/>
        </p:spPr>
        <p:txBody>
          <a:bodyPr wrap="square" lIns="0" tIns="0" rIns="0" bIns="0" rtlCol="0" anchor="ctr"/>
          <a:lstStyle/>
          <a:p>
            <a:pPr indent="0" marL="0">
              <a:buNone/>
            </a:pPr>
            <a:r>
              <a:rPr lang="en-US" sz="1200" b="1" spc="160" kern="0" dirty="0">
                <a:solidFill>
                  <a:srgbClr val="1D8AC1"/>
                </a:solidFill>
                <a:latin typeface="Calibri" pitchFamily="34" charset="0"/>
                <a:ea typeface="Calibri" pitchFamily="34" charset="-122"/>
                <a:cs typeface="Calibri" pitchFamily="34" charset="-120"/>
              </a:rPr>
              <a:t>RÉSULTAT 4 — COMPAGNIES</a:t>
            </a:r>
            <a:endParaRPr lang="en-US" sz="1200" dirty="0"/>
          </a:p>
        </p:txBody>
      </p:sp>
      <p:sp>
        <p:nvSpPr>
          <p:cNvPr id="3" name="Text 1"/>
          <p:cNvSpPr txBox="1"/>
          <p:nvPr/>
        </p:nvSpPr>
        <p:spPr>
          <a:xfrm>
            <a:off x="566928" y="640080"/>
            <a:ext cx="11057839" cy="658368"/>
          </a:xfrm>
          <a:prstGeom prst="rect">
            <a:avLst/>
          </a:prstGeom>
          <a:noFill/>
          <a:ln/>
        </p:spPr>
        <p:txBody>
          <a:bodyPr wrap="square" lIns="0" tIns="0" rIns="0" bIns="0" rtlCol="0" anchor="ctr"/>
          <a:lstStyle/>
          <a:p>
            <a:pPr indent="0" marL="0">
              <a:buNone/>
            </a:pPr>
            <a:r>
              <a:rPr lang="en-US" sz="3200" b="1" dirty="0">
                <a:solidFill>
                  <a:srgbClr val="12202B"/>
                </a:solidFill>
                <a:latin typeface="Cambria" pitchFamily="34" charset="0"/>
                <a:ea typeface="Cambria" pitchFamily="34" charset="-122"/>
                <a:cs typeface="Cambria" pitchFamily="34" charset="-120"/>
              </a:rPr>
              <a:t>De 24 % à 59 % de vols en retard selon la compagnie</a:t>
            </a:r>
            <a:endParaRPr lang="en-US" sz="3200" dirty="0"/>
          </a:p>
        </p:txBody>
      </p:sp>
      <p:pic>
        <p:nvPicPr>
          <p:cNvPr id="4" name="Image 0" descr="/Users/marcuslinguet/Downloads/trafic-aerien-adp/presentation/figures/03_fiabilite_compagnies.png">    </p:cNvPr>
          <p:cNvPicPr>
            <a:picLocks noChangeAspect="1"/>
          </p:cNvPicPr>
          <p:nvPr/>
        </p:nvPicPr>
        <p:blipFill>
          <a:blip r:embed="rId1"/>
          <a:stretch>
            <a:fillRect/>
          </a:stretch>
        </p:blipFill>
        <p:spPr>
          <a:xfrm>
            <a:off x="566928" y="1371600"/>
            <a:ext cx="6949440" cy="4443984"/>
          </a:xfrm>
          <a:prstGeom prst="rect">
            <a:avLst/>
          </a:prstGeom>
        </p:spPr>
      </p:pic>
      <p:sp>
        <p:nvSpPr>
          <p:cNvPr id="5" name="Shape 2"/>
          <p:cNvSpPr/>
          <p:nvPr/>
        </p:nvSpPr>
        <p:spPr>
          <a:xfrm>
            <a:off x="7680960" y="1417320"/>
            <a:ext cx="3931920" cy="1417320"/>
          </a:xfrm>
          <a:prstGeom prst="roundRect">
            <a:avLst>
              <a:gd name="adj" fmla="val 5161"/>
            </a:avLst>
          </a:prstGeom>
          <a:solidFill>
            <a:srgbClr val="FBEDE9"/>
          </a:solidFill>
          <a:ln w="12700">
            <a:solidFill>
              <a:srgbClr val="F3D3C9"/>
            </a:solidFill>
            <a:prstDash val="solid"/>
          </a:ln>
          <a:effectLst>
            <a:outerShdw sx="100000" sy="100000" kx="0" ky="0" algn="bl" rotWithShape="0" blurRad="101600" dist="508" dir="5400000">
              <a:srgbClr val="9FB3C4">
                <a:alpha val="28000"/>
              </a:srgbClr>
            </a:outerShdw>
          </a:effectLst>
        </p:spPr>
      </p:sp>
      <p:sp>
        <p:nvSpPr>
          <p:cNvPr id="6" name="Text 3"/>
          <p:cNvSpPr txBox="1"/>
          <p:nvPr/>
        </p:nvSpPr>
        <p:spPr>
          <a:xfrm>
            <a:off x="7863840" y="1536192"/>
            <a:ext cx="3566160" cy="274320"/>
          </a:xfrm>
          <a:prstGeom prst="rect">
            <a:avLst/>
          </a:prstGeom>
          <a:noFill/>
          <a:ln/>
        </p:spPr>
        <p:txBody>
          <a:bodyPr wrap="square" lIns="0" tIns="0" rIns="0" bIns="0" rtlCol="0" anchor="ctr"/>
          <a:lstStyle/>
          <a:p>
            <a:pPr indent="0" marL="0">
              <a:buNone/>
            </a:pPr>
            <a:r>
              <a:rPr lang="en-US" sz="1100" b="1" dirty="0">
                <a:solidFill>
                  <a:srgbClr val="E4572E"/>
                </a:solidFill>
                <a:latin typeface="Calibri" pitchFamily="34" charset="0"/>
                <a:ea typeface="Calibri" pitchFamily="34" charset="-122"/>
                <a:cs typeface="Calibri" pitchFamily="34" charset="-120"/>
              </a:rPr>
              <a:t>Les deux extrêmes</a:t>
            </a:r>
            <a:endParaRPr lang="en-US" sz="1100" dirty="0"/>
          </a:p>
        </p:txBody>
      </p:sp>
      <p:sp>
        <p:nvSpPr>
          <p:cNvPr id="7" name="Text 4"/>
          <p:cNvSpPr txBox="1"/>
          <p:nvPr/>
        </p:nvSpPr>
        <p:spPr>
          <a:xfrm>
            <a:off x="7863840" y="1847088"/>
            <a:ext cx="3566160" cy="914400"/>
          </a:xfrm>
          <a:prstGeom prst="rect">
            <a:avLst/>
          </a:prstGeom>
          <a:noFill/>
          <a:ln/>
        </p:spPr>
        <p:txBody>
          <a:bodyPr wrap="square" lIns="0" tIns="0" rIns="0" bIns="0" rtlCol="0" anchor="t"/>
          <a:lstStyle/>
          <a:p>
            <a:pPr indent="0" marL="0">
              <a:lnSpc>
                <a:spcPts val="1800"/>
              </a:lnSpc>
              <a:buNone/>
            </a:pPr>
            <a:r>
              <a:rPr lang="en-US" sz="1300" b="1" dirty="0">
                <a:solidFill>
                  <a:srgbClr val="12202B"/>
                </a:solidFill>
                <a:latin typeface="Calibri" pitchFamily="34" charset="0"/>
                <a:ea typeface="Calibri" pitchFamily="34" charset="-122"/>
                <a:cs typeface="Calibri" pitchFamily="34" charset="-120"/>
              </a:rPr>
              <a:t>FL — AirTran   59,2 %</a:t>
            </a:r>
            <a:endParaRPr lang="en-US" sz="1300" dirty="0"/>
          </a:p>
          <a:p>
            <a:pPr indent="0" marL="0">
              <a:lnSpc>
                <a:spcPts val="1800"/>
              </a:lnSpc>
              <a:buNone/>
            </a:pPr>
            <a:r>
              <a:rPr lang="en-US" sz="1300" b="1" dirty="0">
                <a:solidFill>
                  <a:srgbClr val="12202B"/>
                </a:solidFill>
                <a:latin typeface="Calibri" pitchFamily="34" charset="0"/>
                <a:ea typeface="Calibri" pitchFamily="34" charset="-122"/>
                <a:cs typeface="Calibri" pitchFamily="34" charset="-120"/>
              </a:rPr>
              <a:t>HA — Hawaiian   24,4 %</a:t>
            </a:r>
            <a:endParaRPr lang="en-US" sz="1300" dirty="0"/>
          </a:p>
          <a:p>
            <a:pPr indent="0" marL="0">
              <a:lnSpc>
                <a:spcPts val="1800"/>
              </a:lnSpc>
              <a:buNone/>
            </a:pPr>
            <a:r>
              <a:rPr lang="en-US" sz="1050" dirty="0">
                <a:solidFill>
                  <a:srgbClr val="5A6B7B"/>
                </a:solidFill>
                <a:latin typeface="Calibri" pitchFamily="34" charset="0"/>
                <a:ea typeface="Calibri" pitchFamily="34" charset="-122"/>
                <a:cs typeface="Calibri" pitchFamily="34" charset="-120"/>
              </a:rPr>
              <a:t>Soit 34,8 points d'écart — mais sur 2 438 et 258 vols seulement.</a:t>
            </a:r>
            <a:endParaRPr lang="en-US" sz="1300" dirty="0"/>
          </a:p>
        </p:txBody>
      </p:sp>
      <p:sp>
        <p:nvSpPr>
          <p:cNvPr id="8" name="Shape 5"/>
          <p:cNvSpPr/>
          <p:nvPr/>
        </p:nvSpPr>
        <p:spPr>
          <a:xfrm>
            <a:off x="7680960" y="2971800"/>
            <a:ext cx="3931920" cy="1600200"/>
          </a:xfrm>
          <a:prstGeom prst="roundRect">
            <a:avLst>
              <a:gd name="adj" fmla="val 4571"/>
            </a:avLst>
          </a:prstGeom>
          <a:solidFill>
            <a:srgbClr val="EAF6F0"/>
          </a:solidFill>
          <a:ln w="12700">
            <a:solidFill>
              <a:srgbClr val="CDE8DC"/>
            </a:solidFill>
            <a:prstDash val="solid"/>
          </a:ln>
          <a:effectLst>
            <a:outerShdw sx="100000" sy="100000" kx="0" ky="0" algn="bl" rotWithShape="0" blurRad="101600" dist="508" dir="5400000">
              <a:srgbClr val="9FB3C4">
                <a:alpha val="28000"/>
              </a:srgbClr>
            </a:outerShdw>
          </a:effectLst>
        </p:spPr>
      </p:sp>
      <p:sp>
        <p:nvSpPr>
          <p:cNvPr id="9" name="Text 6"/>
          <p:cNvSpPr txBox="1"/>
          <p:nvPr/>
        </p:nvSpPr>
        <p:spPr>
          <a:xfrm>
            <a:off x="7863840" y="3090672"/>
            <a:ext cx="3566160" cy="274320"/>
          </a:xfrm>
          <a:prstGeom prst="rect">
            <a:avLst/>
          </a:prstGeom>
          <a:noFill/>
          <a:ln/>
        </p:spPr>
        <p:txBody>
          <a:bodyPr wrap="square" lIns="0" tIns="0" rIns="0" bIns="0" rtlCol="0" anchor="ctr"/>
          <a:lstStyle/>
          <a:p>
            <a:pPr indent="0" marL="0">
              <a:buNone/>
            </a:pPr>
            <a:r>
              <a:rPr lang="en-US" sz="1100" b="1" dirty="0">
                <a:solidFill>
                  <a:srgbClr val="2E9E6B"/>
                </a:solidFill>
                <a:latin typeface="Calibri" pitchFamily="34" charset="0"/>
                <a:ea typeface="Calibri" pitchFamily="34" charset="-122"/>
                <a:cs typeface="Calibri" pitchFamily="34" charset="-120"/>
              </a:rPr>
              <a:t>À effectifs comparables</a:t>
            </a:r>
            <a:endParaRPr lang="en-US" sz="1100" dirty="0"/>
          </a:p>
        </p:txBody>
      </p:sp>
      <p:sp>
        <p:nvSpPr>
          <p:cNvPr id="10" name="Text 7"/>
          <p:cNvSpPr txBox="1"/>
          <p:nvPr/>
        </p:nvSpPr>
        <p:spPr>
          <a:xfrm>
            <a:off x="7863840" y="3401568"/>
            <a:ext cx="3566160" cy="1051560"/>
          </a:xfrm>
          <a:prstGeom prst="rect">
            <a:avLst/>
          </a:prstGeom>
          <a:noFill/>
          <a:ln/>
        </p:spPr>
        <p:txBody>
          <a:bodyPr wrap="square" lIns="0" tIns="0" rIns="0" bIns="0" rtlCol="0" anchor="t"/>
          <a:lstStyle/>
          <a:p>
            <a:pPr indent="0" marL="0">
              <a:lnSpc>
                <a:spcPts val="1800"/>
              </a:lnSpc>
              <a:buNone/>
            </a:pPr>
            <a:r>
              <a:rPr lang="en-US" sz="1100" dirty="0">
                <a:solidFill>
                  <a:srgbClr val="5A6B7B"/>
                </a:solidFill>
                <a:latin typeface="Calibri" pitchFamily="34" charset="0"/>
                <a:ea typeface="Calibri" pitchFamily="34" charset="-122"/>
                <a:cs typeface="Calibri" pitchFamily="34" charset="-120"/>
              </a:rPr>
              <a:t>Parmi les compagnies dépassant 10 000 vols :</a:t>
            </a:r>
            <a:endParaRPr lang="en-US" sz="1250" dirty="0"/>
          </a:p>
          <a:p>
            <a:pPr indent="0" marL="0">
              <a:lnSpc>
                <a:spcPts val="1800"/>
              </a:lnSpc>
              <a:buNone/>
            </a:pPr>
            <a:r>
              <a:rPr lang="en-US" sz="1250" b="1" dirty="0">
                <a:solidFill>
                  <a:srgbClr val="12202B"/>
                </a:solidFill>
                <a:latin typeface="Calibri" pitchFamily="34" charset="0"/>
                <a:ea typeface="Calibri" pitchFamily="34" charset="-122"/>
                <a:cs typeface="Calibri" pitchFamily="34" charset="-120"/>
              </a:rPr>
              <a:t>DL — Delta   34,4 %</a:t>
            </a:r>
            <a:endParaRPr lang="en-US" sz="1250" dirty="0"/>
          </a:p>
          <a:p>
            <a:pPr indent="0" marL="0">
              <a:lnSpc>
                <a:spcPts val="1800"/>
              </a:lnSpc>
              <a:buNone/>
            </a:pPr>
            <a:r>
              <a:rPr lang="en-US" sz="1250" b="1" dirty="0">
                <a:solidFill>
                  <a:srgbClr val="12202B"/>
                </a:solidFill>
                <a:latin typeface="Calibri" pitchFamily="34" charset="0"/>
                <a:ea typeface="Calibri" pitchFamily="34" charset="-122"/>
                <a:cs typeface="Calibri" pitchFamily="34" charset="-120"/>
              </a:rPr>
              <a:t>EV — ExpressJet   51,0 %</a:t>
            </a:r>
            <a:endParaRPr lang="en-US" sz="1250" dirty="0"/>
          </a:p>
        </p:txBody>
      </p:sp>
      <p:sp>
        <p:nvSpPr>
          <p:cNvPr id="11" name="Text 8"/>
          <p:cNvSpPr txBox="1"/>
          <p:nvPr/>
        </p:nvSpPr>
        <p:spPr>
          <a:xfrm>
            <a:off x="7680960" y="4736592"/>
            <a:ext cx="3931920" cy="274320"/>
          </a:xfrm>
          <a:prstGeom prst="rect">
            <a:avLst/>
          </a:prstGeom>
          <a:noFill/>
          <a:ln/>
        </p:spPr>
        <p:txBody>
          <a:bodyPr wrap="square" lIns="0" tIns="0" rIns="0" bIns="0" rtlCol="0" anchor="ctr"/>
          <a:lstStyle/>
          <a:p>
            <a:pPr indent="0" marL="0">
              <a:buNone/>
            </a:pPr>
            <a:r>
              <a:rPr lang="en-US" sz="1400" b="1" dirty="0">
                <a:solidFill>
                  <a:srgbClr val="12202B"/>
                </a:solidFill>
                <a:latin typeface="Cambria" pitchFamily="34" charset="0"/>
                <a:ea typeface="Cambria" pitchFamily="34" charset="-122"/>
                <a:cs typeface="Cambria" pitchFamily="34" charset="-120"/>
              </a:rPr>
              <a:t>Et par aéroport de départ</a:t>
            </a:r>
            <a:endParaRPr lang="en-US" sz="1400" dirty="0"/>
          </a:p>
        </p:txBody>
      </p:sp>
      <p:sp>
        <p:nvSpPr>
          <p:cNvPr id="12" name="Text 9"/>
          <p:cNvSpPr txBox="1"/>
          <p:nvPr/>
        </p:nvSpPr>
        <p:spPr>
          <a:xfrm>
            <a:off x="7680960" y="5029200"/>
            <a:ext cx="3931920" cy="822960"/>
          </a:xfrm>
          <a:prstGeom prst="rect">
            <a:avLst/>
          </a:prstGeom>
          <a:noFill/>
          <a:ln/>
        </p:spPr>
        <p:txBody>
          <a:bodyPr wrap="square" lIns="0" tIns="0" rIns="0" bIns="0" rtlCol="0" anchor="t"/>
          <a:lstStyle/>
          <a:p>
            <a:pPr indent="0" marL="0">
              <a:lnSpc>
                <a:spcPts val="1600"/>
              </a:lnSpc>
              <a:buNone/>
            </a:pPr>
            <a:r>
              <a:rPr lang="en-US" sz="1200" dirty="0">
                <a:solidFill>
                  <a:srgbClr val="5A6B7B"/>
                </a:solidFill>
                <a:latin typeface="Calibri" pitchFamily="34" charset="0"/>
                <a:ea typeface="Calibri" pitchFamily="34" charset="-122"/>
                <a:cs typeface="Calibri" pitchFamily="34" charset="-120"/>
              </a:rPr>
              <a:t>EWR est le plus pénalisé (15,4 min de retard moyen au départ), devant JFK (11,4 min) et LGA (9,9 min).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384048"/>
            <a:ext cx="7315200" cy="256032"/>
          </a:xfrm>
          <a:prstGeom prst="rect">
            <a:avLst/>
          </a:prstGeom>
          <a:noFill/>
          <a:ln/>
        </p:spPr>
        <p:txBody>
          <a:bodyPr wrap="square" lIns="0" tIns="0" rIns="0" bIns="0" rtlCol="0" anchor="ctr"/>
          <a:lstStyle/>
          <a:p>
            <a:pPr indent="0" marL="0">
              <a:buNone/>
            </a:pPr>
            <a:r>
              <a:rPr lang="en-US" sz="1200" b="1" spc="160" kern="0" dirty="0">
                <a:solidFill>
                  <a:srgbClr val="1D8AC1"/>
                </a:solidFill>
                <a:latin typeface="Calibri" pitchFamily="34" charset="0"/>
                <a:ea typeface="Calibri" pitchFamily="34" charset="-122"/>
                <a:cs typeface="Calibri" pitchFamily="34" charset="-120"/>
              </a:rPr>
              <a:t>RÉSULTAT 5 — DISTANCE</a:t>
            </a:r>
            <a:endParaRPr lang="en-US" sz="1200" dirty="0"/>
          </a:p>
        </p:txBody>
      </p:sp>
      <p:sp>
        <p:nvSpPr>
          <p:cNvPr id="3" name="Text 1"/>
          <p:cNvSpPr txBox="1"/>
          <p:nvPr/>
        </p:nvSpPr>
        <p:spPr>
          <a:xfrm>
            <a:off x="566928" y="640080"/>
            <a:ext cx="11057839" cy="658368"/>
          </a:xfrm>
          <a:prstGeom prst="rect">
            <a:avLst/>
          </a:prstGeom>
          <a:noFill/>
          <a:ln/>
        </p:spPr>
        <p:txBody>
          <a:bodyPr wrap="square" lIns="0" tIns="0" rIns="0" bIns="0" rtlCol="0" anchor="ctr"/>
          <a:lstStyle/>
          <a:p>
            <a:pPr indent="0" marL="0">
              <a:buNone/>
            </a:pPr>
            <a:r>
              <a:rPr lang="en-US" sz="3200" b="1" dirty="0">
                <a:solidFill>
                  <a:srgbClr val="12202B"/>
                </a:solidFill>
                <a:latin typeface="Cambria" pitchFamily="34" charset="0"/>
                <a:ea typeface="Cambria" pitchFamily="34" charset="-122"/>
                <a:cs typeface="Cambria" pitchFamily="34" charset="-120"/>
              </a:rPr>
              <a:t>Plus c'est loin, moins le retard pèse</a:t>
            </a:r>
            <a:endParaRPr lang="en-US" sz="3200" dirty="0"/>
          </a:p>
        </p:txBody>
      </p:sp>
      <p:pic>
        <p:nvPicPr>
          <p:cNvPr id="4" name="Image 0" descr="/Users/marcuslinguet/Downloads/trafic-aerien-adp/presentation/figures/04_distance_retard.png">    </p:cNvPr>
          <p:cNvPicPr>
            <a:picLocks noChangeAspect="1"/>
          </p:cNvPicPr>
          <p:nvPr/>
        </p:nvPicPr>
        <p:blipFill>
          <a:blip r:embed="rId1"/>
          <a:stretch>
            <a:fillRect/>
          </a:stretch>
        </p:blipFill>
        <p:spPr>
          <a:xfrm>
            <a:off x="566928" y="1371600"/>
            <a:ext cx="7589520" cy="4251960"/>
          </a:xfrm>
          <a:prstGeom prst="rect">
            <a:avLst/>
          </a:prstGeom>
        </p:spPr>
      </p:pic>
      <p:sp>
        <p:nvSpPr>
          <p:cNvPr id="5" name="Shape 2"/>
          <p:cNvSpPr/>
          <p:nvPr/>
        </p:nvSpPr>
        <p:spPr>
          <a:xfrm>
            <a:off x="8366760" y="1417320"/>
            <a:ext cx="3246120" cy="1234440"/>
          </a:xfrm>
          <a:prstGeom prst="roundRect">
            <a:avLst>
              <a:gd name="adj" fmla="val 5926"/>
            </a:avLst>
          </a:prstGeom>
          <a:solidFill>
            <a:srgbClr val="0B3C5D"/>
          </a:solidFill>
          <a:ln w="12700">
            <a:solidFill>
              <a:srgbClr val="0B3C5D"/>
            </a:solidFill>
            <a:prstDash val="solid"/>
          </a:ln>
          <a:effectLst>
            <a:outerShdw sx="100000" sy="100000" kx="0" ky="0" algn="bl" rotWithShape="0" blurRad="101600" dist="508" dir="5400000">
              <a:srgbClr val="9FB3C4">
                <a:alpha val="28000"/>
              </a:srgbClr>
            </a:outerShdw>
          </a:effectLst>
        </p:spPr>
      </p:sp>
      <p:sp>
        <p:nvSpPr>
          <p:cNvPr id="6" name="Text 3"/>
          <p:cNvSpPr txBox="1"/>
          <p:nvPr/>
        </p:nvSpPr>
        <p:spPr>
          <a:xfrm>
            <a:off x="8513064" y="1527048"/>
            <a:ext cx="2953512" cy="56692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r = −0,47</a:t>
            </a:r>
            <a:endParaRPr lang="en-US" sz="2400" dirty="0"/>
          </a:p>
        </p:txBody>
      </p:sp>
      <p:sp>
        <p:nvSpPr>
          <p:cNvPr id="7" name="Text 4"/>
          <p:cNvSpPr txBox="1"/>
          <p:nvPr/>
        </p:nvSpPr>
        <p:spPr>
          <a:xfrm>
            <a:off x="8513064" y="2093976"/>
            <a:ext cx="2953512" cy="448056"/>
          </a:xfrm>
          <a:prstGeom prst="rect">
            <a:avLst/>
          </a:prstGeom>
          <a:noFill/>
          <a:ln/>
        </p:spPr>
        <p:txBody>
          <a:bodyPr wrap="square" lIns="0" tIns="0" rIns="0" bIns="0" rtlCol="0" anchor="t"/>
          <a:lstStyle/>
          <a:p>
            <a:pPr indent="0" marL="0">
              <a:buNone/>
            </a:pPr>
            <a:r>
              <a:rPr lang="en-US" sz="1150" dirty="0">
                <a:solidFill>
                  <a:srgbClr val="CFE3F1"/>
                </a:solidFill>
                <a:latin typeface="Calibri" pitchFamily="34" charset="0"/>
                <a:ea typeface="Calibri" pitchFamily="34" charset="-122"/>
                <a:cs typeface="Calibri" pitchFamily="34" charset="-120"/>
              </a:rPr>
              <a:t>corrélation entre distance moyenne et retard moyen à l'arrivée, sur 100 destinations</a:t>
            </a:r>
            <a:endParaRPr lang="en-US" sz="1150" dirty="0"/>
          </a:p>
        </p:txBody>
      </p:sp>
      <p:sp>
        <p:nvSpPr>
          <p:cNvPr id="8" name="Shape 5"/>
          <p:cNvSpPr/>
          <p:nvPr/>
        </p:nvSpPr>
        <p:spPr>
          <a:xfrm>
            <a:off x="8366760" y="2761488"/>
            <a:ext cx="3246120" cy="2880360"/>
          </a:xfrm>
          <a:prstGeom prst="roundRect">
            <a:avLst>
              <a:gd name="adj" fmla="val 2540"/>
            </a:avLst>
          </a:prstGeom>
          <a:solidFill>
            <a:srgbClr val="E8F1F8"/>
          </a:solidFill>
          <a:ln w="12700">
            <a:solidFill>
              <a:srgbClr val="CFE3F1"/>
            </a:solidFill>
            <a:prstDash val="solid"/>
          </a:ln>
          <a:effectLst>
            <a:outerShdw sx="100000" sy="100000" kx="0" ky="0" algn="bl" rotWithShape="0" blurRad="101600" dist="508" dir="5400000">
              <a:srgbClr val="9FB3C4">
                <a:alpha val="28000"/>
              </a:srgbClr>
            </a:outerShdw>
          </a:effectLst>
        </p:spPr>
      </p:sp>
      <p:sp>
        <p:nvSpPr>
          <p:cNvPr id="9" name="Text 6"/>
          <p:cNvSpPr txBox="1"/>
          <p:nvPr/>
        </p:nvSpPr>
        <p:spPr>
          <a:xfrm>
            <a:off x="8549640" y="2871216"/>
            <a:ext cx="2880360" cy="274320"/>
          </a:xfrm>
          <a:prstGeom prst="rect">
            <a:avLst/>
          </a:prstGeom>
          <a:noFill/>
          <a:ln/>
        </p:spPr>
        <p:txBody>
          <a:bodyPr wrap="square" lIns="0" tIns="0" rIns="0" bIns="0" rtlCol="0" anchor="ctr"/>
          <a:lstStyle/>
          <a:p>
            <a:pPr indent="0" marL="0">
              <a:buNone/>
            </a:pPr>
            <a:r>
              <a:rPr lang="en-US" sz="1100" b="1" dirty="0">
                <a:solidFill>
                  <a:srgbClr val="1D8AC1"/>
                </a:solidFill>
                <a:latin typeface="Calibri" pitchFamily="34" charset="0"/>
                <a:ea typeface="Calibri" pitchFamily="34" charset="-122"/>
                <a:cs typeface="Calibri" pitchFamily="34" charset="-120"/>
              </a:rPr>
              <a:t>Deux extrêmes</a:t>
            </a:r>
            <a:endParaRPr lang="en-US" sz="1100" dirty="0"/>
          </a:p>
        </p:txBody>
      </p:sp>
      <p:sp>
        <p:nvSpPr>
          <p:cNvPr id="10" name="Text 7"/>
          <p:cNvSpPr txBox="1"/>
          <p:nvPr/>
        </p:nvSpPr>
        <p:spPr>
          <a:xfrm>
            <a:off x="8549640" y="3200400"/>
            <a:ext cx="2880360" cy="1417320"/>
          </a:xfrm>
          <a:prstGeom prst="rect">
            <a:avLst/>
          </a:prstGeom>
          <a:noFill/>
          <a:ln/>
        </p:spPr>
        <p:txBody>
          <a:bodyPr wrap="square" lIns="0" tIns="0" rIns="0" bIns="0" rtlCol="0" anchor="t"/>
          <a:lstStyle/>
          <a:p>
            <a:pPr indent="0" marL="0">
              <a:lnSpc>
                <a:spcPts val="1600"/>
              </a:lnSpc>
              <a:buNone/>
            </a:pPr>
            <a:r>
              <a:rPr lang="en-US" sz="1150" dirty="0">
                <a:solidFill>
                  <a:srgbClr val="12202B"/>
                </a:solidFill>
                <a:latin typeface="Calibri" pitchFamily="34" charset="0"/>
                <a:ea typeface="Calibri" pitchFamily="34" charset="-122"/>
                <a:cs typeface="Calibri" pitchFamily="34" charset="-120"/>
              </a:rPr>
              <a:t>PHL, 94 miles → 11,8 min de retard</a:t>
            </a:r>
            <a:endParaRPr lang="en-US" sz="1150" dirty="0"/>
          </a:p>
          <a:p>
            <a:pPr indent="0" marL="0">
              <a:lnSpc>
                <a:spcPts val="1600"/>
              </a:lnSpc>
              <a:buNone/>
            </a:pPr>
            <a:r>
              <a:rPr lang="en-US" sz="1150" dirty="0">
                <a:solidFill>
                  <a:srgbClr val="12202B"/>
                </a:solidFill>
                <a:latin typeface="Calibri" pitchFamily="34" charset="0"/>
                <a:ea typeface="Calibri" pitchFamily="34" charset="-122"/>
                <a:cs typeface="Calibri" pitchFamily="34" charset="-120"/>
              </a:rPr>
              <a:t>ALB, 143 miles → 17,5 min</a:t>
            </a:r>
            <a:endParaRPr lang="en-US" sz="1150" dirty="0"/>
          </a:p>
          <a:p>
            <a:pPr indent="0" marL="0">
              <a:lnSpc>
                <a:spcPts val="1600"/>
              </a:lnSpc>
              <a:buNone/>
            </a:pPr>
            <a:r>
              <a:rPr lang="en-US" sz="1150" b="1" dirty="0">
                <a:solidFill>
                  <a:srgbClr val="2E9E6B"/>
                </a:solidFill>
                <a:latin typeface="Calibri" pitchFamily="34" charset="0"/>
                <a:ea typeface="Calibri" pitchFamily="34" charset="-122"/>
                <a:cs typeface="Calibri" pitchFamily="34" charset="-120"/>
              </a:rPr>
              <a:t>SFO, 2 578 miles → 0,7 min</a:t>
            </a:r>
            <a:endParaRPr lang="en-US" sz="1150" dirty="0"/>
          </a:p>
          <a:p>
            <a:pPr indent="0" marL="0">
              <a:lnSpc>
                <a:spcPts val="1600"/>
              </a:lnSpc>
              <a:buNone/>
            </a:pPr>
            <a:r>
              <a:rPr lang="en-US" sz="1150" b="1" dirty="0">
                <a:solidFill>
                  <a:srgbClr val="2E9E6B"/>
                </a:solidFill>
                <a:latin typeface="Calibri" pitchFamily="34" charset="0"/>
                <a:ea typeface="Calibri" pitchFamily="34" charset="-122"/>
                <a:cs typeface="Calibri" pitchFamily="34" charset="-120"/>
              </a:rPr>
              <a:t>SJC, 2 569 miles → −0,2 min, soit en avance</a:t>
            </a:r>
            <a:endParaRPr lang="en-US" sz="1150" dirty="0"/>
          </a:p>
        </p:txBody>
      </p:sp>
      <p:sp>
        <p:nvSpPr>
          <p:cNvPr id="11" name="Text 8"/>
          <p:cNvSpPr txBox="1"/>
          <p:nvPr/>
        </p:nvSpPr>
        <p:spPr>
          <a:xfrm>
            <a:off x="8549640" y="4709160"/>
            <a:ext cx="2880360" cy="822960"/>
          </a:xfrm>
          <a:prstGeom prst="rect">
            <a:avLst/>
          </a:prstGeom>
          <a:noFill/>
          <a:ln/>
        </p:spPr>
        <p:txBody>
          <a:bodyPr wrap="square" lIns="0" tIns="0" rIns="0" bIns="0" rtlCol="0" anchor="t"/>
          <a:lstStyle/>
          <a:p>
            <a:pPr indent="0" marL="0">
              <a:lnSpc>
                <a:spcPts val="1500"/>
              </a:lnSpc>
              <a:buNone/>
            </a:pPr>
            <a:r>
              <a:rPr lang="en-US" sz="1100" i="1" dirty="0">
                <a:solidFill>
                  <a:srgbClr val="5A6B7B"/>
                </a:solidFill>
                <a:latin typeface="Calibri" pitchFamily="34" charset="0"/>
                <a:ea typeface="Calibri" pitchFamily="34" charset="-122"/>
                <a:cs typeface="Calibri" pitchFamily="34" charset="-120"/>
              </a:rPr>
              <a:t>Sur un vol long, la marge inscrite à l'horaire suffit à absorber le retard au départ. Le record de rattrapage observé : 47 min regagnées sur un JFK → IAD de 41 min de vol.</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66928" y="384048"/>
            <a:ext cx="7315200" cy="256032"/>
          </a:xfrm>
          <a:prstGeom prst="rect">
            <a:avLst/>
          </a:prstGeom>
          <a:noFill/>
          <a:ln/>
        </p:spPr>
        <p:txBody>
          <a:bodyPr wrap="square" lIns="0" tIns="0" rIns="0" bIns="0" rtlCol="0" anchor="ctr"/>
          <a:lstStyle/>
          <a:p>
            <a:pPr indent="0" marL="0">
              <a:buNone/>
            </a:pPr>
            <a:r>
              <a:rPr lang="en-US" sz="1200" b="1" spc="160" kern="0" dirty="0">
                <a:solidFill>
                  <a:srgbClr val="1D8AC1"/>
                </a:solidFill>
                <a:latin typeface="Calibri" pitchFamily="34" charset="0"/>
                <a:ea typeface="Calibri" pitchFamily="34" charset="-122"/>
                <a:cs typeface="Calibri" pitchFamily="34" charset="-120"/>
              </a:rPr>
              <a:t>RÉSULTAT 6 — ANNULATIONS</a:t>
            </a:r>
            <a:endParaRPr lang="en-US" sz="1200" dirty="0"/>
          </a:p>
        </p:txBody>
      </p:sp>
      <p:sp>
        <p:nvSpPr>
          <p:cNvPr id="3" name="Text 1"/>
          <p:cNvSpPr txBox="1"/>
          <p:nvPr/>
        </p:nvSpPr>
        <p:spPr>
          <a:xfrm>
            <a:off x="566928" y="640080"/>
            <a:ext cx="11057839" cy="658368"/>
          </a:xfrm>
          <a:prstGeom prst="rect">
            <a:avLst/>
          </a:prstGeom>
          <a:noFill/>
          <a:ln/>
        </p:spPr>
        <p:txBody>
          <a:bodyPr wrap="square" lIns="0" tIns="0" rIns="0" bIns="0" rtlCol="0" anchor="ctr"/>
          <a:lstStyle/>
          <a:p>
            <a:pPr indent="0" marL="0">
              <a:buNone/>
            </a:pPr>
            <a:r>
              <a:rPr lang="en-US" sz="3200" b="1" dirty="0">
                <a:solidFill>
                  <a:srgbClr val="12202B"/>
                </a:solidFill>
                <a:latin typeface="Cambria" pitchFamily="34" charset="0"/>
                <a:ea typeface="Cambria" pitchFamily="34" charset="-122"/>
                <a:cs typeface="Cambria" pitchFamily="34" charset="-120"/>
              </a:rPr>
              <a:t>2,56 % des vols annulés, concentrés sur l'hiver</a:t>
            </a:r>
            <a:endParaRPr lang="en-US" sz="3200" dirty="0"/>
          </a:p>
        </p:txBody>
      </p:sp>
      <p:pic>
        <p:nvPicPr>
          <p:cNvPr id="4" name="Image 0" descr="/Users/marcuslinguet/Downloads/trafic-aerien-adp/presentation/figures/05_annulations_mensuelles.png">    </p:cNvPr>
          <p:cNvPicPr>
            <a:picLocks noChangeAspect="1"/>
          </p:cNvPicPr>
          <p:nvPr/>
        </p:nvPicPr>
        <p:blipFill>
          <a:blip r:embed="rId1"/>
          <a:stretch>
            <a:fillRect/>
          </a:stretch>
        </p:blipFill>
        <p:spPr>
          <a:xfrm>
            <a:off x="566928" y="1371600"/>
            <a:ext cx="7589520" cy="4251960"/>
          </a:xfrm>
          <a:prstGeom prst="rect">
            <a:avLst/>
          </a:prstGeom>
        </p:spPr>
      </p:pic>
      <p:sp>
        <p:nvSpPr>
          <p:cNvPr id="5" name="Shape 2"/>
          <p:cNvSpPr/>
          <p:nvPr/>
        </p:nvSpPr>
        <p:spPr>
          <a:xfrm>
            <a:off x="8366760" y="1417320"/>
            <a:ext cx="3246120" cy="1188720"/>
          </a:xfrm>
          <a:prstGeom prst="roundRect">
            <a:avLst>
              <a:gd name="adj" fmla="val 6154"/>
            </a:avLst>
          </a:prstGeom>
          <a:solidFill>
            <a:srgbClr val="FBEDE9"/>
          </a:solidFill>
          <a:ln w="12700">
            <a:solidFill>
              <a:srgbClr val="FBEDE9"/>
            </a:solidFill>
            <a:prstDash val="solid"/>
          </a:ln>
          <a:effectLst>
            <a:outerShdw sx="100000" sy="100000" kx="0" ky="0" algn="bl" rotWithShape="0" blurRad="101600" dist="508" dir="5400000">
              <a:srgbClr val="9FB3C4">
                <a:alpha val="28000"/>
              </a:srgbClr>
            </a:outerShdw>
          </a:effectLst>
        </p:spPr>
      </p:sp>
      <p:sp>
        <p:nvSpPr>
          <p:cNvPr id="6" name="Text 3"/>
          <p:cNvSpPr txBox="1"/>
          <p:nvPr/>
        </p:nvSpPr>
        <p:spPr>
          <a:xfrm>
            <a:off x="8513064" y="1527048"/>
            <a:ext cx="2953512" cy="566928"/>
          </a:xfrm>
          <a:prstGeom prst="rect">
            <a:avLst/>
          </a:prstGeom>
          <a:noFill/>
          <a:ln/>
        </p:spPr>
        <p:txBody>
          <a:bodyPr wrap="square" lIns="0" tIns="0" rIns="0" bIns="0" rtlCol="0" anchor="ctr"/>
          <a:lstStyle/>
          <a:p>
            <a:pPr indent="0" marL="0">
              <a:buNone/>
            </a:pPr>
            <a:r>
              <a:rPr lang="en-US" sz="2600" b="1" dirty="0">
                <a:solidFill>
                  <a:srgbClr val="E4572E"/>
                </a:solidFill>
                <a:latin typeface="Cambria" pitchFamily="34" charset="0"/>
                <a:ea typeface="Cambria" pitchFamily="34" charset="-122"/>
                <a:cs typeface="Cambria" pitchFamily="34" charset="-120"/>
              </a:rPr>
              <a:t>6 481</a:t>
            </a:r>
            <a:endParaRPr lang="en-US" sz="2600" dirty="0"/>
          </a:p>
        </p:txBody>
      </p:sp>
      <p:sp>
        <p:nvSpPr>
          <p:cNvPr id="7" name="Text 4"/>
          <p:cNvSpPr txBox="1"/>
          <p:nvPr/>
        </p:nvSpPr>
        <p:spPr>
          <a:xfrm>
            <a:off x="8513064" y="2093976"/>
            <a:ext cx="2953512" cy="402336"/>
          </a:xfrm>
          <a:prstGeom prst="rect">
            <a:avLst/>
          </a:prstGeom>
          <a:noFill/>
          <a:ln/>
        </p:spPr>
        <p:txBody>
          <a:bodyPr wrap="square" lIns="0" tIns="0" rIns="0" bIns="0" rtlCol="0" anchor="t"/>
          <a:lstStyle/>
          <a:p>
            <a:pPr indent="0" marL="0">
              <a:buNone/>
            </a:pPr>
            <a:r>
              <a:rPr lang="en-US" sz="1150" dirty="0">
                <a:solidFill>
                  <a:srgbClr val="5A6B7B"/>
                </a:solidFill>
                <a:latin typeface="Calibri" pitchFamily="34" charset="0"/>
                <a:ea typeface="Calibri" pitchFamily="34" charset="-122"/>
                <a:cs typeface="Calibri" pitchFamily="34" charset="-120"/>
              </a:rPr>
              <a:t>vols annulés sur 252 704</a:t>
            </a:r>
            <a:endParaRPr lang="en-US" sz="1150" dirty="0"/>
          </a:p>
        </p:txBody>
      </p:sp>
      <p:sp>
        <p:nvSpPr>
          <p:cNvPr id="8" name="Shape 5"/>
          <p:cNvSpPr/>
          <p:nvPr/>
        </p:nvSpPr>
        <p:spPr>
          <a:xfrm>
            <a:off x="8366760" y="2715768"/>
            <a:ext cx="3246120" cy="1188720"/>
          </a:xfrm>
          <a:prstGeom prst="roundRect">
            <a:avLst>
              <a:gd name="adj" fmla="val 6154"/>
            </a:avLst>
          </a:prstGeom>
          <a:solidFill>
            <a:srgbClr val="E8F1F8"/>
          </a:solidFill>
          <a:ln w="12700">
            <a:solidFill>
              <a:srgbClr val="E8F1F8"/>
            </a:solidFill>
            <a:prstDash val="solid"/>
          </a:ln>
          <a:effectLst>
            <a:outerShdw sx="100000" sy="100000" kx="0" ky="0" algn="bl" rotWithShape="0" blurRad="101600" dist="508" dir="5400000">
              <a:srgbClr val="9FB3C4">
                <a:alpha val="28000"/>
              </a:srgbClr>
            </a:outerShdw>
          </a:effectLst>
        </p:spPr>
      </p:sp>
      <p:sp>
        <p:nvSpPr>
          <p:cNvPr id="9" name="Text 6"/>
          <p:cNvSpPr txBox="1"/>
          <p:nvPr/>
        </p:nvSpPr>
        <p:spPr>
          <a:xfrm>
            <a:off x="8513064" y="2825496"/>
            <a:ext cx="2953512" cy="566928"/>
          </a:xfrm>
          <a:prstGeom prst="rect">
            <a:avLst/>
          </a:prstGeom>
          <a:noFill/>
          <a:ln/>
        </p:spPr>
        <p:txBody>
          <a:bodyPr wrap="square" lIns="0" tIns="0" rIns="0" bIns="0" rtlCol="0" anchor="ctr"/>
          <a:lstStyle/>
          <a:p>
            <a:pPr indent="0" marL="0">
              <a:buNone/>
            </a:pPr>
            <a:r>
              <a:rPr lang="en-US" sz="2600" b="1" dirty="0">
                <a:solidFill>
                  <a:srgbClr val="0B3C5D"/>
                </a:solidFill>
                <a:latin typeface="Cambria" pitchFamily="34" charset="0"/>
                <a:ea typeface="Cambria" pitchFamily="34" charset="-122"/>
                <a:cs typeface="Cambria" pitchFamily="34" charset="-120"/>
              </a:rPr>
              <a:t>1 261</a:t>
            </a:r>
            <a:endParaRPr lang="en-US" sz="2600" dirty="0"/>
          </a:p>
        </p:txBody>
      </p:sp>
      <p:sp>
        <p:nvSpPr>
          <p:cNvPr id="10" name="Text 7"/>
          <p:cNvSpPr txBox="1"/>
          <p:nvPr/>
        </p:nvSpPr>
        <p:spPr>
          <a:xfrm>
            <a:off x="8513064" y="3392424"/>
            <a:ext cx="2953512" cy="402336"/>
          </a:xfrm>
          <a:prstGeom prst="rect">
            <a:avLst/>
          </a:prstGeom>
          <a:noFill/>
          <a:ln/>
        </p:spPr>
        <p:txBody>
          <a:bodyPr wrap="square" lIns="0" tIns="0" rIns="0" bIns="0" rtlCol="0" anchor="t"/>
          <a:lstStyle/>
          <a:p>
            <a:pPr indent="0" marL="0">
              <a:buNone/>
            </a:pPr>
            <a:r>
              <a:rPr lang="en-US" sz="1150" dirty="0">
                <a:solidFill>
                  <a:srgbClr val="5A6B7B"/>
                </a:solidFill>
                <a:latin typeface="Calibri" pitchFamily="34" charset="0"/>
                <a:ea typeface="Calibri" pitchFamily="34" charset="-122"/>
                <a:cs typeface="Calibri" pitchFamily="34" charset="-120"/>
              </a:rPr>
              <a:t>annulations en février, le pic de l'année — près du double de la moyenne mensuelle</a:t>
            </a:r>
            <a:endParaRPr lang="en-US" sz="1150" dirty="0"/>
          </a:p>
        </p:txBody>
      </p:sp>
      <p:sp>
        <p:nvSpPr>
          <p:cNvPr id="11" name="Shape 8"/>
          <p:cNvSpPr/>
          <p:nvPr/>
        </p:nvSpPr>
        <p:spPr>
          <a:xfrm>
            <a:off x="8366760" y="4014216"/>
            <a:ext cx="3246120" cy="1645920"/>
          </a:xfrm>
          <a:prstGeom prst="roundRect">
            <a:avLst>
              <a:gd name="adj" fmla="val 4444"/>
            </a:avLst>
          </a:prstGeom>
          <a:solidFill>
            <a:srgbClr val="E8F1F8"/>
          </a:solidFill>
          <a:ln w="12700">
            <a:solidFill>
              <a:srgbClr val="CFE3F1"/>
            </a:solidFill>
            <a:prstDash val="solid"/>
          </a:ln>
          <a:effectLst>
            <a:outerShdw sx="100000" sy="100000" kx="0" ky="0" algn="bl" rotWithShape="0" blurRad="101600" dist="508" dir="5400000">
              <a:srgbClr val="9FB3C4">
                <a:alpha val="28000"/>
              </a:srgbClr>
            </a:outerShdw>
          </a:effectLst>
        </p:spPr>
      </p:sp>
      <p:sp>
        <p:nvSpPr>
          <p:cNvPr id="12" name="Text 9"/>
          <p:cNvSpPr txBox="1"/>
          <p:nvPr/>
        </p:nvSpPr>
        <p:spPr>
          <a:xfrm>
            <a:off x="8549640" y="4123944"/>
            <a:ext cx="2880360" cy="274320"/>
          </a:xfrm>
          <a:prstGeom prst="rect">
            <a:avLst/>
          </a:prstGeom>
          <a:noFill/>
          <a:ln/>
        </p:spPr>
        <p:txBody>
          <a:bodyPr wrap="square" lIns="0" tIns="0" rIns="0" bIns="0" rtlCol="0" anchor="ctr"/>
          <a:lstStyle/>
          <a:p>
            <a:pPr indent="0" marL="0">
              <a:buNone/>
            </a:pPr>
            <a:r>
              <a:rPr lang="en-US" sz="1100" b="1" dirty="0">
                <a:solidFill>
                  <a:srgbClr val="1D8AC1"/>
                </a:solidFill>
                <a:latin typeface="Calibri" pitchFamily="34" charset="0"/>
                <a:ea typeface="Calibri" pitchFamily="34" charset="-122"/>
                <a:cs typeface="Calibri" pitchFamily="34" charset="-120"/>
              </a:rPr>
              <a:t>Compagnies les plus touchées</a:t>
            </a:r>
            <a:endParaRPr lang="en-US" sz="1100" dirty="0"/>
          </a:p>
        </p:txBody>
      </p:sp>
      <p:sp>
        <p:nvSpPr>
          <p:cNvPr id="13" name="Text 10"/>
          <p:cNvSpPr txBox="1"/>
          <p:nvPr/>
        </p:nvSpPr>
        <p:spPr>
          <a:xfrm>
            <a:off x="8549640" y="4434840"/>
            <a:ext cx="2880360" cy="1143000"/>
          </a:xfrm>
          <a:prstGeom prst="rect">
            <a:avLst/>
          </a:prstGeom>
          <a:noFill/>
          <a:ln/>
        </p:spPr>
        <p:txBody>
          <a:bodyPr wrap="square" lIns="0" tIns="0" rIns="0" bIns="0" rtlCol="0" anchor="t"/>
          <a:lstStyle/>
          <a:p>
            <a:pPr indent="0" marL="0">
              <a:lnSpc>
                <a:spcPts val="1500"/>
              </a:lnSpc>
              <a:buNone/>
            </a:pPr>
            <a:r>
              <a:rPr lang="en-US" sz="1150" dirty="0">
                <a:solidFill>
                  <a:srgbClr val="5A6B7B"/>
                </a:solidFill>
                <a:latin typeface="Calibri" pitchFamily="34" charset="0"/>
                <a:ea typeface="Calibri" pitchFamily="34" charset="-122"/>
                <a:cs typeface="Calibri" pitchFamily="34" charset="-120"/>
              </a:rPr>
              <a:t>EV — ExpressJet, MQ — Envoy Air et 9E — Endeavor concentrent l'essentiel des annulations : des flottes régionales, plus sensibles à la météo.</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66928" y="384048"/>
            <a:ext cx="7315200" cy="256032"/>
          </a:xfrm>
          <a:prstGeom prst="rect">
            <a:avLst/>
          </a:prstGeom>
          <a:noFill/>
          <a:ln/>
        </p:spPr>
        <p:txBody>
          <a:bodyPr wrap="square" lIns="0" tIns="0" rIns="0" bIns="0" rtlCol="0" anchor="ctr"/>
          <a:lstStyle/>
          <a:p>
            <a:pPr indent="0" marL="0">
              <a:buNone/>
            </a:pPr>
            <a:r>
              <a:rPr lang="en-US" sz="1200" b="1" spc="160" kern="0" dirty="0">
                <a:solidFill>
                  <a:srgbClr val="1D8AC1"/>
                </a:solidFill>
                <a:latin typeface="Calibri" pitchFamily="34" charset="0"/>
                <a:ea typeface="Calibri" pitchFamily="34" charset="-122"/>
                <a:cs typeface="Calibri" pitchFamily="34" charset="-120"/>
              </a:rPr>
              <a:t>HONNÊTETÉ MÉTHODOLOGIQUE</a:t>
            </a:r>
            <a:endParaRPr lang="en-US" sz="1200" dirty="0"/>
          </a:p>
        </p:txBody>
      </p:sp>
      <p:sp>
        <p:nvSpPr>
          <p:cNvPr id="3" name="Text 1"/>
          <p:cNvSpPr txBox="1"/>
          <p:nvPr/>
        </p:nvSpPr>
        <p:spPr>
          <a:xfrm>
            <a:off x="566928" y="640080"/>
            <a:ext cx="11057839" cy="658368"/>
          </a:xfrm>
          <a:prstGeom prst="rect">
            <a:avLst/>
          </a:prstGeom>
          <a:noFill/>
          <a:ln/>
        </p:spPr>
        <p:txBody>
          <a:bodyPr wrap="square" lIns="0" tIns="0" rIns="0" bIns="0" rtlCol="0" anchor="ctr"/>
          <a:lstStyle/>
          <a:p>
            <a:pPr indent="0" marL="0">
              <a:buNone/>
            </a:pPr>
            <a:r>
              <a:rPr lang="en-US" sz="3200" b="1" dirty="0">
                <a:solidFill>
                  <a:srgbClr val="12202B"/>
                </a:solidFill>
                <a:latin typeface="Cambria" pitchFamily="34" charset="0"/>
                <a:ea typeface="Cambria" pitchFamily="34" charset="-122"/>
                <a:cs typeface="Cambria" pitchFamily="34" charset="-120"/>
              </a:rPr>
              <a:t>Ce que ces données ne permettent pas de dire</a:t>
            </a:r>
            <a:endParaRPr lang="en-US" sz="3200" dirty="0"/>
          </a:p>
        </p:txBody>
      </p:sp>
      <p:sp>
        <p:nvSpPr>
          <p:cNvPr id="4" name="Text 2"/>
          <p:cNvSpPr txBox="1"/>
          <p:nvPr/>
        </p:nvSpPr>
        <p:spPr>
          <a:xfrm>
            <a:off x="566928" y="1298448"/>
            <a:ext cx="10692079" cy="365760"/>
          </a:xfrm>
          <a:prstGeom prst="rect">
            <a:avLst/>
          </a:prstGeom>
          <a:noFill/>
          <a:ln/>
        </p:spPr>
        <p:txBody>
          <a:bodyPr wrap="square" lIns="0" tIns="0" rIns="0" bIns="0" rtlCol="0" anchor="ctr"/>
          <a:lstStyle/>
          <a:p>
            <a:pPr indent="0" marL="0">
              <a:buNone/>
            </a:pPr>
            <a:r>
              <a:rPr lang="en-US" sz="1400" dirty="0">
                <a:solidFill>
                  <a:srgbClr val="5A6B7B"/>
                </a:solidFill>
                <a:latin typeface="Calibri" pitchFamily="34" charset="0"/>
                <a:ea typeface="Calibri" pitchFamily="34" charset="-122"/>
                <a:cs typeface="Calibri" pitchFamily="34" charset="-120"/>
              </a:rPr>
              <a:t>Quatre limites que le dashboard signale à l'écran plutôt que de les masquer.</a:t>
            </a:r>
            <a:endParaRPr lang="en-US" sz="1400" dirty="0"/>
          </a:p>
        </p:txBody>
      </p:sp>
      <p:sp>
        <p:nvSpPr>
          <p:cNvPr id="5" name="Shape 3"/>
          <p:cNvSpPr/>
          <p:nvPr/>
        </p:nvSpPr>
        <p:spPr>
          <a:xfrm>
            <a:off x="566928" y="2057400"/>
            <a:ext cx="5532120" cy="1783080"/>
          </a:xfrm>
          <a:prstGeom prst="roundRect">
            <a:avLst>
              <a:gd name="adj" fmla="val 4103"/>
            </a:avLst>
          </a:prstGeom>
          <a:solidFill>
            <a:srgbClr val="FBEDE9"/>
          </a:solidFill>
          <a:ln w="12700">
            <a:solidFill>
              <a:srgbClr val="F3D3C9"/>
            </a:solidFill>
            <a:prstDash val="solid"/>
          </a:ln>
          <a:effectLst>
            <a:outerShdw sx="100000" sy="100000" kx="0" ky="0" algn="bl" rotWithShape="0" blurRad="101600" dist="508" dir="5400000">
              <a:srgbClr val="9FB3C4">
                <a:alpha val="28000"/>
              </a:srgbClr>
            </a:outerShdw>
          </a:effectLst>
        </p:spPr>
      </p:sp>
      <p:sp>
        <p:nvSpPr>
          <p:cNvPr id="6" name="Shape 4"/>
          <p:cNvSpPr/>
          <p:nvPr/>
        </p:nvSpPr>
        <p:spPr>
          <a:xfrm>
            <a:off x="768096" y="2258568"/>
            <a:ext cx="310896" cy="310896"/>
          </a:xfrm>
          <a:prstGeom prst="ellipse">
            <a:avLst/>
          </a:prstGeom>
          <a:solidFill>
            <a:srgbClr val="E4572E"/>
          </a:solidFill>
          <a:ln w="12700">
            <a:solidFill>
              <a:srgbClr val="E4572E"/>
            </a:solidFill>
            <a:prstDash val="solid"/>
          </a:ln>
        </p:spPr>
      </p:sp>
      <p:sp>
        <p:nvSpPr>
          <p:cNvPr id="7" name="Text 5"/>
          <p:cNvSpPr txBox="1"/>
          <p:nvPr/>
        </p:nvSpPr>
        <p:spPr>
          <a:xfrm>
            <a:off x="768096" y="2286000"/>
            <a:ext cx="310896"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txBox="1"/>
          <p:nvPr/>
        </p:nvSpPr>
        <p:spPr>
          <a:xfrm>
            <a:off x="1188720" y="2240280"/>
            <a:ext cx="4663440" cy="329184"/>
          </a:xfrm>
          <a:prstGeom prst="rect">
            <a:avLst/>
          </a:prstGeom>
          <a:noFill/>
          <a:ln/>
        </p:spPr>
        <p:txBody>
          <a:bodyPr wrap="square" lIns="0" tIns="0" rIns="0" bIns="0" rtlCol="0" anchor="ctr"/>
          <a:lstStyle/>
          <a:p>
            <a:pPr indent="0" marL="0">
              <a:buNone/>
            </a:pPr>
            <a:r>
              <a:rPr lang="en-US" sz="1450" b="1" dirty="0">
                <a:solidFill>
                  <a:srgbClr val="12202B"/>
                </a:solidFill>
                <a:latin typeface="Cambria" pitchFamily="34" charset="0"/>
                <a:ea typeface="Cambria" pitchFamily="34" charset="-122"/>
                <a:cs typeface="Cambria" pitchFamily="34" charset="-120"/>
              </a:rPr>
              <a:t>Presque trois mois manquants</a:t>
            </a:r>
            <a:endParaRPr lang="en-US" sz="1450" dirty="0"/>
          </a:p>
        </p:txBody>
      </p:sp>
      <p:sp>
        <p:nvSpPr>
          <p:cNvPr id="9" name="Text 7"/>
          <p:cNvSpPr txBox="1"/>
          <p:nvPr/>
        </p:nvSpPr>
        <p:spPr>
          <a:xfrm>
            <a:off x="1188720" y="2624328"/>
            <a:ext cx="4709160" cy="1097280"/>
          </a:xfrm>
          <a:prstGeom prst="rect">
            <a:avLst/>
          </a:prstGeom>
          <a:noFill/>
          <a:ln/>
        </p:spPr>
        <p:txBody>
          <a:bodyPr wrap="square" lIns="0" tIns="0" rIns="0" bIns="0" rtlCol="0" anchor="t"/>
          <a:lstStyle/>
          <a:p>
            <a:pPr indent="0" marL="0">
              <a:lnSpc>
                <a:spcPts val="1500"/>
              </a:lnSpc>
              <a:buNone/>
            </a:pPr>
            <a:r>
              <a:rPr lang="en-US" sz="1150" dirty="0">
                <a:solidFill>
                  <a:srgbClr val="5A6B7B"/>
                </a:solidFill>
                <a:latin typeface="Calibri" pitchFamily="34" charset="0"/>
                <a:ea typeface="Calibri" pitchFamily="34" charset="-122"/>
                <a:cs typeface="Calibri" pitchFamily="34" charset="-120"/>
              </a:rPr>
              <a:t>flights.xlsx contient 252 704 vols quand l'énoncé en annonce 326 776. Août et septembre sont absents, juillet s'arrête au 3. Toute conclusion sur l'été est impossible.</a:t>
            </a:r>
            <a:endParaRPr lang="en-US" sz="1150" dirty="0"/>
          </a:p>
        </p:txBody>
      </p:sp>
      <p:sp>
        <p:nvSpPr>
          <p:cNvPr id="10" name="Shape 8"/>
          <p:cNvSpPr/>
          <p:nvPr/>
        </p:nvSpPr>
        <p:spPr>
          <a:xfrm>
            <a:off x="6373368" y="2057400"/>
            <a:ext cx="5532120" cy="1783080"/>
          </a:xfrm>
          <a:prstGeom prst="roundRect">
            <a:avLst>
              <a:gd name="adj" fmla="val 4103"/>
            </a:avLst>
          </a:prstGeom>
          <a:solidFill>
            <a:srgbClr val="E8F1F8"/>
          </a:solidFill>
          <a:ln w="12700">
            <a:solidFill>
              <a:srgbClr val="CFE3F1"/>
            </a:solidFill>
            <a:prstDash val="solid"/>
          </a:ln>
          <a:effectLst>
            <a:outerShdw sx="100000" sy="100000" kx="0" ky="0" algn="bl" rotWithShape="0" blurRad="101600" dist="508" dir="5400000">
              <a:srgbClr val="9FB3C4">
                <a:alpha val="28000"/>
              </a:srgbClr>
            </a:outerShdw>
          </a:effectLst>
        </p:spPr>
      </p:sp>
      <p:sp>
        <p:nvSpPr>
          <p:cNvPr id="11" name="Shape 9"/>
          <p:cNvSpPr/>
          <p:nvPr/>
        </p:nvSpPr>
        <p:spPr>
          <a:xfrm>
            <a:off x="6574536" y="2258568"/>
            <a:ext cx="310896" cy="310896"/>
          </a:xfrm>
          <a:prstGeom prst="ellipse">
            <a:avLst/>
          </a:prstGeom>
          <a:solidFill>
            <a:srgbClr val="1D8AC1"/>
          </a:solidFill>
          <a:ln w="12700">
            <a:solidFill>
              <a:srgbClr val="1D8AC1"/>
            </a:solidFill>
            <a:prstDash val="solid"/>
          </a:ln>
        </p:spPr>
      </p:sp>
      <p:sp>
        <p:nvSpPr>
          <p:cNvPr id="12" name="Text 10"/>
          <p:cNvSpPr txBox="1"/>
          <p:nvPr/>
        </p:nvSpPr>
        <p:spPr>
          <a:xfrm>
            <a:off x="6574536" y="2286000"/>
            <a:ext cx="310896"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txBox="1"/>
          <p:nvPr/>
        </p:nvSpPr>
        <p:spPr>
          <a:xfrm>
            <a:off x="6995160" y="2240280"/>
            <a:ext cx="4663440" cy="329184"/>
          </a:xfrm>
          <a:prstGeom prst="rect">
            <a:avLst/>
          </a:prstGeom>
          <a:noFill/>
          <a:ln/>
        </p:spPr>
        <p:txBody>
          <a:bodyPr wrap="square" lIns="0" tIns="0" rIns="0" bIns="0" rtlCol="0" anchor="ctr"/>
          <a:lstStyle/>
          <a:p>
            <a:pPr indent="0" marL="0">
              <a:buNone/>
            </a:pPr>
            <a:r>
              <a:rPr lang="en-US" sz="1450" b="1" dirty="0">
                <a:solidFill>
                  <a:srgbClr val="12202B"/>
                </a:solidFill>
                <a:latin typeface="Cambria" pitchFamily="34" charset="0"/>
                <a:ea typeface="Cambria" pitchFamily="34" charset="-122"/>
                <a:cs typeface="Cambria" pitchFamily="34" charset="-120"/>
              </a:rPr>
              <a:t>Independence Day non mesurable</a:t>
            </a:r>
            <a:endParaRPr lang="en-US" sz="1450" dirty="0"/>
          </a:p>
        </p:txBody>
      </p:sp>
      <p:sp>
        <p:nvSpPr>
          <p:cNvPr id="14" name="Text 12"/>
          <p:cNvSpPr txBox="1"/>
          <p:nvPr/>
        </p:nvSpPr>
        <p:spPr>
          <a:xfrm>
            <a:off x="6995160" y="2624328"/>
            <a:ext cx="4709160" cy="1097280"/>
          </a:xfrm>
          <a:prstGeom prst="rect">
            <a:avLst/>
          </a:prstGeom>
          <a:noFill/>
          <a:ln/>
        </p:spPr>
        <p:txBody>
          <a:bodyPr wrap="square" lIns="0" tIns="0" rIns="0" bIns="0" rtlCol="0" anchor="t"/>
          <a:lstStyle/>
          <a:p>
            <a:pPr indent="0" marL="0">
              <a:lnSpc>
                <a:spcPts val="1500"/>
              </a:lnSpc>
              <a:buNone/>
            </a:pPr>
            <a:r>
              <a:rPr lang="en-US" sz="1150" dirty="0">
                <a:solidFill>
                  <a:srgbClr val="5A6B7B"/>
                </a:solidFill>
                <a:latin typeface="Calibri" pitchFamily="34" charset="0"/>
                <a:ea typeface="Calibri" pitchFamily="34" charset="-122"/>
                <a:cs typeface="Calibri" pitchFamily="34" charset="-120"/>
              </a:rPr>
              <a:t>Le 4 juillet tombe dans le trou. L'API renvoie la ligne avec des champs vides ; le dashboard l'écarte du graphique et l'annonce au lieu d'afficher « NA ».</a:t>
            </a:r>
            <a:endParaRPr lang="en-US" sz="1150" dirty="0"/>
          </a:p>
        </p:txBody>
      </p:sp>
      <p:sp>
        <p:nvSpPr>
          <p:cNvPr id="15" name="Shape 13"/>
          <p:cNvSpPr/>
          <p:nvPr/>
        </p:nvSpPr>
        <p:spPr>
          <a:xfrm>
            <a:off x="566928" y="4023360"/>
            <a:ext cx="5532120" cy="1783080"/>
          </a:xfrm>
          <a:prstGeom prst="roundRect">
            <a:avLst>
              <a:gd name="adj" fmla="val 4103"/>
            </a:avLst>
          </a:prstGeom>
          <a:solidFill>
            <a:srgbClr val="E8F1F8"/>
          </a:solidFill>
          <a:ln w="12700">
            <a:solidFill>
              <a:srgbClr val="CFE3F1"/>
            </a:solidFill>
            <a:prstDash val="solid"/>
          </a:ln>
          <a:effectLst>
            <a:outerShdw sx="100000" sy="100000" kx="0" ky="0" algn="bl" rotWithShape="0" blurRad="101600" dist="508" dir="5400000">
              <a:srgbClr val="9FB3C4">
                <a:alpha val="28000"/>
              </a:srgbClr>
            </a:outerShdw>
          </a:effectLst>
        </p:spPr>
      </p:sp>
      <p:sp>
        <p:nvSpPr>
          <p:cNvPr id="16" name="Shape 14"/>
          <p:cNvSpPr/>
          <p:nvPr/>
        </p:nvSpPr>
        <p:spPr>
          <a:xfrm>
            <a:off x="768096" y="4224528"/>
            <a:ext cx="310896" cy="310896"/>
          </a:xfrm>
          <a:prstGeom prst="ellipse">
            <a:avLst/>
          </a:prstGeom>
          <a:solidFill>
            <a:srgbClr val="1D8AC1"/>
          </a:solidFill>
          <a:ln w="12700">
            <a:solidFill>
              <a:srgbClr val="1D8AC1"/>
            </a:solidFill>
            <a:prstDash val="solid"/>
          </a:ln>
        </p:spPr>
      </p:sp>
      <p:sp>
        <p:nvSpPr>
          <p:cNvPr id="17" name="Text 15"/>
          <p:cNvSpPr txBox="1"/>
          <p:nvPr/>
        </p:nvSpPr>
        <p:spPr>
          <a:xfrm>
            <a:off x="768096" y="4251960"/>
            <a:ext cx="310896"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txBox="1"/>
          <p:nvPr/>
        </p:nvSpPr>
        <p:spPr>
          <a:xfrm>
            <a:off x="1188720" y="4206240"/>
            <a:ext cx="4663440" cy="329184"/>
          </a:xfrm>
          <a:prstGeom prst="rect">
            <a:avLst/>
          </a:prstGeom>
          <a:noFill/>
          <a:ln/>
        </p:spPr>
        <p:txBody>
          <a:bodyPr wrap="square" lIns="0" tIns="0" rIns="0" bIns="0" rtlCol="0" anchor="ctr"/>
          <a:lstStyle/>
          <a:p>
            <a:pPr indent="0" marL="0">
              <a:buNone/>
            </a:pPr>
            <a:r>
              <a:rPr lang="en-US" sz="1450" b="1" dirty="0">
                <a:solidFill>
                  <a:srgbClr val="12202B"/>
                </a:solidFill>
                <a:latin typeface="Cambria" pitchFamily="34" charset="0"/>
                <a:ea typeface="Cambria" pitchFamily="34" charset="-122"/>
                <a:cs typeface="Cambria" pitchFamily="34" charset="-120"/>
              </a:rPr>
              <a:t>Météo limitée à un aéroport</a:t>
            </a:r>
            <a:endParaRPr lang="en-US" sz="1450" dirty="0"/>
          </a:p>
        </p:txBody>
      </p:sp>
      <p:sp>
        <p:nvSpPr>
          <p:cNvPr id="19" name="Text 17"/>
          <p:cNvSpPr txBox="1"/>
          <p:nvPr/>
        </p:nvSpPr>
        <p:spPr>
          <a:xfrm>
            <a:off x="1188720" y="4590288"/>
            <a:ext cx="4709160" cy="1097280"/>
          </a:xfrm>
          <a:prstGeom prst="rect">
            <a:avLst/>
          </a:prstGeom>
          <a:noFill/>
          <a:ln/>
        </p:spPr>
        <p:txBody>
          <a:bodyPr wrap="square" lIns="0" tIns="0" rIns="0" bIns="0" rtlCol="0" anchor="t"/>
          <a:lstStyle/>
          <a:p>
            <a:pPr indent="0" marL="0">
              <a:lnSpc>
                <a:spcPts val="1500"/>
              </a:lnSpc>
              <a:buNone/>
            </a:pPr>
            <a:r>
              <a:rPr lang="en-US" sz="1150" dirty="0">
                <a:solidFill>
                  <a:srgbClr val="5A6B7B"/>
                </a:solidFill>
                <a:latin typeface="Calibri" pitchFamily="34" charset="0"/>
                <a:ea typeface="Calibri" pitchFamily="34" charset="-122"/>
                <a:cs typeface="Calibri" pitchFamily="34" charset="-120"/>
              </a:rPr>
              <a:t>L'extrait weather.pdf ne couvre qu'EWR, de janvier à mai. L'onglet Météo ne propose donc que cet aéroport plutôt qu'un écran vide sur JFK et LGA.</a:t>
            </a:r>
            <a:endParaRPr lang="en-US" sz="1150" dirty="0"/>
          </a:p>
        </p:txBody>
      </p:sp>
      <p:sp>
        <p:nvSpPr>
          <p:cNvPr id="20" name="Shape 18"/>
          <p:cNvSpPr/>
          <p:nvPr/>
        </p:nvSpPr>
        <p:spPr>
          <a:xfrm>
            <a:off x="6373368" y="4023360"/>
            <a:ext cx="5532120" cy="1783080"/>
          </a:xfrm>
          <a:prstGeom prst="roundRect">
            <a:avLst>
              <a:gd name="adj" fmla="val 4103"/>
            </a:avLst>
          </a:prstGeom>
          <a:solidFill>
            <a:srgbClr val="E8F1F8"/>
          </a:solidFill>
          <a:ln w="12700">
            <a:solidFill>
              <a:srgbClr val="CFE3F1"/>
            </a:solidFill>
            <a:prstDash val="solid"/>
          </a:ln>
          <a:effectLst>
            <a:outerShdw sx="100000" sy="100000" kx="0" ky="0" algn="bl" rotWithShape="0" blurRad="101600" dist="508" dir="5400000">
              <a:srgbClr val="9FB3C4">
                <a:alpha val="28000"/>
              </a:srgbClr>
            </a:outerShdw>
          </a:effectLst>
        </p:spPr>
      </p:sp>
      <p:sp>
        <p:nvSpPr>
          <p:cNvPr id="21" name="Shape 19"/>
          <p:cNvSpPr/>
          <p:nvPr/>
        </p:nvSpPr>
        <p:spPr>
          <a:xfrm>
            <a:off x="6574536" y="4224528"/>
            <a:ext cx="310896" cy="310896"/>
          </a:xfrm>
          <a:prstGeom prst="ellipse">
            <a:avLst/>
          </a:prstGeom>
          <a:solidFill>
            <a:srgbClr val="1D8AC1"/>
          </a:solidFill>
          <a:ln w="12700">
            <a:solidFill>
              <a:srgbClr val="1D8AC1"/>
            </a:solidFill>
            <a:prstDash val="solid"/>
          </a:ln>
        </p:spPr>
      </p:sp>
      <p:sp>
        <p:nvSpPr>
          <p:cNvPr id="22" name="Text 20"/>
          <p:cNvSpPr txBox="1"/>
          <p:nvPr/>
        </p:nvSpPr>
        <p:spPr>
          <a:xfrm>
            <a:off x="6574536" y="4251960"/>
            <a:ext cx="310896"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3" name="Text 21"/>
          <p:cNvSpPr txBox="1"/>
          <p:nvPr/>
        </p:nvSpPr>
        <p:spPr>
          <a:xfrm>
            <a:off x="6995160" y="4206240"/>
            <a:ext cx="4663440" cy="329184"/>
          </a:xfrm>
          <a:prstGeom prst="rect">
            <a:avLst/>
          </a:prstGeom>
          <a:noFill/>
          <a:ln/>
        </p:spPr>
        <p:txBody>
          <a:bodyPr wrap="square" lIns="0" tIns="0" rIns="0" bIns="0" rtlCol="0" anchor="ctr"/>
          <a:lstStyle/>
          <a:p>
            <a:pPr indent="0" marL="0">
              <a:buNone/>
            </a:pPr>
            <a:r>
              <a:rPr lang="en-US" sz="1450" b="1" dirty="0">
                <a:solidFill>
                  <a:srgbClr val="12202B"/>
                </a:solidFill>
                <a:latin typeface="Cambria" pitchFamily="34" charset="0"/>
                <a:ea typeface="Cambria" pitchFamily="34" charset="-122"/>
                <a:cs typeface="Cambria" pitchFamily="34" charset="-120"/>
              </a:rPr>
              <a:t>2,56 % d'heures manquantes</a:t>
            </a:r>
            <a:endParaRPr lang="en-US" sz="1450" dirty="0"/>
          </a:p>
        </p:txBody>
      </p:sp>
      <p:sp>
        <p:nvSpPr>
          <p:cNvPr id="24" name="Text 22"/>
          <p:cNvSpPr txBox="1"/>
          <p:nvPr/>
        </p:nvSpPr>
        <p:spPr>
          <a:xfrm>
            <a:off x="6995160" y="4590288"/>
            <a:ext cx="4709160" cy="1097280"/>
          </a:xfrm>
          <a:prstGeom prst="rect">
            <a:avLst/>
          </a:prstGeom>
          <a:noFill/>
          <a:ln/>
        </p:spPr>
        <p:txBody>
          <a:bodyPr wrap="square" lIns="0" tIns="0" rIns="0" bIns="0" rtlCol="0" anchor="t"/>
          <a:lstStyle/>
          <a:p>
            <a:pPr indent="0" marL="0">
              <a:lnSpc>
                <a:spcPts val="1500"/>
              </a:lnSpc>
              <a:buNone/>
            </a:pPr>
            <a:r>
              <a:rPr lang="en-US" sz="1150" dirty="0">
                <a:solidFill>
                  <a:srgbClr val="5A6B7B"/>
                </a:solidFill>
                <a:latin typeface="Calibri" pitchFamily="34" charset="0"/>
                <a:ea typeface="Calibri" pitchFamily="34" charset="-122"/>
                <a:cs typeface="Calibri" pitchFamily="34" charset="-120"/>
              </a:rPr>
              <a:t>Ce sont exactement les vols annulés. Les moyennes de retard portent donc sur 246 223 vols et non 252 704 : le dénominateur change selon l'indicateur.</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66928" y="384048"/>
            <a:ext cx="7315200" cy="256032"/>
          </a:xfrm>
          <a:prstGeom prst="rect">
            <a:avLst/>
          </a:prstGeom>
          <a:noFill/>
          <a:ln/>
        </p:spPr>
        <p:txBody>
          <a:bodyPr wrap="square" lIns="0" tIns="0" rIns="0" bIns="0" rtlCol="0" anchor="ctr"/>
          <a:lstStyle/>
          <a:p>
            <a:pPr indent="0" marL="0">
              <a:buNone/>
            </a:pPr>
            <a:r>
              <a:rPr lang="en-US" sz="1200" b="1" spc="160" kern="0" dirty="0">
                <a:solidFill>
                  <a:srgbClr val="1D8AC1"/>
                </a:solidFill>
                <a:latin typeface="Calibri" pitchFamily="34" charset="0"/>
                <a:ea typeface="Calibri" pitchFamily="34" charset="-122"/>
                <a:cs typeface="Calibri" pitchFamily="34" charset="-120"/>
              </a:rPr>
              <a:t>CONTRÔLE CROISÉ</a:t>
            </a:r>
            <a:endParaRPr lang="en-US" sz="1200" dirty="0"/>
          </a:p>
        </p:txBody>
      </p:sp>
      <p:sp>
        <p:nvSpPr>
          <p:cNvPr id="3" name="Text 1"/>
          <p:cNvSpPr txBox="1"/>
          <p:nvPr/>
        </p:nvSpPr>
        <p:spPr>
          <a:xfrm>
            <a:off x="566928" y="640080"/>
            <a:ext cx="11057839" cy="658368"/>
          </a:xfrm>
          <a:prstGeom prst="rect">
            <a:avLst/>
          </a:prstGeom>
          <a:noFill/>
          <a:ln/>
        </p:spPr>
        <p:txBody>
          <a:bodyPr wrap="square" lIns="0" tIns="0" rIns="0" bIns="0" rtlCol="0" anchor="ctr"/>
          <a:lstStyle/>
          <a:p>
            <a:pPr indent="0" marL="0">
              <a:buNone/>
            </a:pPr>
            <a:r>
              <a:rPr lang="en-US" sz="3200" b="1" dirty="0">
                <a:solidFill>
                  <a:srgbClr val="12202B"/>
                </a:solidFill>
                <a:latin typeface="Cambria" pitchFamily="34" charset="0"/>
                <a:ea typeface="Cambria" pitchFamily="34" charset="-122"/>
                <a:cs typeface="Cambria" pitchFamily="34" charset="-120"/>
              </a:rPr>
              <a:t>Un endpoint de l'API donnait l'inverse de son intitulé</a:t>
            </a:r>
            <a:endParaRPr lang="en-US" sz="3200" dirty="0"/>
          </a:p>
        </p:txBody>
      </p:sp>
      <p:sp>
        <p:nvSpPr>
          <p:cNvPr id="4" name="Text 2"/>
          <p:cNvSpPr txBox="1"/>
          <p:nvPr/>
        </p:nvSpPr>
        <p:spPr>
          <a:xfrm>
            <a:off x="566928" y="1298448"/>
            <a:ext cx="10692079" cy="365760"/>
          </a:xfrm>
          <a:prstGeom prst="rect">
            <a:avLst/>
          </a:prstGeom>
          <a:noFill/>
          <a:ln/>
        </p:spPr>
        <p:txBody>
          <a:bodyPr wrap="square" lIns="0" tIns="0" rIns="0" bIns="0" rtlCol="0" anchor="ctr"/>
          <a:lstStyle/>
          <a:p>
            <a:pPr indent="0" marL="0">
              <a:buNone/>
            </a:pPr>
            <a:r>
              <a:rPr lang="en-US" sz="1400" dirty="0">
                <a:solidFill>
                  <a:srgbClr val="5A6B7B"/>
                </a:solidFill>
                <a:latin typeface="Calibri" pitchFamily="34" charset="0"/>
                <a:ea typeface="Calibri" pitchFamily="34" charset="-122"/>
                <a:cs typeface="Calibri" pitchFamily="34" charset="-120"/>
              </a:rPr>
              <a:t>Construire les écrans oblige à relire les chiffres un par un — c'est ainsi que le défaut est apparu.</a:t>
            </a:r>
            <a:endParaRPr lang="en-US" sz="1400" dirty="0"/>
          </a:p>
        </p:txBody>
      </p:sp>
      <p:sp>
        <p:nvSpPr>
          <p:cNvPr id="5" name="Shape 3"/>
          <p:cNvSpPr/>
          <p:nvPr/>
        </p:nvSpPr>
        <p:spPr>
          <a:xfrm>
            <a:off x="566928" y="2011680"/>
            <a:ext cx="5440680" cy="2286000"/>
          </a:xfrm>
          <a:prstGeom prst="roundRect">
            <a:avLst>
              <a:gd name="adj" fmla="val 3200"/>
            </a:avLst>
          </a:prstGeom>
          <a:solidFill>
            <a:srgbClr val="FBEDE9"/>
          </a:solidFill>
          <a:ln w="12700">
            <a:solidFill>
              <a:srgbClr val="F3D3C9"/>
            </a:solidFill>
            <a:prstDash val="solid"/>
          </a:ln>
          <a:effectLst>
            <a:outerShdw sx="100000" sy="100000" kx="0" ky="0" algn="bl" rotWithShape="0" blurRad="101600" dist="508" dir="5400000">
              <a:srgbClr val="9FB3C4">
                <a:alpha val="28000"/>
              </a:srgbClr>
            </a:outerShdw>
          </a:effectLst>
        </p:spPr>
      </p:sp>
      <p:sp>
        <p:nvSpPr>
          <p:cNvPr id="6" name="Text 4"/>
          <p:cNvSpPr txBox="1"/>
          <p:nvPr/>
        </p:nvSpPr>
        <p:spPr>
          <a:xfrm>
            <a:off x="786384" y="2139696"/>
            <a:ext cx="4937760" cy="310896"/>
          </a:xfrm>
          <a:prstGeom prst="rect">
            <a:avLst/>
          </a:prstGeom>
          <a:noFill/>
          <a:ln/>
        </p:spPr>
        <p:txBody>
          <a:bodyPr wrap="square" lIns="0" tIns="0" rIns="0" bIns="0" rtlCol="0" anchor="ctr"/>
          <a:lstStyle/>
          <a:p>
            <a:pPr indent="0" marL="0">
              <a:buNone/>
            </a:pPr>
            <a:r>
              <a:rPr lang="en-US" sz="1200" b="1" dirty="0">
                <a:solidFill>
                  <a:srgbClr val="E4572E"/>
                </a:solidFill>
                <a:latin typeface="Calibri" pitchFamily="34" charset="0"/>
                <a:ea typeface="Calibri" pitchFamily="34" charset="-122"/>
                <a:cs typeface="Calibri" pitchFamily="34" charset="-120"/>
              </a:rPr>
              <a:t>Ce que renvoyait /delays/gain</a:t>
            </a:r>
            <a:endParaRPr lang="en-US" sz="1200" dirty="0"/>
          </a:p>
        </p:txBody>
      </p:sp>
      <p:sp>
        <p:nvSpPr>
          <p:cNvPr id="7" name="Text 5"/>
          <p:cNvSpPr txBox="1"/>
          <p:nvPr/>
        </p:nvSpPr>
        <p:spPr>
          <a:xfrm>
            <a:off x="786384" y="2514600"/>
            <a:ext cx="4983480" cy="1645920"/>
          </a:xfrm>
          <a:prstGeom prst="rect">
            <a:avLst/>
          </a:prstGeom>
          <a:noFill/>
          <a:ln/>
        </p:spPr>
        <p:txBody>
          <a:bodyPr wrap="square" lIns="0" tIns="0" rIns="0" bIns="0" rtlCol="0" anchor="t"/>
          <a:lstStyle/>
          <a:p>
            <a:pPr indent="0" marL="0">
              <a:lnSpc>
                <a:spcPts val="1700"/>
              </a:lnSpc>
              <a:buNone/>
            </a:pPr>
            <a:r>
              <a:rPr lang="en-US" sz="1300" b="1" dirty="0">
                <a:solidFill>
                  <a:srgbClr val="12202B"/>
                </a:solidFill>
                <a:latin typeface="Calibri" pitchFamily="34" charset="0"/>
                <a:ea typeface="Calibri" pitchFamily="34" charset="-122"/>
                <a:cs typeface="Calibri" pitchFamily="34" charset="-120"/>
              </a:rPr>
              <a:t>gain = arr_delay − dep_delay</a:t>
            </a:r>
            <a:endParaRPr lang="en-US" sz="1200" dirty="0"/>
          </a:p>
          <a:p>
            <a:pPr indent="0" marL="0">
              <a:lnSpc>
                <a:spcPts val="1700"/>
              </a:lnSpc>
              <a:buNone/>
            </a:pPr>
            <a:r>
              <a:rPr lang="en-US" sz="1200" dirty="0">
                <a:solidFill>
                  <a:srgbClr val="5A6B7B"/>
                </a:solidFill>
                <a:latin typeface="Calibri" pitchFamily="34" charset="0"/>
                <a:ea typeface="Calibri" pitchFamily="34" charset="-122"/>
                <a:cs typeface="Calibri" pitchFamily="34" charset="-120"/>
              </a:rPr>
              <a:t>1 363 vols remontés : 121,5 min de retard au départ, 171,3 min à l'arrivée.</a:t>
            </a:r>
            <a:endParaRPr lang="en-US" sz="1200" dirty="0"/>
          </a:p>
          <a:p>
            <a:pPr indent="0" marL="0">
              <a:lnSpc>
                <a:spcPts val="1700"/>
              </a:lnSpc>
              <a:buNone/>
            </a:pPr>
            <a:r>
              <a:rPr lang="en-US" sz="1200" b="1" dirty="0">
                <a:solidFill>
                  <a:srgbClr val="E4572E"/>
                </a:solidFill>
                <a:latin typeface="Calibri" pitchFamily="34" charset="0"/>
                <a:ea typeface="Calibri" pitchFamily="34" charset="-122"/>
                <a:cs typeface="Calibri" pitchFamily="34" charset="-120"/>
              </a:rPr>
              <a:t>Ce sont les vols dont le retard s'aggrave en vol, présentés comme un gain.</a:t>
            </a:r>
            <a:endParaRPr lang="en-US" sz="1200" dirty="0"/>
          </a:p>
        </p:txBody>
      </p:sp>
      <p:sp>
        <p:nvSpPr>
          <p:cNvPr id="8" name="Shape 6"/>
          <p:cNvSpPr/>
          <p:nvPr/>
        </p:nvSpPr>
        <p:spPr>
          <a:xfrm>
            <a:off x="6355080" y="2011680"/>
            <a:ext cx="5285232" cy="2286000"/>
          </a:xfrm>
          <a:prstGeom prst="roundRect">
            <a:avLst>
              <a:gd name="adj" fmla="val 3200"/>
            </a:avLst>
          </a:prstGeom>
          <a:solidFill>
            <a:srgbClr val="EAF6F0"/>
          </a:solidFill>
          <a:ln w="12700">
            <a:solidFill>
              <a:srgbClr val="CDE8DC"/>
            </a:solidFill>
            <a:prstDash val="solid"/>
          </a:ln>
          <a:effectLst>
            <a:outerShdw sx="100000" sy="100000" kx="0" ky="0" algn="bl" rotWithShape="0" blurRad="101600" dist="508" dir="5400000">
              <a:srgbClr val="9FB3C4">
                <a:alpha val="28000"/>
              </a:srgbClr>
            </a:outerShdw>
          </a:effectLst>
        </p:spPr>
      </p:sp>
      <p:sp>
        <p:nvSpPr>
          <p:cNvPr id="9" name="Text 7"/>
          <p:cNvSpPr txBox="1"/>
          <p:nvPr/>
        </p:nvSpPr>
        <p:spPr>
          <a:xfrm>
            <a:off x="6574536" y="2139696"/>
            <a:ext cx="4846320" cy="310896"/>
          </a:xfrm>
          <a:prstGeom prst="rect">
            <a:avLst/>
          </a:prstGeom>
          <a:noFill/>
          <a:ln/>
        </p:spPr>
        <p:txBody>
          <a:bodyPr wrap="square" lIns="0" tIns="0" rIns="0" bIns="0" rtlCol="0" anchor="ctr"/>
          <a:lstStyle/>
          <a:p>
            <a:pPr indent="0" marL="0">
              <a:buNone/>
            </a:pPr>
            <a:r>
              <a:rPr lang="en-US" sz="1200" b="1" dirty="0">
                <a:solidFill>
                  <a:srgbClr val="2E9E6B"/>
                </a:solidFill>
                <a:latin typeface="Calibri" pitchFamily="34" charset="0"/>
                <a:ea typeface="Calibri" pitchFamily="34" charset="-122"/>
                <a:cs typeface="Calibri" pitchFamily="34" charset="-120"/>
              </a:rPr>
              <a:t>Le vrai rattrapage</a:t>
            </a:r>
            <a:endParaRPr lang="en-US" sz="1200" dirty="0"/>
          </a:p>
        </p:txBody>
      </p:sp>
      <p:sp>
        <p:nvSpPr>
          <p:cNvPr id="10" name="Text 8"/>
          <p:cNvSpPr txBox="1"/>
          <p:nvPr/>
        </p:nvSpPr>
        <p:spPr>
          <a:xfrm>
            <a:off x="6574536" y="2514600"/>
            <a:ext cx="4846320" cy="1645920"/>
          </a:xfrm>
          <a:prstGeom prst="rect">
            <a:avLst/>
          </a:prstGeom>
          <a:noFill/>
          <a:ln/>
        </p:spPr>
        <p:txBody>
          <a:bodyPr wrap="square" lIns="0" tIns="0" rIns="0" bIns="0" rtlCol="0" anchor="t"/>
          <a:lstStyle/>
          <a:p>
            <a:pPr indent="0" marL="0">
              <a:lnSpc>
                <a:spcPts val="1700"/>
              </a:lnSpc>
              <a:buNone/>
            </a:pPr>
            <a:r>
              <a:rPr lang="en-US" sz="1300" b="1" dirty="0">
                <a:solidFill>
                  <a:srgbClr val="12202B"/>
                </a:solidFill>
                <a:latin typeface="Calibri" pitchFamily="34" charset="0"/>
                <a:ea typeface="Calibri" pitchFamily="34" charset="-122"/>
                <a:cs typeface="Calibri" pitchFamily="34" charset="-120"/>
              </a:rPr>
              <a:t>rattrapage = dep_delay − arr_delay</a:t>
            </a:r>
            <a:endParaRPr lang="en-US" sz="1200" dirty="0"/>
          </a:p>
          <a:p>
            <a:pPr indent="0" marL="0">
              <a:lnSpc>
                <a:spcPts val="1700"/>
              </a:lnSpc>
              <a:buNone/>
            </a:pPr>
            <a:r>
              <a:rPr lang="en-US" sz="1200" dirty="0">
                <a:solidFill>
                  <a:srgbClr val="5A6B7B"/>
                </a:solidFill>
                <a:latin typeface="Calibri" pitchFamily="34" charset="0"/>
                <a:ea typeface="Calibri" pitchFamily="34" charset="-122"/>
                <a:cs typeface="Calibri" pitchFamily="34" charset="-120"/>
              </a:rPr>
              <a:t>Autre population : 132,1 min au départ, 94,8 min à l'arrivée.</a:t>
            </a:r>
            <a:endParaRPr lang="en-US" sz="1200" dirty="0"/>
          </a:p>
          <a:p>
            <a:pPr indent="0" marL="0">
              <a:lnSpc>
                <a:spcPts val="1700"/>
              </a:lnSpc>
              <a:buNone/>
            </a:pPr>
            <a:r>
              <a:rPr lang="en-US" sz="1200" b="1" dirty="0">
                <a:solidFill>
                  <a:srgbClr val="2E9E6B"/>
                </a:solidFill>
                <a:latin typeface="Calibri" pitchFamily="34" charset="0"/>
                <a:ea typeface="Calibri" pitchFamily="34" charset="-122"/>
                <a:cs typeface="Calibri" pitchFamily="34" charset="-120"/>
              </a:rPr>
              <a:t>Reconstruit dans le dashboard à partir de /flights, sans attendre le correctif.</a:t>
            </a:r>
            <a:endParaRPr lang="en-US" sz="1200" dirty="0"/>
          </a:p>
        </p:txBody>
      </p:sp>
      <p:sp>
        <p:nvSpPr>
          <p:cNvPr id="11" name="Text 9"/>
          <p:cNvSpPr txBox="1"/>
          <p:nvPr/>
        </p:nvSpPr>
        <p:spPr>
          <a:xfrm>
            <a:off x="566928" y="4572000"/>
            <a:ext cx="5486400" cy="292608"/>
          </a:xfrm>
          <a:prstGeom prst="rect">
            <a:avLst/>
          </a:prstGeom>
          <a:noFill/>
          <a:ln/>
        </p:spPr>
        <p:txBody>
          <a:bodyPr wrap="square" lIns="0" tIns="0" rIns="0" bIns="0" rtlCol="0" anchor="ctr"/>
          <a:lstStyle/>
          <a:p>
            <a:pPr indent="0" marL="0">
              <a:buNone/>
            </a:pPr>
            <a:r>
              <a:rPr lang="en-US" sz="1500" b="1" dirty="0">
                <a:solidFill>
                  <a:srgbClr val="12202B"/>
                </a:solidFill>
                <a:latin typeface="Cambria" pitchFamily="34" charset="0"/>
                <a:ea typeface="Cambria" pitchFamily="34" charset="-122"/>
                <a:cs typeface="Cambria" pitchFamily="34" charset="-120"/>
              </a:rPr>
              <a:t>Comment le dashboard s'en sort</a:t>
            </a:r>
            <a:endParaRPr lang="en-US" sz="1500" dirty="0"/>
          </a:p>
        </p:txBody>
      </p:sp>
      <p:sp>
        <p:nvSpPr>
          <p:cNvPr id="12" name="Text 10"/>
          <p:cNvSpPr txBox="1"/>
          <p:nvPr/>
        </p:nvSpPr>
        <p:spPr>
          <a:xfrm>
            <a:off x="566928" y="4901184"/>
            <a:ext cx="5486400" cy="1371600"/>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200" dirty="0">
                <a:solidFill>
                  <a:srgbClr val="12202B"/>
                </a:solidFill>
                <a:latin typeface="Calibri" pitchFamily="34" charset="0"/>
                <a:ea typeface="Calibri" pitchFamily="34" charset="-122"/>
                <a:cs typeface="Calibri" pitchFamily="34" charset="-120"/>
              </a:rPr>
              <a:t>Les vols partis avec au moins 1 h de retard sont demandés à /flights, triés par retard à l'arrivée</a:t>
            </a:r>
            <a:endParaRPr lang="en-US" sz="1200" dirty="0"/>
          </a:p>
          <a:p>
            <a:pPr marL="342900" indent="-342900">
              <a:lnSpc>
                <a:spcPts val="1800"/>
              </a:lnSpc>
              <a:spcAft>
                <a:spcPts val="700"/>
              </a:spcAft>
              <a:buSzPct val="100000"/>
              <a:buChar char="•"/>
            </a:pPr>
            <a:r>
              <a:rPr lang="en-US" sz="1200" dirty="0">
                <a:solidFill>
                  <a:srgbClr val="12202B"/>
                </a:solidFill>
                <a:latin typeface="Calibri" pitchFamily="34" charset="0"/>
                <a:ea typeface="Calibri" pitchFamily="34" charset="-122"/>
                <a:cs typeface="Calibri" pitchFamily="34" charset="-120"/>
              </a:rPr>
              <a:t>Le rattrapage est recalculé côté dashboard et la méthode est affichée sur la carte</a:t>
            </a:r>
            <a:endParaRPr lang="en-US" sz="1200" dirty="0"/>
          </a:p>
          <a:p>
            <a:pPr marL="342900" indent="-342900">
              <a:lnSpc>
                <a:spcPts val="1800"/>
              </a:lnSpc>
              <a:spcAft>
                <a:spcPts val="700"/>
              </a:spcAft>
              <a:buSzPct val="100000"/>
              <a:buChar char="•"/>
            </a:pPr>
            <a:r>
              <a:rPr lang="en-US" sz="1200" dirty="0">
                <a:solidFill>
                  <a:srgbClr val="12202B"/>
                </a:solidFill>
                <a:latin typeface="Calibri" pitchFamily="34" charset="0"/>
                <a:ea typeface="Calibri" pitchFamily="34" charset="-122"/>
                <a:cs typeface="Calibri" pitchFamily="34" charset="-120"/>
              </a:rPr>
              <a:t>Le correctif côté backend tient en une ligne : inverser la différence et le filtre</a:t>
            </a:r>
            <a:endParaRPr lang="en-US" sz="1200" dirty="0"/>
          </a:p>
        </p:txBody>
      </p:sp>
      <p:sp>
        <p:nvSpPr>
          <p:cNvPr id="13" name="Shape 11"/>
          <p:cNvSpPr/>
          <p:nvPr/>
        </p:nvSpPr>
        <p:spPr>
          <a:xfrm>
            <a:off x="6355080" y="4572000"/>
            <a:ext cx="5285232" cy="1691640"/>
          </a:xfrm>
          <a:prstGeom prst="roundRect">
            <a:avLst>
              <a:gd name="adj" fmla="val 4324"/>
            </a:avLst>
          </a:prstGeom>
          <a:solidFill>
            <a:srgbClr val="0B3C5D"/>
          </a:solidFill>
          <a:ln w="12700">
            <a:solidFill>
              <a:srgbClr val="0B3C5D"/>
            </a:solidFill>
            <a:prstDash val="solid"/>
          </a:ln>
          <a:effectLst>
            <a:outerShdw sx="100000" sy="100000" kx="0" ky="0" algn="bl" rotWithShape="0" blurRad="101600" dist="508" dir="5400000">
              <a:srgbClr val="9FB3C4">
                <a:alpha val="28000"/>
              </a:srgbClr>
            </a:outerShdw>
          </a:effectLst>
        </p:spPr>
      </p:sp>
      <p:sp>
        <p:nvSpPr>
          <p:cNvPr id="14" name="Text 12"/>
          <p:cNvSpPr txBox="1"/>
          <p:nvPr/>
        </p:nvSpPr>
        <p:spPr>
          <a:xfrm>
            <a:off x="6574536" y="4700016"/>
            <a:ext cx="4846320" cy="274320"/>
          </a:xfrm>
          <a:prstGeom prst="rect">
            <a:avLst/>
          </a:prstGeom>
          <a:noFill/>
          <a:ln/>
        </p:spPr>
        <p:txBody>
          <a:bodyPr wrap="square" lIns="0" tIns="0" rIns="0" bIns="0" rtlCol="0" anchor="ctr"/>
          <a:lstStyle/>
          <a:p>
            <a:pPr indent="0" marL="0">
              <a:buNone/>
            </a:pPr>
            <a:r>
              <a:rPr lang="en-US" sz="1100" b="1" dirty="0">
                <a:solidFill>
                  <a:srgbClr val="E8A33D"/>
                </a:solidFill>
                <a:latin typeface="Calibri" pitchFamily="34" charset="0"/>
                <a:ea typeface="Calibri" pitchFamily="34" charset="-122"/>
                <a:cs typeface="Calibri" pitchFamily="34" charset="-120"/>
              </a:rPr>
              <a:t>À retenir</a:t>
            </a:r>
            <a:endParaRPr lang="en-US" sz="1100" dirty="0"/>
          </a:p>
        </p:txBody>
      </p:sp>
      <p:sp>
        <p:nvSpPr>
          <p:cNvPr id="15" name="Text 13"/>
          <p:cNvSpPr txBox="1"/>
          <p:nvPr/>
        </p:nvSpPr>
        <p:spPr>
          <a:xfrm>
            <a:off x="6574536" y="5010912"/>
            <a:ext cx="4846320" cy="1143000"/>
          </a:xfrm>
          <a:prstGeom prst="rect">
            <a:avLst/>
          </a:prstGeom>
          <a:noFill/>
          <a:ln/>
        </p:spPr>
        <p:txBody>
          <a:bodyPr wrap="square" lIns="0" tIns="0" rIns="0" bIns="0" rtlCol="0" anchor="t"/>
          <a:lstStyle/>
          <a:p>
            <a:pPr indent="0" marL="0">
              <a:lnSpc>
                <a:spcPts val="1600"/>
              </a:lnSpc>
              <a:buNone/>
            </a:pPr>
            <a:r>
              <a:rPr lang="en-US" sz="1200" dirty="0">
                <a:solidFill>
                  <a:srgbClr val="CFE3F1"/>
                </a:solidFill>
                <a:latin typeface="Calibri" pitchFamily="34" charset="0"/>
                <a:ea typeface="Calibri" pitchFamily="34" charset="-122"/>
                <a:cs typeface="Calibri" pitchFamily="34" charset="-120"/>
              </a:rPr>
              <a:t>Un chiffre qui « sort » du dashboard n'est pas forcément un bug d'affichage : ici l'API répondait 200, la requête SQL était valide, et seule la lecture métier du résultat révélait l'inversion.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566928" y="685800"/>
            <a:ext cx="8229600" cy="274320"/>
          </a:xfrm>
          <a:prstGeom prst="rect">
            <a:avLst/>
          </a:prstGeom>
          <a:noFill/>
          <a:ln/>
        </p:spPr>
        <p:txBody>
          <a:bodyPr wrap="square" lIns="0" tIns="0" rIns="0" bIns="0" rtlCol="0" anchor="ctr"/>
          <a:lstStyle/>
          <a:p>
            <a:pPr indent="0" marL="0">
              <a:buNone/>
            </a:pPr>
            <a:r>
              <a:rPr lang="en-US" sz="1300" b="1" spc="240" kern="0" dirty="0">
                <a:solidFill>
                  <a:srgbClr val="8FC4E3"/>
                </a:solidFill>
                <a:latin typeface="Calibri" pitchFamily="34" charset="0"/>
                <a:ea typeface="Calibri" pitchFamily="34" charset="-122"/>
                <a:cs typeface="Calibri" pitchFamily="34" charset="-120"/>
              </a:rPr>
              <a:t>DÉMONSTRATION</a:t>
            </a:r>
            <a:endParaRPr lang="en-US" sz="1300" dirty="0"/>
          </a:p>
        </p:txBody>
      </p:sp>
      <p:sp>
        <p:nvSpPr>
          <p:cNvPr id="3" name="Text 1"/>
          <p:cNvSpPr txBox="1"/>
          <p:nvPr/>
        </p:nvSpPr>
        <p:spPr>
          <a:xfrm>
            <a:off x="566928" y="1005840"/>
            <a:ext cx="100584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Trois commandes pour tout lancer</a:t>
            </a:r>
            <a:endParaRPr lang="en-US" sz="3000" dirty="0"/>
          </a:p>
        </p:txBody>
      </p:sp>
      <p:sp>
        <p:nvSpPr>
          <p:cNvPr id="4" name="Shape 2"/>
          <p:cNvSpPr/>
          <p:nvPr/>
        </p:nvSpPr>
        <p:spPr>
          <a:xfrm>
            <a:off x="566928" y="2048256"/>
            <a:ext cx="384048" cy="384048"/>
          </a:xfrm>
          <a:prstGeom prst="ellipse">
            <a:avLst/>
          </a:prstGeom>
          <a:solidFill>
            <a:srgbClr val="E4572E"/>
          </a:solidFill>
          <a:ln w="12700">
            <a:solidFill>
              <a:srgbClr val="E4572E"/>
            </a:solidFill>
            <a:prstDash val="solid"/>
          </a:ln>
        </p:spPr>
      </p:sp>
      <p:sp>
        <p:nvSpPr>
          <p:cNvPr id="5" name="Text 3"/>
          <p:cNvSpPr txBox="1"/>
          <p:nvPr/>
        </p:nvSpPr>
        <p:spPr>
          <a:xfrm>
            <a:off x="566928" y="2084832"/>
            <a:ext cx="384048"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6" name="Text 4"/>
          <p:cNvSpPr txBox="1"/>
          <p:nvPr/>
        </p:nvSpPr>
        <p:spPr>
          <a:xfrm>
            <a:off x="1133856" y="1965960"/>
            <a:ext cx="4572000" cy="365760"/>
          </a:xfrm>
          <a:prstGeom prst="rect">
            <a:avLst/>
          </a:prstGeom>
          <a:noFill/>
          <a:ln/>
        </p:spPr>
        <p:txBody>
          <a:bodyPr wrap="square" lIns="0" tIns="0" rIns="0" bIns="0" rtlCol="0" anchor="ctr"/>
          <a:lstStyle/>
          <a:p>
            <a:pPr indent="0" marL="0">
              <a:buNone/>
            </a:pPr>
            <a:r>
              <a:rPr lang="en-US" sz="1500" b="1" dirty="0">
                <a:solidFill>
                  <a:srgbClr val="E8A33D"/>
                </a:solidFill>
                <a:latin typeface="Courier New" pitchFamily="34" charset="0"/>
                <a:ea typeface="Courier New" pitchFamily="34" charset="-122"/>
                <a:cs typeface="Courier New" pitchFamily="34" charset="-120"/>
              </a:rPr>
              <a:t>docker compose up -d</a:t>
            </a:r>
            <a:endParaRPr lang="en-US" sz="1500" dirty="0"/>
          </a:p>
        </p:txBody>
      </p:sp>
      <p:sp>
        <p:nvSpPr>
          <p:cNvPr id="7" name="Text 5"/>
          <p:cNvSpPr txBox="1"/>
          <p:nvPr/>
        </p:nvSpPr>
        <p:spPr>
          <a:xfrm>
            <a:off x="1133856" y="2350008"/>
            <a:ext cx="5669280" cy="310896"/>
          </a:xfrm>
          <a:prstGeom prst="rect">
            <a:avLst/>
          </a:prstGeom>
          <a:noFill/>
          <a:ln/>
        </p:spPr>
        <p:txBody>
          <a:bodyPr wrap="square" lIns="0" tIns="0" rIns="0" bIns="0" rtlCol="0" anchor="ctr"/>
          <a:lstStyle/>
          <a:p>
            <a:pPr indent="0" marL="0">
              <a:buNone/>
            </a:pPr>
            <a:r>
              <a:rPr lang="en-US" sz="1150" dirty="0">
                <a:solidFill>
                  <a:srgbClr val="CFE3F1"/>
                </a:solidFill>
                <a:latin typeface="Calibri" pitchFamily="34" charset="0"/>
                <a:ea typeface="Calibri" pitchFamily="34" charset="-122"/>
                <a:cs typeface="Calibri" pitchFamily="34" charset="-120"/>
              </a:rPr>
              <a:t>MySQL 8, puis chargement de schema.sql</a:t>
            </a:r>
            <a:endParaRPr lang="en-US" sz="1150" dirty="0"/>
          </a:p>
        </p:txBody>
      </p:sp>
      <p:sp>
        <p:nvSpPr>
          <p:cNvPr id="8" name="Shape 6"/>
          <p:cNvSpPr/>
          <p:nvPr/>
        </p:nvSpPr>
        <p:spPr>
          <a:xfrm>
            <a:off x="566928" y="2980944"/>
            <a:ext cx="384048" cy="384048"/>
          </a:xfrm>
          <a:prstGeom prst="ellipse">
            <a:avLst/>
          </a:prstGeom>
          <a:solidFill>
            <a:srgbClr val="E4572E"/>
          </a:solidFill>
          <a:ln w="12700">
            <a:solidFill>
              <a:srgbClr val="E4572E"/>
            </a:solidFill>
            <a:prstDash val="solid"/>
          </a:ln>
        </p:spPr>
      </p:sp>
      <p:sp>
        <p:nvSpPr>
          <p:cNvPr id="9" name="Text 7"/>
          <p:cNvSpPr txBox="1"/>
          <p:nvPr/>
        </p:nvSpPr>
        <p:spPr>
          <a:xfrm>
            <a:off x="566928" y="3017520"/>
            <a:ext cx="384048"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0" name="Text 8"/>
          <p:cNvSpPr txBox="1"/>
          <p:nvPr/>
        </p:nvSpPr>
        <p:spPr>
          <a:xfrm>
            <a:off x="1133856" y="2898648"/>
            <a:ext cx="4572000" cy="365760"/>
          </a:xfrm>
          <a:prstGeom prst="rect">
            <a:avLst/>
          </a:prstGeom>
          <a:noFill/>
          <a:ln/>
        </p:spPr>
        <p:txBody>
          <a:bodyPr wrap="square" lIns="0" tIns="0" rIns="0" bIns="0" rtlCol="0" anchor="ctr"/>
          <a:lstStyle/>
          <a:p>
            <a:pPr indent="0" marL="0">
              <a:buNone/>
            </a:pPr>
            <a:r>
              <a:rPr lang="en-US" sz="1500" b="1" dirty="0">
                <a:solidFill>
                  <a:srgbClr val="E8A33D"/>
                </a:solidFill>
                <a:latin typeface="Courier New" pitchFamily="34" charset="0"/>
                <a:ea typeface="Courier New" pitchFamily="34" charset="-122"/>
                <a:cs typeface="Courier New" pitchFamily="34" charset="-120"/>
              </a:rPr>
              <a:t>Rscript backend/run.R</a:t>
            </a:r>
            <a:endParaRPr lang="en-US" sz="1500" dirty="0"/>
          </a:p>
        </p:txBody>
      </p:sp>
      <p:sp>
        <p:nvSpPr>
          <p:cNvPr id="11" name="Text 9"/>
          <p:cNvSpPr txBox="1"/>
          <p:nvPr/>
        </p:nvSpPr>
        <p:spPr>
          <a:xfrm>
            <a:off x="1133856" y="3282696"/>
            <a:ext cx="5669280" cy="310896"/>
          </a:xfrm>
          <a:prstGeom prst="rect">
            <a:avLst/>
          </a:prstGeom>
          <a:noFill/>
          <a:ln/>
        </p:spPr>
        <p:txBody>
          <a:bodyPr wrap="square" lIns="0" tIns="0" rIns="0" bIns="0" rtlCol="0" anchor="ctr"/>
          <a:lstStyle/>
          <a:p>
            <a:pPr indent="0" marL="0">
              <a:buNone/>
            </a:pPr>
            <a:r>
              <a:rPr lang="en-US" sz="1150" dirty="0">
                <a:solidFill>
                  <a:srgbClr val="CFE3F1"/>
                </a:solidFill>
                <a:latin typeface="Calibri" pitchFamily="34" charset="0"/>
                <a:ea typeface="Calibri" pitchFamily="34" charset="-122"/>
                <a:cs typeface="Calibri" pitchFamily="34" charset="-120"/>
              </a:rPr>
              <a:t>API Plumber sur le port 8000, Swagger sur /__docs__/</a:t>
            </a:r>
            <a:endParaRPr lang="en-US" sz="1150" dirty="0"/>
          </a:p>
        </p:txBody>
      </p:sp>
      <p:sp>
        <p:nvSpPr>
          <p:cNvPr id="12" name="Shape 10"/>
          <p:cNvSpPr/>
          <p:nvPr/>
        </p:nvSpPr>
        <p:spPr>
          <a:xfrm>
            <a:off x="566928" y="3913632"/>
            <a:ext cx="384048" cy="384048"/>
          </a:xfrm>
          <a:prstGeom prst="ellipse">
            <a:avLst/>
          </a:prstGeom>
          <a:solidFill>
            <a:srgbClr val="E4572E"/>
          </a:solidFill>
          <a:ln w="12700">
            <a:solidFill>
              <a:srgbClr val="E4572E"/>
            </a:solidFill>
            <a:prstDash val="solid"/>
          </a:ln>
        </p:spPr>
      </p:sp>
      <p:sp>
        <p:nvSpPr>
          <p:cNvPr id="13" name="Text 11"/>
          <p:cNvSpPr txBox="1"/>
          <p:nvPr/>
        </p:nvSpPr>
        <p:spPr>
          <a:xfrm>
            <a:off x="566928" y="3950208"/>
            <a:ext cx="384048"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133856" y="3831336"/>
            <a:ext cx="4572000" cy="365760"/>
          </a:xfrm>
          <a:prstGeom prst="rect">
            <a:avLst/>
          </a:prstGeom>
          <a:noFill/>
          <a:ln/>
        </p:spPr>
        <p:txBody>
          <a:bodyPr wrap="square" lIns="0" tIns="0" rIns="0" bIns="0" rtlCol="0" anchor="ctr"/>
          <a:lstStyle/>
          <a:p>
            <a:pPr indent="0" marL="0">
              <a:buNone/>
            </a:pPr>
            <a:r>
              <a:rPr lang="en-US" sz="1500" b="1" dirty="0">
                <a:solidFill>
                  <a:srgbClr val="E8A33D"/>
                </a:solidFill>
                <a:latin typeface="Courier New" pitchFamily="34" charset="0"/>
                <a:ea typeface="Courier New" pitchFamily="34" charset="-122"/>
                <a:cs typeface="Courier New" pitchFamily="34" charset="-120"/>
              </a:rPr>
              <a:t>Rscript frontend/run_app.R</a:t>
            </a:r>
            <a:endParaRPr lang="en-US" sz="1500" dirty="0"/>
          </a:p>
        </p:txBody>
      </p:sp>
      <p:sp>
        <p:nvSpPr>
          <p:cNvPr id="15" name="Text 13"/>
          <p:cNvSpPr txBox="1"/>
          <p:nvPr/>
        </p:nvSpPr>
        <p:spPr>
          <a:xfrm>
            <a:off x="1133856" y="4215384"/>
            <a:ext cx="5669280" cy="310896"/>
          </a:xfrm>
          <a:prstGeom prst="rect">
            <a:avLst/>
          </a:prstGeom>
          <a:noFill/>
          <a:ln/>
        </p:spPr>
        <p:txBody>
          <a:bodyPr wrap="square" lIns="0" tIns="0" rIns="0" bIns="0" rtlCol="0" anchor="ctr"/>
          <a:lstStyle/>
          <a:p>
            <a:pPr indent="0" marL="0">
              <a:buNone/>
            </a:pPr>
            <a:r>
              <a:rPr lang="en-US" sz="1150" dirty="0">
                <a:solidFill>
                  <a:srgbClr val="CFE3F1"/>
                </a:solidFill>
                <a:latin typeface="Calibri" pitchFamily="34" charset="0"/>
                <a:ea typeface="Calibri" pitchFamily="34" charset="-122"/>
                <a:cs typeface="Calibri" pitchFamily="34" charset="-120"/>
              </a:rPr>
              <a:t>Dashboard Shiny sur le port 3838</a:t>
            </a:r>
            <a:endParaRPr lang="en-US" sz="1150" dirty="0"/>
          </a:p>
        </p:txBody>
      </p:sp>
      <p:sp>
        <p:nvSpPr>
          <p:cNvPr id="16" name="Shape 14"/>
          <p:cNvSpPr/>
          <p:nvPr/>
        </p:nvSpPr>
        <p:spPr>
          <a:xfrm>
            <a:off x="6949440" y="1920240"/>
            <a:ext cx="4690872" cy="2798064"/>
          </a:xfrm>
          <a:prstGeom prst="roundRect">
            <a:avLst>
              <a:gd name="adj" fmla="val 2614"/>
            </a:avLst>
          </a:prstGeom>
          <a:solidFill>
            <a:srgbClr val="134E70"/>
          </a:solidFill>
          <a:ln w="12700">
            <a:solidFill>
              <a:srgbClr val="1F6288"/>
            </a:solidFill>
            <a:prstDash val="solid"/>
          </a:ln>
        </p:spPr>
      </p:sp>
      <p:sp>
        <p:nvSpPr>
          <p:cNvPr id="17" name="Text 15"/>
          <p:cNvSpPr txBox="1"/>
          <p:nvPr/>
        </p:nvSpPr>
        <p:spPr>
          <a:xfrm>
            <a:off x="7168896" y="2066544"/>
            <a:ext cx="4251960" cy="310896"/>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Prochaines étapes</a:t>
            </a:r>
            <a:endParaRPr lang="en-US" sz="1600" dirty="0"/>
          </a:p>
        </p:txBody>
      </p:sp>
      <p:sp>
        <p:nvSpPr>
          <p:cNvPr id="18" name="Text 16"/>
          <p:cNvSpPr txBox="1"/>
          <p:nvPr/>
        </p:nvSpPr>
        <p:spPr>
          <a:xfrm>
            <a:off x="7168896" y="2468880"/>
            <a:ext cx="4206240" cy="2103120"/>
          </a:xfrm>
          <a:prstGeom prst="rect">
            <a:avLst/>
          </a:prstGeom>
          <a:noFill/>
          <a:ln/>
        </p:spPr>
        <p:txBody>
          <a:bodyPr wrap="square" lIns="0" tIns="0" rIns="0" bIns="0" rtlCol="0" anchor="t"/>
          <a:lstStyle/>
          <a:p>
            <a:pPr marL="342900" indent="-342900">
              <a:lnSpc>
                <a:spcPts val="1600"/>
              </a:lnSpc>
              <a:spcAft>
                <a:spcPts val="800"/>
              </a:spcAft>
              <a:buSzPct val="100000"/>
              <a:buChar char="•"/>
            </a:pPr>
            <a:r>
              <a:rPr lang="en-US" sz="1200" dirty="0">
                <a:solidFill>
                  <a:srgbClr val="CFE3F1"/>
                </a:solidFill>
                <a:latin typeface="Calibri" pitchFamily="34" charset="0"/>
                <a:ea typeface="Calibri" pitchFamily="34" charset="-122"/>
                <a:cs typeface="Calibri" pitchFamily="34" charset="-120"/>
              </a:rPr>
              <a:t>Corriger /delays/gain côté backend</a:t>
            </a:r>
            <a:endParaRPr lang="en-US" sz="1200" dirty="0"/>
          </a:p>
          <a:p>
            <a:pPr marL="342900" indent="-342900">
              <a:lnSpc>
                <a:spcPts val="1600"/>
              </a:lnSpc>
              <a:spcAft>
                <a:spcPts val="800"/>
              </a:spcAft>
              <a:buSzPct val="100000"/>
              <a:buChar char="•"/>
            </a:pPr>
            <a:r>
              <a:rPr lang="en-US" sz="1200" dirty="0">
                <a:solidFill>
                  <a:srgbClr val="CFE3F1"/>
                </a:solidFill>
                <a:latin typeface="Calibri" pitchFamily="34" charset="0"/>
                <a:ea typeface="Calibri" pitchFamily="34" charset="-122"/>
                <a:cs typeface="Calibri" pitchFamily="34" charset="-120"/>
              </a:rPr>
              <a:t>Compléter flights.xlsx pour retrouver l'été</a:t>
            </a:r>
            <a:endParaRPr lang="en-US" sz="1200" dirty="0"/>
          </a:p>
          <a:p>
            <a:pPr marL="342900" indent="-342900">
              <a:lnSpc>
                <a:spcPts val="1600"/>
              </a:lnSpc>
              <a:spcAft>
                <a:spcPts val="800"/>
              </a:spcAft>
              <a:buSzPct val="100000"/>
              <a:buChar char="•"/>
            </a:pPr>
            <a:r>
              <a:rPr lang="en-US" sz="1200" dirty="0">
                <a:solidFill>
                  <a:srgbClr val="CFE3F1"/>
                </a:solidFill>
                <a:latin typeface="Calibri" pitchFamily="34" charset="0"/>
                <a:ea typeface="Calibri" pitchFamily="34" charset="-122"/>
                <a:cs typeface="Calibri" pitchFamily="34" charset="-120"/>
              </a:rPr>
              <a:t>Étendre weather.pdf à JFK et LGA</a:t>
            </a:r>
            <a:endParaRPr lang="en-US" sz="1200" dirty="0"/>
          </a:p>
          <a:p>
            <a:pPr marL="342900" indent="-342900">
              <a:lnSpc>
                <a:spcPts val="1600"/>
              </a:lnSpc>
              <a:spcAft>
                <a:spcPts val="800"/>
              </a:spcAft>
              <a:buSzPct val="100000"/>
              <a:buChar char="•"/>
            </a:pPr>
            <a:r>
              <a:rPr lang="en-US" sz="1200" dirty="0">
                <a:solidFill>
                  <a:srgbClr val="CFE3F1"/>
                </a:solidFill>
                <a:latin typeface="Calibri" pitchFamily="34" charset="0"/>
                <a:ea typeface="Calibri" pitchFamily="34" charset="-122"/>
                <a:cs typeface="Calibri" pitchFamily="34" charset="-120"/>
              </a:rPr>
              <a:t>Croiser météo et retards une fois la couverture complète</a:t>
            </a:r>
            <a:endParaRPr lang="en-US" sz="1200" dirty="0"/>
          </a:p>
        </p:txBody>
      </p:sp>
      <p:sp>
        <p:nvSpPr>
          <p:cNvPr id="19" name="Text 17"/>
          <p:cNvSpPr txBox="1"/>
          <p:nvPr/>
        </p:nvSpPr>
        <p:spPr>
          <a:xfrm>
            <a:off x="566928" y="5806440"/>
            <a:ext cx="7772400" cy="310896"/>
          </a:xfrm>
          <a:prstGeom prst="rect">
            <a:avLst/>
          </a:prstGeom>
          <a:noFill/>
          <a:ln/>
        </p:spPr>
        <p:txBody>
          <a:bodyPr wrap="square" lIns="0" tIns="0" rIns="0" bIns="0" rtlCol="0" anchor="ctr"/>
          <a:lstStyle/>
          <a:p>
            <a:pPr indent="0" marL="0">
              <a:buNone/>
            </a:pPr>
            <a:r>
              <a:rPr lang="en-US" sz="1200" dirty="0">
                <a:solidFill>
                  <a:srgbClr val="8FC4E3"/>
                </a:solidFill>
                <a:latin typeface="Calibri" pitchFamily="34" charset="0"/>
                <a:ea typeface="Calibri" pitchFamily="34" charset="-122"/>
                <a:cs typeface="Calibri" pitchFamily="34" charset="-120"/>
              </a:rPr>
              <a:t>github.com/Salmabentisse/trafic-aerien-adp — branche Marcus</a:t>
            </a:r>
            <a:endParaRPr lang="en-US" sz="1200" dirty="0"/>
          </a:p>
        </p:txBody>
      </p:sp>
      <p:sp>
        <p:nvSpPr>
          <p:cNvPr id="20" name="Text 18"/>
          <p:cNvSpPr txBox="1"/>
          <p:nvPr/>
        </p:nvSpPr>
        <p:spPr>
          <a:xfrm>
            <a:off x="8229600" y="5760720"/>
            <a:ext cx="3383280" cy="402336"/>
          </a:xfrm>
          <a:prstGeom prst="rect">
            <a:avLst/>
          </a:prstGeom>
          <a:noFill/>
          <a:ln/>
        </p:spPr>
        <p:txBody>
          <a:bodyPr wrap="square" lIns="0" tIns="0" rIns="0" bIns="0" rtlCol="0" anchor="ctr"/>
          <a:lstStyle/>
          <a:p>
            <a:pPr algn="r" indent="0" marL="0">
              <a:buNone/>
            </a:pPr>
            <a:r>
              <a:rPr lang="en-US" sz="1800" b="1" dirty="0">
                <a:solidFill>
                  <a:srgbClr val="FFFFFF"/>
                </a:solidFill>
                <a:latin typeface="Cambria" pitchFamily="34" charset="0"/>
                <a:ea typeface="Cambria" pitchFamily="34" charset="-122"/>
                <a:cs typeface="Cambria" pitchFamily="34" charset="-120"/>
              </a:rPr>
              <a:t>Merci — questions ?</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Trafic Aérien ADP — dashboard et analyse</dc:title>
  <dc:subject>PptxGenJS Presentation</dc:subject>
  <dc:creator>Marcus Linguet</dc:creator>
  <cp:lastModifiedBy>Marcus Linguet</cp:lastModifiedBy>
  <cp:revision>1</cp:revision>
  <dcterms:created xsi:type="dcterms:W3CDTF">2026-08-26T16:01:22Z</dcterms:created>
  <dcterms:modified xsi:type="dcterms:W3CDTF">2026-08-26T16:01:22Z</dcterms:modified>
</cp:coreProperties>
</file>