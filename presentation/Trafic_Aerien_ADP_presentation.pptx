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Salma ouvre. Le projet porte sur les vols au départ des trois aéroports de New York sur une année, données BTS. Cinq fichiers de formats différents à ramener dans une base relationnelle, puis à exposer et à interpréter. On est cinq, chacun sur un étage de la chaîne.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cinq formats sont volontairement hétérogènes : du JSON, de l'Excel, du HTML à scraper, un PDF. L'enjeu du projet est là. Et chaque étage ne parle qu'à son voisin, ce qui a permis d'avancer en parallèle.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i) du prof : quelles anomalies et comment traitées. Le fil : on n'a jamais inventé de valeur. Hors bornes ou absente, une donnée passe à NULL et reste identifiable. Les seules lignes créées de toutes pièces rendent les clés étrangères satisfiables, et elles sont reconnaissables — un avion technique n'a qu'une immatriculation, ni modèle ni sièges.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à tenir : ce n'est pas le nettoyage qui a précédé le schéma, c'est le schéma qui a imposé le nettoyage. Les contraintes ont rejeté le premier chargement et chaque rejet correspondait à une vraie anomalie.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ii) du prof : la gestion du temps et des fuseaux. La réponse honnête est qu'on stocke l'information nécessaire mais qu'on ne convertit pas. L'argument qui tient : les retards sont des durées, donc insensibles aux fuseaux, et c'est sur eux que porte l'analyse. Si on nous pousse : CONVERT_TZ avec tzone, en ayant chargé les tables de fuseaux.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défendre : le dashboard et l'analyse ne touchent jamais la base directement. Tout passe par l'API, donc la logique SQL est au même endroit pour tous les consommateurs et les identifiants ne quittent pas le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iii) du prof : la gestion des privilèges. Il n'y en a pas, et les identifiants sont dans un dépôt public. À annoncer nous-mêmes. Si on demande pourquoi ça n'a pas été fait : ce n'était pas priorisé face au reste, et le correctif tient en trois GRANT.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de méthode : comparer des totaux mensuels serait faux, les mois n'ayant ni la même longueur ni la même couverture. En ramenant au jour observé, les trois aéroports et les douze mois redeviennent comparables. Et chaque aéroport est comparé à sa propre moyenne, pas à celle des 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résultat le plus actionnable : le retard se propage d'un vol au suivant sur la même journée. Un avion parti en retard le matin fait décoller en retard tous ses vols suivants. La recommandation tient en une phrase : réserver tôt. Sur les compagnies, attention aux effectifs — Hawaiian affiche le meilleur taux mais sur 258 vols seulement, alors que Delta tient 34,4 % sur 35 619 vols.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vol annulé est défini par l'absence simultanée d'heure de départ et d'arrivée : c'est une convention, pas une donnée officielle d'annulation. Sur les limites, l'important est de les annoncer avant qu'on nous les oppose. Un dashboard qui trace une courbe continue là où il n'y a pas de données mentirait à son lecteur.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ici que je fais la démonstration live. Enchaînement conseillé : l'onglet Vols pour montrer que les filtres, le tri et la pagination sont exécutés par l'API et que le dashboard ne charge qu'une page à la fois, puis la carte, puis les prévisions.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modèle reste volontairement simple, comme l'énoncé le demande. Point important sur la validation : la référence naïve répète la dernière semaine connue, sans piocher dans la période de test. Ma première version faisait cette erreur et donnait une référence artificiellement imbattable — c'est en la corrigeant que l'écart réel est apparu.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de clôture : ces deux défauts n'étaient visibles ni dans le schéma, ni dans les tests de l'API. C'est en construisant les écrans, donc en étant le premier utilisateur de la chaîne, qu'ils sont apparus. Le frontend n'est pas une couche de peinture.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5D"/>
        </a:solidFill>
      </p:bgPr>
    </p:bg>
    <p:spTree>
      <p:nvGrpSpPr>
        <p:cNvPr id="1" name=""/>
        <p:cNvGrpSpPr/>
        <p:nvPr/>
      </p:nvGrpSpPr>
      <p:grpSpPr>
        <a:xfrm>
          <a:off x="0" y="0"/>
          <a:ext cx="0" cy="0"/>
          <a:chOff x="0" y="0"/>
          <a:chExt cx="0" cy="0"/>
        </a:xfrm>
      </p:grpSpPr>
      <p:sp>
        <p:nvSpPr>
          <p:cNvPr id="2" name="Text 0"/>
          <p:cNvSpPr txBox="1"/>
          <p:nvPr/>
        </p:nvSpPr>
        <p:spPr>
          <a:xfrm>
            <a:off x="566928" y="1508760"/>
            <a:ext cx="8229600" cy="274320"/>
          </a:xfrm>
          <a:prstGeom prst="rect">
            <a:avLst/>
          </a:prstGeom>
          <a:noFill/>
          <a:ln/>
        </p:spPr>
        <p:txBody>
          <a:bodyPr wrap="square" lIns="0" tIns="0" rIns="0" bIns="0" rtlCol="0" anchor="ctr"/>
          <a:lstStyle/>
          <a:p>
            <a:pPr indent="0" marL="0">
              <a:buNone/>
            </a:pPr>
            <a:r>
              <a:rPr lang="en-US" sz="1300" b="1" spc="240" kern="0" dirty="0">
                <a:solidFill>
                  <a:srgbClr val="8FC4E3"/>
                </a:solidFill>
                <a:latin typeface="Calibri" pitchFamily="34" charset="0"/>
                <a:ea typeface="Calibri" pitchFamily="34" charset="-122"/>
                <a:cs typeface="Calibri" pitchFamily="34" charset="-120"/>
              </a:rPr>
              <a:t>PROJET TRAFIC AÉRIEN ADP</a:t>
            </a:r>
            <a:endParaRPr lang="en-US" sz="1300" dirty="0"/>
          </a:p>
        </p:txBody>
      </p:sp>
      <p:sp>
        <p:nvSpPr>
          <p:cNvPr id="3" name="Text 1"/>
          <p:cNvSpPr txBox="1"/>
          <p:nvPr/>
        </p:nvSpPr>
        <p:spPr>
          <a:xfrm>
            <a:off x="566928" y="1874520"/>
            <a:ext cx="8595360" cy="17373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252 704 vols au départ</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de New York, décortiqués</a:t>
            </a:r>
            <a:endParaRPr lang="en-US" sz="4000" dirty="0"/>
          </a:p>
        </p:txBody>
      </p:sp>
      <p:sp>
        <p:nvSpPr>
          <p:cNvPr id="4" name="Text 2"/>
          <p:cNvSpPr txBox="1"/>
          <p:nvPr/>
        </p:nvSpPr>
        <p:spPr>
          <a:xfrm>
            <a:off x="566928" y="3703320"/>
            <a:ext cx="8595360" cy="365760"/>
          </a:xfrm>
          <a:prstGeom prst="rect">
            <a:avLst/>
          </a:prstGeom>
          <a:noFill/>
          <a:ln/>
        </p:spPr>
        <p:txBody>
          <a:bodyPr wrap="square" lIns="0" tIns="0" rIns="0" bIns="0" rtlCol="0" anchor="ctr"/>
          <a:lstStyle/>
          <a:p>
            <a:pPr indent="0" marL="0">
              <a:buNone/>
            </a:pPr>
            <a:r>
              <a:rPr lang="en-US" sz="1500" dirty="0">
                <a:solidFill>
                  <a:srgbClr val="CFE3F1"/>
                </a:solidFill>
                <a:latin typeface="Calibri" pitchFamily="34" charset="0"/>
                <a:ea typeface="Calibri" pitchFamily="34" charset="-122"/>
                <a:cs typeface="Calibri" pitchFamily="34" charset="-120"/>
              </a:rPr>
              <a:t>De cinq fichiers hétérogènes à un dashboard interactif et prédictif</a:t>
            </a:r>
            <a:endParaRPr lang="en-US" sz="1500" dirty="0"/>
          </a:p>
        </p:txBody>
      </p:sp>
      <p:sp>
        <p:nvSpPr>
          <p:cNvPr id="5" name="Shape 3"/>
          <p:cNvSpPr/>
          <p:nvPr/>
        </p:nvSpPr>
        <p:spPr>
          <a:xfrm>
            <a:off x="566928" y="4526280"/>
            <a:ext cx="6766560" cy="1051560"/>
          </a:xfrm>
          <a:prstGeom prst="roundRect">
            <a:avLst>
              <a:gd name="adj" fmla="val 6957"/>
            </a:avLst>
          </a:prstGeom>
          <a:solidFill>
            <a:srgbClr val="134E70"/>
          </a:solidFill>
          <a:ln w="12700">
            <a:solidFill>
              <a:srgbClr val="1F6288"/>
            </a:solidFill>
            <a:prstDash val="solid"/>
          </a:ln>
        </p:spPr>
      </p:sp>
      <p:sp>
        <p:nvSpPr>
          <p:cNvPr id="6" name="Text 4"/>
          <p:cNvSpPr txBox="1"/>
          <p:nvPr/>
        </p:nvSpPr>
        <p:spPr>
          <a:xfrm>
            <a:off x="786384" y="4681728"/>
            <a:ext cx="6400800" cy="777240"/>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Salma Bentisse  ·  Meissa Mara  ·  Hedi Mathlouthi  ·  Hassan Houssein Houmed  ·  Marcus Linguet</a:t>
            </a:r>
            <a:endParaRPr lang="en-US" sz="1250" dirty="0"/>
          </a:p>
          <a:p>
            <a:pPr indent="0" marL="0">
              <a:lnSpc>
                <a:spcPts val="1600"/>
              </a:lnSpc>
              <a:buNone/>
            </a:pPr>
            <a:r>
              <a:rPr lang="en-US" sz="1100" dirty="0">
                <a:solidFill>
                  <a:srgbClr val="CFE3F1"/>
                </a:solidFill>
                <a:latin typeface="Calibri" pitchFamily="34" charset="0"/>
                <a:ea typeface="Calibri" pitchFamily="34" charset="-122"/>
                <a:cs typeface="Calibri" pitchFamily="34" charset="-120"/>
              </a:rPr>
              <a:t>Données, base MySQL, API REST, analyse, dashboard et prévisions</a:t>
            </a:r>
            <a:endParaRPr lang="en-US" sz="1250" dirty="0"/>
          </a:p>
        </p:txBody>
      </p:sp>
      <p:sp>
        <p:nvSpPr>
          <p:cNvPr id="7" name="Text 5"/>
          <p:cNvSpPr txBox="1"/>
          <p:nvPr/>
        </p:nvSpPr>
        <p:spPr>
          <a:xfrm>
            <a:off x="7589520" y="4919472"/>
            <a:ext cx="4023360" cy="320040"/>
          </a:xfrm>
          <a:prstGeom prst="rect">
            <a:avLst/>
          </a:prstGeom>
          <a:noFill/>
          <a:ln/>
        </p:spPr>
        <p:txBody>
          <a:bodyPr wrap="square" lIns="0" tIns="0" rIns="0" bIns="0" rtlCol="0" anchor="ctr"/>
          <a:lstStyle/>
          <a:p>
            <a:pPr algn="r" indent="0" marL="0">
              <a:buNone/>
            </a:pPr>
            <a:r>
              <a:rPr lang="en-US" sz="1200" dirty="0">
                <a:solidFill>
                  <a:srgbClr val="8FC4E3"/>
                </a:solidFill>
                <a:latin typeface="Calibri" pitchFamily="34" charset="0"/>
                <a:ea typeface="Calibri" pitchFamily="34" charset="-122"/>
                <a:cs typeface="Calibri" pitchFamily="34" charset="-120"/>
              </a:rPr>
              <a:t>MySQL 8  ·  API REST Plumber  ·  Shiny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LE SUJET  ·  SALMA</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Cinq formats en entrée, une chaîne en quatre étages</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Vols au départ de JFK, LGA et EWR sur un an — données Bureau of Transportation Statistics.</a:t>
            </a:r>
            <a:endParaRPr lang="en-US" sz="1400" dirty="0"/>
          </a:p>
        </p:txBody>
      </p:sp>
      <p:sp>
        <p:nvSpPr>
          <p:cNvPr id="5" name="Shape 3"/>
          <p:cNvSpPr/>
          <p:nvPr/>
        </p:nvSpPr>
        <p:spPr>
          <a:xfrm>
            <a:off x="566928" y="1965960"/>
            <a:ext cx="2615184" cy="1188720"/>
          </a:xfrm>
          <a:prstGeom prst="roundRect">
            <a:avLst>
              <a:gd name="adj" fmla="val 6154"/>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713232" y="2075688"/>
            <a:ext cx="2322576" cy="566928"/>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252 704</a:t>
            </a:r>
            <a:endParaRPr lang="en-US" sz="2600" dirty="0"/>
          </a:p>
        </p:txBody>
      </p:sp>
      <p:sp>
        <p:nvSpPr>
          <p:cNvPr id="7" name="Text 5"/>
          <p:cNvSpPr txBox="1"/>
          <p:nvPr/>
        </p:nvSpPr>
        <p:spPr>
          <a:xfrm>
            <a:off x="713232" y="2642616"/>
            <a:ext cx="2322576" cy="402336"/>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vols enregistrés</a:t>
            </a:r>
            <a:endParaRPr lang="en-US" sz="1150" dirty="0"/>
          </a:p>
        </p:txBody>
      </p:sp>
      <p:sp>
        <p:nvSpPr>
          <p:cNvPr id="8" name="Shape 6"/>
          <p:cNvSpPr/>
          <p:nvPr/>
        </p:nvSpPr>
        <p:spPr>
          <a:xfrm>
            <a:off x="3364992" y="1965960"/>
            <a:ext cx="2615184" cy="1188720"/>
          </a:xfrm>
          <a:prstGeom prst="roundRect">
            <a:avLst>
              <a:gd name="adj" fmla="val 6154"/>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9" name="Text 7"/>
          <p:cNvSpPr txBox="1"/>
          <p:nvPr/>
        </p:nvSpPr>
        <p:spPr>
          <a:xfrm>
            <a:off x="3511296" y="2075688"/>
            <a:ext cx="2322576" cy="566928"/>
          </a:xfrm>
          <a:prstGeom prst="rect">
            <a:avLst/>
          </a:prstGeom>
          <a:noFill/>
          <a:ln/>
        </p:spPr>
        <p:txBody>
          <a:bodyPr wrap="square" lIns="0" tIns="0" rIns="0" bIns="0" rtlCol="0" anchor="ctr"/>
          <a:lstStyle/>
          <a:p>
            <a:pPr indent="0" marL="0">
              <a:buNone/>
            </a:pPr>
            <a:r>
              <a:rPr lang="en-US" sz="2600" b="1" dirty="0">
                <a:solidFill>
                  <a:srgbClr val="0B3C5D"/>
                </a:solidFill>
                <a:latin typeface="Cambria" pitchFamily="34" charset="0"/>
                <a:ea typeface="Cambria" pitchFamily="34" charset="-122"/>
                <a:cs typeface="Cambria" pitchFamily="34" charset="-120"/>
              </a:rPr>
              <a:t>103</a:t>
            </a:r>
            <a:endParaRPr lang="en-US" sz="2600" dirty="0"/>
          </a:p>
        </p:txBody>
      </p:sp>
      <p:sp>
        <p:nvSpPr>
          <p:cNvPr id="10" name="Text 8"/>
          <p:cNvSpPr txBox="1"/>
          <p:nvPr/>
        </p:nvSpPr>
        <p:spPr>
          <a:xfrm>
            <a:off x="3511296" y="2642616"/>
            <a:ext cx="2322576" cy="40233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destinations desservies</a:t>
            </a:r>
            <a:endParaRPr lang="en-US" sz="1150" dirty="0"/>
          </a:p>
        </p:txBody>
      </p:sp>
      <p:sp>
        <p:nvSpPr>
          <p:cNvPr id="11" name="Shape 9"/>
          <p:cNvSpPr/>
          <p:nvPr/>
        </p:nvSpPr>
        <p:spPr>
          <a:xfrm>
            <a:off x="6163056" y="1965960"/>
            <a:ext cx="2615184" cy="1188720"/>
          </a:xfrm>
          <a:prstGeom prst="roundRect">
            <a:avLst>
              <a:gd name="adj" fmla="val 6154"/>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2" name="Text 10"/>
          <p:cNvSpPr txBox="1"/>
          <p:nvPr/>
        </p:nvSpPr>
        <p:spPr>
          <a:xfrm>
            <a:off x="6309360" y="2075688"/>
            <a:ext cx="2322576" cy="566928"/>
          </a:xfrm>
          <a:prstGeom prst="rect">
            <a:avLst/>
          </a:prstGeom>
          <a:noFill/>
          <a:ln/>
        </p:spPr>
        <p:txBody>
          <a:bodyPr wrap="square" lIns="0" tIns="0" rIns="0" bIns="0" rtlCol="0" anchor="ctr"/>
          <a:lstStyle/>
          <a:p>
            <a:pPr indent="0" marL="0">
              <a:buNone/>
            </a:pPr>
            <a:r>
              <a:rPr lang="en-US" sz="2600" b="1" dirty="0">
                <a:solidFill>
                  <a:srgbClr val="0B3C5D"/>
                </a:solidFill>
                <a:latin typeface="Cambria" pitchFamily="34" charset="0"/>
                <a:ea typeface="Cambria" pitchFamily="34" charset="-122"/>
                <a:cs typeface="Cambria" pitchFamily="34" charset="-120"/>
              </a:rPr>
              <a:t>16</a:t>
            </a:r>
            <a:endParaRPr lang="en-US" sz="2600" dirty="0"/>
          </a:p>
        </p:txBody>
      </p:sp>
      <p:sp>
        <p:nvSpPr>
          <p:cNvPr id="13" name="Text 11"/>
          <p:cNvSpPr txBox="1"/>
          <p:nvPr/>
        </p:nvSpPr>
        <p:spPr>
          <a:xfrm>
            <a:off x="6309360" y="2642616"/>
            <a:ext cx="2322576" cy="40233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compagnies</a:t>
            </a:r>
            <a:endParaRPr lang="en-US" sz="1150" dirty="0"/>
          </a:p>
        </p:txBody>
      </p:sp>
      <p:sp>
        <p:nvSpPr>
          <p:cNvPr id="14" name="Shape 12"/>
          <p:cNvSpPr/>
          <p:nvPr/>
        </p:nvSpPr>
        <p:spPr>
          <a:xfrm>
            <a:off x="8961120" y="1965960"/>
            <a:ext cx="2615184" cy="1188720"/>
          </a:xfrm>
          <a:prstGeom prst="roundRect">
            <a:avLst>
              <a:gd name="adj" fmla="val 6154"/>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5" name="Text 13"/>
          <p:cNvSpPr txBox="1"/>
          <p:nvPr/>
        </p:nvSpPr>
        <p:spPr>
          <a:xfrm>
            <a:off x="9107424" y="2075688"/>
            <a:ext cx="2322576" cy="566928"/>
          </a:xfrm>
          <a:prstGeom prst="rect">
            <a:avLst/>
          </a:prstGeom>
          <a:noFill/>
          <a:ln/>
        </p:spPr>
        <p:txBody>
          <a:bodyPr wrap="square" lIns="0" tIns="0" rIns="0" bIns="0" rtlCol="0" anchor="ctr"/>
          <a:lstStyle/>
          <a:p>
            <a:pPr indent="0" marL="0">
              <a:buNone/>
            </a:pPr>
            <a:r>
              <a:rPr lang="en-US" sz="2600" b="1" dirty="0">
                <a:solidFill>
                  <a:srgbClr val="0B3C5D"/>
                </a:solidFill>
                <a:latin typeface="Cambria" pitchFamily="34" charset="0"/>
                <a:ea typeface="Cambria" pitchFamily="34" charset="-122"/>
                <a:cs typeface="Cambria" pitchFamily="34" charset="-120"/>
              </a:rPr>
              <a:t>1 462</a:t>
            </a:r>
            <a:endParaRPr lang="en-US" sz="2600" dirty="0"/>
          </a:p>
        </p:txBody>
      </p:sp>
      <p:sp>
        <p:nvSpPr>
          <p:cNvPr id="16" name="Text 14"/>
          <p:cNvSpPr txBox="1"/>
          <p:nvPr/>
        </p:nvSpPr>
        <p:spPr>
          <a:xfrm>
            <a:off x="9107424" y="2642616"/>
            <a:ext cx="2322576" cy="40233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aéroports référencés</a:t>
            </a:r>
            <a:endParaRPr lang="en-US" sz="1150" dirty="0"/>
          </a:p>
        </p:txBody>
      </p:sp>
      <p:sp>
        <p:nvSpPr>
          <p:cNvPr id="17" name="Text 15"/>
          <p:cNvSpPr txBox="1"/>
          <p:nvPr/>
        </p:nvSpPr>
        <p:spPr>
          <a:xfrm>
            <a:off x="566928" y="3474720"/>
            <a:ext cx="5120640" cy="274320"/>
          </a:xfrm>
          <a:prstGeom prst="rect">
            <a:avLst/>
          </a:prstGeom>
          <a:noFill/>
          <a:ln/>
        </p:spPr>
        <p:txBody>
          <a:bodyPr wrap="square" lIns="0" tIns="0" rIns="0" bIns="0" rtlCol="0" anchor="ctr"/>
          <a:lstStyle/>
          <a:p>
            <a:pPr indent="0" marL="0">
              <a:buNone/>
            </a:pPr>
            <a:r>
              <a:rPr lang="en-US" sz="1500" b="1" dirty="0">
                <a:solidFill>
                  <a:srgbClr val="12202B"/>
                </a:solidFill>
                <a:latin typeface="Cambria" pitchFamily="34" charset="0"/>
                <a:ea typeface="Cambria" pitchFamily="34" charset="-122"/>
                <a:cs typeface="Cambria" pitchFamily="34" charset="-120"/>
              </a:rPr>
              <a:t>Les cinq sources</a:t>
            </a:r>
            <a:endParaRPr lang="en-US" sz="1500" dirty="0"/>
          </a:p>
        </p:txBody>
      </p:sp>
      <p:sp>
        <p:nvSpPr>
          <p:cNvPr id="18" name="Text 16"/>
          <p:cNvSpPr txBox="1"/>
          <p:nvPr/>
        </p:nvSpPr>
        <p:spPr>
          <a:xfrm>
            <a:off x="566928" y="3794760"/>
            <a:ext cx="5212080" cy="210312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airlines.json — les compagnies</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airports.xlsx — aéroports, coordonnées, fuseaux</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flights.xlsx — les vols, table centrale</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planes.html — la flotte, page web à parser</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weather.pdf — la météo horaire, extraite d'un PDF</a:t>
            </a:r>
            <a:endParaRPr lang="en-US" sz="1200" dirty="0"/>
          </a:p>
        </p:txBody>
      </p:sp>
      <p:sp>
        <p:nvSpPr>
          <p:cNvPr id="19" name="Text 17"/>
          <p:cNvSpPr txBox="1"/>
          <p:nvPr/>
        </p:nvSpPr>
        <p:spPr>
          <a:xfrm>
            <a:off x="6309360" y="3474720"/>
            <a:ext cx="5303520" cy="274320"/>
          </a:xfrm>
          <a:prstGeom prst="rect">
            <a:avLst/>
          </a:prstGeom>
          <a:noFill/>
          <a:ln/>
        </p:spPr>
        <p:txBody>
          <a:bodyPr wrap="square" lIns="0" tIns="0" rIns="0" bIns="0" rtlCol="0" anchor="ctr"/>
          <a:lstStyle/>
          <a:p>
            <a:pPr indent="0" marL="0">
              <a:buNone/>
            </a:pPr>
            <a:r>
              <a:rPr lang="en-US" sz="1500" b="1" dirty="0">
                <a:solidFill>
                  <a:srgbClr val="12202B"/>
                </a:solidFill>
                <a:latin typeface="Cambria" pitchFamily="34" charset="0"/>
                <a:ea typeface="Cambria" pitchFamily="34" charset="-122"/>
                <a:cs typeface="Cambria" pitchFamily="34" charset="-120"/>
              </a:rPr>
              <a:t>Qui fait quoi</a:t>
            </a:r>
            <a:endParaRPr lang="en-US" sz="1500" dirty="0"/>
          </a:p>
        </p:txBody>
      </p:sp>
      <p:sp>
        <p:nvSpPr>
          <p:cNvPr id="20" name="Shape 18"/>
          <p:cNvSpPr/>
          <p:nvPr/>
        </p:nvSpPr>
        <p:spPr>
          <a:xfrm>
            <a:off x="6309360" y="3794760"/>
            <a:ext cx="5330952" cy="365760"/>
          </a:xfrm>
          <a:prstGeom prst="roundRect">
            <a:avLst>
              <a:gd name="adj" fmla="val 20000"/>
            </a:avLst>
          </a:prstGeom>
          <a:solidFill>
            <a:srgbClr val="F4F7FA"/>
          </a:solidFill>
          <a:ln w="12700">
            <a:solidFill>
              <a:srgbClr val="F4F7FA"/>
            </a:solidFill>
            <a:prstDash val="solid"/>
          </a:ln>
        </p:spPr>
      </p:sp>
      <p:sp>
        <p:nvSpPr>
          <p:cNvPr id="21" name="Text 19"/>
          <p:cNvSpPr txBox="1"/>
          <p:nvPr/>
        </p:nvSpPr>
        <p:spPr>
          <a:xfrm>
            <a:off x="6455664" y="3822192"/>
            <a:ext cx="338328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Nettoyage et injection</a:t>
            </a:r>
            <a:endParaRPr lang="en-US" sz="1200" dirty="0"/>
          </a:p>
        </p:txBody>
      </p:sp>
      <p:sp>
        <p:nvSpPr>
          <p:cNvPr id="22" name="Text 20"/>
          <p:cNvSpPr txBox="1"/>
          <p:nvPr/>
        </p:nvSpPr>
        <p:spPr>
          <a:xfrm>
            <a:off x="9875520" y="3822192"/>
            <a:ext cx="1600200" cy="310896"/>
          </a:xfrm>
          <a:prstGeom prst="rect">
            <a:avLst/>
          </a:prstGeom>
          <a:noFill/>
          <a:ln/>
        </p:spPr>
        <p:txBody>
          <a:bodyPr wrap="square" lIns="0" tIns="0" rIns="0" bIns="0" rtlCol="0" anchor="ctr"/>
          <a:lstStyle/>
          <a:p>
            <a:pPr algn="r" indent="0" marL="0">
              <a:buNone/>
            </a:pPr>
            <a:r>
              <a:rPr lang="en-US" sz="1200" b="1" dirty="0">
                <a:solidFill>
                  <a:srgbClr val="2E9E6B"/>
                </a:solidFill>
                <a:latin typeface="Calibri" pitchFamily="34" charset="0"/>
                <a:ea typeface="Calibri" pitchFamily="34" charset="-122"/>
                <a:cs typeface="Calibri" pitchFamily="34" charset="-120"/>
              </a:rPr>
              <a:t>Salma</a:t>
            </a:r>
            <a:endParaRPr lang="en-US" sz="1200" dirty="0"/>
          </a:p>
        </p:txBody>
      </p:sp>
      <p:sp>
        <p:nvSpPr>
          <p:cNvPr id="23" name="Text 21"/>
          <p:cNvSpPr txBox="1"/>
          <p:nvPr/>
        </p:nvSpPr>
        <p:spPr>
          <a:xfrm>
            <a:off x="6455664" y="4224528"/>
            <a:ext cx="338328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Schéma MySQL</a:t>
            </a:r>
            <a:endParaRPr lang="en-US" sz="1200" dirty="0"/>
          </a:p>
        </p:txBody>
      </p:sp>
      <p:sp>
        <p:nvSpPr>
          <p:cNvPr id="24" name="Text 22"/>
          <p:cNvSpPr txBox="1"/>
          <p:nvPr/>
        </p:nvSpPr>
        <p:spPr>
          <a:xfrm>
            <a:off x="9875520" y="4224528"/>
            <a:ext cx="1600200" cy="310896"/>
          </a:xfrm>
          <a:prstGeom prst="rect">
            <a:avLst/>
          </a:prstGeom>
          <a:noFill/>
          <a:ln/>
        </p:spPr>
        <p:txBody>
          <a:bodyPr wrap="square" lIns="0" tIns="0" rIns="0" bIns="0" rtlCol="0" anchor="ctr"/>
          <a:lstStyle/>
          <a:p>
            <a:pPr algn="r" indent="0" marL="0">
              <a:buNone/>
            </a:pPr>
            <a:r>
              <a:rPr lang="en-US" sz="1200" b="1" dirty="0">
                <a:solidFill>
                  <a:srgbClr val="1D8AC1"/>
                </a:solidFill>
                <a:latin typeface="Calibri" pitchFamily="34" charset="0"/>
                <a:ea typeface="Calibri" pitchFamily="34" charset="-122"/>
                <a:cs typeface="Calibri" pitchFamily="34" charset="-120"/>
              </a:rPr>
              <a:t>Meissa</a:t>
            </a:r>
            <a:endParaRPr lang="en-US" sz="1200" dirty="0"/>
          </a:p>
        </p:txBody>
      </p:sp>
      <p:sp>
        <p:nvSpPr>
          <p:cNvPr id="25" name="Shape 23"/>
          <p:cNvSpPr/>
          <p:nvPr/>
        </p:nvSpPr>
        <p:spPr>
          <a:xfrm>
            <a:off x="6309360" y="4599432"/>
            <a:ext cx="5330952" cy="365760"/>
          </a:xfrm>
          <a:prstGeom prst="roundRect">
            <a:avLst>
              <a:gd name="adj" fmla="val 20000"/>
            </a:avLst>
          </a:prstGeom>
          <a:solidFill>
            <a:srgbClr val="F4F7FA"/>
          </a:solidFill>
          <a:ln w="12700">
            <a:solidFill>
              <a:srgbClr val="F4F7FA"/>
            </a:solidFill>
            <a:prstDash val="solid"/>
          </a:ln>
        </p:spPr>
      </p:sp>
      <p:sp>
        <p:nvSpPr>
          <p:cNvPr id="26" name="Text 24"/>
          <p:cNvSpPr txBox="1"/>
          <p:nvPr/>
        </p:nvSpPr>
        <p:spPr>
          <a:xfrm>
            <a:off x="6455664" y="4626864"/>
            <a:ext cx="338328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API REST Plumber</a:t>
            </a:r>
            <a:endParaRPr lang="en-US" sz="1200" dirty="0"/>
          </a:p>
        </p:txBody>
      </p:sp>
      <p:sp>
        <p:nvSpPr>
          <p:cNvPr id="27" name="Text 25"/>
          <p:cNvSpPr txBox="1"/>
          <p:nvPr/>
        </p:nvSpPr>
        <p:spPr>
          <a:xfrm>
            <a:off x="9875520" y="4626864"/>
            <a:ext cx="1600200" cy="310896"/>
          </a:xfrm>
          <a:prstGeom prst="rect">
            <a:avLst/>
          </a:prstGeom>
          <a:noFill/>
          <a:ln/>
        </p:spPr>
        <p:txBody>
          <a:bodyPr wrap="square" lIns="0" tIns="0" rIns="0" bIns="0" rtlCol="0" anchor="ctr"/>
          <a:lstStyle/>
          <a:p>
            <a:pPr algn="r" indent="0" marL="0">
              <a:buNone/>
            </a:pPr>
            <a:r>
              <a:rPr lang="en-US" sz="1200" b="1" dirty="0">
                <a:solidFill>
                  <a:srgbClr val="1D8AC1"/>
                </a:solidFill>
                <a:latin typeface="Calibri" pitchFamily="34" charset="0"/>
                <a:ea typeface="Calibri" pitchFamily="34" charset="-122"/>
                <a:cs typeface="Calibri" pitchFamily="34" charset="-120"/>
              </a:rPr>
              <a:t>Hedi</a:t>
            </a:r>
            <a:endParaRPr lang="en-US" sz="1200" dirty="0"/>
          </a:p>
        </p:txBody>
      </p:sp>
      <p:sp>
        <p:nvSpPr>
          <p:cNvPr id="28" name="Text 26"/>
          <p:cNvSpPr txBox="1"/>
          <p:nvPr/>
        </p:nvSpPr>
        <p:spPr>
          <a:xfrm>
            <a:off x="6455664" y="5029200"/>
            <a:ext cx="338328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Analyse et statistiques</a:t>
            </a:r>
            <a:endParaRPr lang="en-US" sz="1200" dirty="0"/>
          </a:p>
        </p:txBody>
      </p:sp>
      <p:sp>
        <p:nvSpPr>
          <p:cNvPr id="29" name="Text 27"/>
          <p:cNvSpPr txBox="1"/>
          <p:nvPr/>
        </p:nvSpPr>
        <p:spPr>
          <a:xfrm>
            <a:off x="9875520" y="5029200"/>
            <a:ext cx="1600200" cy="310896"/>
          </a:xfrm>
          <a:prstGeom prst="rect">
            <a:avLst/>
          </a:prstGeom>
          <a:noFill/>
          <a:ln/>
        </p:spPr>
        <p:txBody>
          <a:bodyPr wrap="square" lIns="0" tIns="0" rIns="0" bIns="0" rtlCol="0" anchor="ctr"/>
          <a:lstStyle/>
          <a:p>
            <a:pPr algn="r" indent="0" marL="0">
              <a:buNone/>
            </a:pPr>
            <a:r>
              <a:rPr lang="en-US" sz="1200" b="1" dirty="0">
                <a:solidFill>
                  <a:srgbClr val="1D8AC1"/>
                </a:solidFill>
                <a:latin typeface="Calibri" pitchFamily="34" charset="0"/>
                <a:ea typeface="Calibri" pitchFamily="34" charset="-122"/>
                <a:cs typeface="Calibri" pitchFamily="34" charset="-120"/>
              </a:rPr>
              <a:t>Hassan</a:t>
            </a:r>
            <a:endParaRPr lang="en-US" sz="1200" dirty="0"/>
          </a:p>
        </p:txBody>
      </p:sp>
      <p:sp>
        <p:nvSpPr>
          <p:cNvPr id="30" name="Shape 28"/>
          <p:cNvSpPr/>
          <p:nvPr/>
        </p:nvSpPr>
        <p:spPr>
          <a:xfrm>
            <a:off x="6309360" y="5404104"/>
            <a:ext cx="5330952" cy="365760"/>
          </a:xfrm>
          <a:prstGeom prst="roundRect">
            <a:avLst>
              <a:gd name="adj" fmla="val 20000"/>
            </a:avLst>
          </a:prstGeom>
          <a:solidFill>
            <a:srgbClr val="F4F7FA"/>
          </a:solidFill>
          <a:ln w="12700">
            <a:solidFill>
              <a:srgbClr val="F4F7FA"/>
            </a:solidFill>
            <a:prstDash val="solid"/>
          </a:ln>
        </p:spPr>
      </p:sp>
      <p:sp>
        <p:nvSpPr>
          <p:cNvPr id="31" name="Text 29"/>
          <p:cNvSpPr txBox="1"/>
          <p:nvPr/>
        </p:nvSpPr>
        <p:spPr>
          <a:xfrm>
            <a:off x="6455664" y="5431536"/>
            <a:ext cx="338328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Dashboard et prévisions</a:t>
            </a:r>
            <a:endParaRPr lang="en-US" sz="1200" dirty="0"/>
          </a:p>
        </p:txBody>
      </p:sp>
      <p:sp>
        <p:nvSpPr>
          <p:cNvPr id="32" name="Text 30"/>
          <p:cNvSpPr txBox="1"/>
          <p:nvPr/>
        </p:nvSpPr>
        <p:spPr>
          <a:xfrm>
            <a:off x="9875520" y="5431536"/>
            <a:ext cx="1600200" cy="310896"/>
          </a:xfrm>
          <a:prstGeom prst="rect">
            <a:avLst/>
          </a:prstGeom>
          <a:noFill/>
          <a:ln/>
        </p:spPr>
        <p:txBody>
          <a:bodyPr wrap="square" lIns="0" tIns="0" rIns="0" bIns="0" rtlCol="0" anchor="ctr"/>
          <a:lstStyle/>
          <a:p>
            <a:pPr algn="r" indent="0" marL="0">
              <a:buNone/>
            </a:pPr>
            <a:r>
              <a:rPr lang="en-US" sz="1200" b="1" dirty="0">
                <a:solidFill>
                  <a:srgbClr val="E4572E"/>
                </a:solidFill>
                <a:latin typeface="Calibri" pitchFamily="34" charset="0"/>
                <a:ea typeface="Calibri" pitchFamily="34" charset="-122"/>
                <a:cs typeface="Calibri" pitchFamily="34" charset="-120"/>
              </a:rPr>
              <a:t>Marcus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BLOC 1 — DONNÉES  ·  SALMA</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Les anomalies trouvées, et ce qu'on en a fait</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Règle tenue d'un bout à l'autre : ne jamais inventer une valeur.</a:t>
            </a:r>
            <a:endParaRPr lang="en-US" sz="1400" dirty="0"/>
          </a:p>
        </p:txBody>
      </p:sp>
      <p:sp>
        <p:nvSpPr>
          <p:cNvPr id="5" name="Shape 3"/>
          <p:cNvSpPr/>
          <p:nvPr/>
        </p:nvSpPr>
        <p:spPr>
          <a:xfrm>
            <a:off x="566928" y="2011680"/>
            <a:ext cx="5532120" cy="1325880"/>
          </a:xfrm>
          <a:prstGeom prst="roundRect">
            <a:avLst>
              <a:gd name="adj" fmla="val 551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6" name="Shape 4"/>
          <p:cNvSpPr/>
          <p:nvPr/>
        </p:nvSpPr>
        <p:spPr>
          <a:xfrm>
            <a:off x="768096" y="2194560"/>
            <a:ext cx="292608" cy="292608"/>
          </a:xfrm>
          <a:prstGeom prst="ellipse">
            <a:avLst/>
          </a:prstGeom>
          <a:solidFill>
            <a:srgbClr val="1D8AC1"/>
          </a:solidFill>
          <a:ln w="12700">
            <a:solidFill>
              <a:srgbClr val="1D8AC1"/>
            </a:solidFill>
            <a:prstDash val="solid"/>
          </a:ln>
        </p:spPr>
      </p:sp>
      <p:sp>
        <p:nvSpPr>
          <p:cNvPr id="7" name="Text 5"/>
          <p:cNvSpPr txBox="1"/>
          <p:nvPr/>
        </p:nvSpPr>
        <p:spPr>
          <a:xfrm>
            <a:off x="768096" y="2221992"/>
            <a:ext cx="292608"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1</a:t>
            </a:r>
            <a:endParaRPr lang="en-US" sz="1050" dirty="0"/>
          </a:p>
        </p:txBody>
      </p:sp>
      <p:sp>
        <p:nvSpPr>
          <p:cNvPr id="8" name="Text 6"/>
          <p:cNvSpPr txBox="1"/>
          <p:nvPr/>
        </p:nvSpPr>
        <p:spPr>
          <a:xfrm>
            <a:off x="1170432" y="2176272"/>
            <a:ext cx="4663440" cy="292608"/>
          </a:xfrm>
          <a:prstGeom prst="rect">
            <a:avLst/>
          </a:prstGeom>
          <a:noFill/>
          <a:ln/>
        </p:spPr>
        <p:txBody>
          <a:bodyPr wrap="square" lIns="0" tIns="0" rIns="0" bIns="0" rtlCol="0" anchor="ctr"/>
          <a:lstStyle/>
          <a:p>
            <a:pPr indent="0" marL="0">
              <a:buNone/>
            </a:pPr>
            <a:r>
              <a:rPr lang="en-US" sz="1400" b="1" dirty="0">
                <a:solidFill>
                  <a:srgbClr val="12202B"/>
                </a:solidFill>
                <a:latin typeface="Cambria" pitchFamily="34" charset="0"/>
                <a:ea typeface="Cambria" pitchFamily="34" charset="-122"/>
                <a:cs typeface="Cambria" pitchFamily="34" charset="-120"/>
              </a:rPr>
              <a:t>Types et casse</a:t>
            </a:r>
            <a:endParaRPr lang="en-US" sz="1400" dirty="0"/>
          </a:p>
        </p:txBody>
      </p:sp>
      <p:sp>
        <p:nvSpPr>
          <p:cNvPr id="9" name="Text 7"/>
          <p:cNvSpPr txBox="1"/>
          <p:nvPr/>
        </p:nvSpPr>
        <p:spPr>
          <a:xfrm>
            <a:off x="1170432" y="2505456"/>
            <a:ext cx="4709160" cy="749808"/>
          </a:xfrm>
          <a:prstGeom prst="rect">
            <a:avLst/>
          </a:prstGeom>
          <a:noFill/>
          <a:ln/>
        </p:spPr>
        <p:txBody>
          <a:bodyPr wrap="square" lIns="0" tIns="0" rIns="0" bIns="0" rtlCol="0" anchor="t"/>
          <a:lstStyle/>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Chaque colonne convertie explicitement, codes IATA en majuscules et sans espaces : sinon « jfk » et « JFK » deviennent deux aéroports.</a:t>
            </a:r>
            <a:endParaRPr lang="en-US" sz="1100" dirty="0"/>
          </a:p>
        </p:txBody>
      </p:sp>
      <p:sp>
        <p:nvSpPr>
          <p:cNvPr id="10" name="Shape 8"/>
          <p:cNvSpPr/>
          <p:nvPr/>
        </p:nvSpPr>
        <p:spPr>
          <a:xfrm>
            <a:off x="6373368" y="2011680"/>
            <a:ext cx="5532120" cy="1325880"/>
          </a:xfrm>
          <a:prstGeom prst="roundRect">
            <a:avLst>
              <a:gd name="adj" fmla="val 551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1" name="Shape 9"/>
          <p:cNvSpPr/>
          <p:nvPr/>
        </p:nvSpPr>
        <p:spPr>
          <a:xfrm>
            <a:off x="6574536" y="2194560"/>
            <a:ext cx="292608" cy="292608"/>
          </a:xfrm>
          <a:prstGeom prst="ellipse">
            <a:avLst/>
          </a:prstGeom>
          <a:solidFill>
            <a:srgbClr val="1D8AC1"/>
          </a:solidFill>
          <a:ln w="12700">
            <a:solidFill>
              <a:srgbClr val="1D8AC1"/>
            </a:solidFill>
            <a:prstDash val="solid"/>
          </a:ln>
        </p:spPr>
      </p:sp>
      <p:sp>
        <p:nvSpPr>
          <p:cNvPr id="12" name="Text 10"/>
          <p:cNvSpPr txBox="1"/>
          <p:nvPr/>
        </p:nvSpPr>
        <p:spPr>
          <a:xfrm>
            <a:off x="6574536" y="2221992"/>
            <a:ext cx="292608"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a:t>
            </a:r>
            <a:endParaRPr lang="en-US" sz="1050" dirty="0"/>
          </a:p>
        </p:txBody>
      </p:sp>
      <p:sp>
        <p:nvSpPr>
          <p:cNvPr id="13" name="Text 11"/>
          <p:cNvSpPr txBox="1"/>
          <p:nvPr/>
        </p:nvSpPr>
        <p:spPr>
          <a:xfrm>
            <a:off x="6976872" y="2176272"/>
            <a:ext cx="4663440" cy="292608"/>
          </a:xfrm>
          <a:prstGeom prst="rect">
            <a:avLst/>
          </a:prstGeom>
          <a:noFill/>
          <a:ln/>
        </p:spPr>
        <p:txBody>
          <a:bodyPr wrap="square" lIns="0" tIns="0" rIns="0" bIns="0" rtlCol="0" anchor="ctr"/>
          <a:lstStyle/>
          <a:p>
            <a:pPr indent="0" marL="0">
              <a:buNone/>
            </a:pPr>
            <a:r>
              <a:rPr lang="en-US" sz="1400" b="1" dirty="0">
                <a:solidFill>
                  <a:srgbClr val="12202B"/>
                </a:solidFill>
                <a:latin typeface="Cambria" pitchFamily="34" charset="0"/>
                <a:ea typeface="Cambria" pitchFamily="34" charset="-122"/>
                <a:cs typeface="Cambria" pitchFamily="34" charset="-120"/>
              </a:rPr>
              <a:t>Valeurs hors bornes</a:t>
            </a:r>
            <a:endParaRPr lang="en-US" sz="1400" dirty="0"/>
          </a:p>
        </p:txBody>
      </p:sp>
      <p:sp>
        <p:nvSpPr>
          <p:cNvPr id="14" name="Text 12"/>
          <p:cNvSpPr txBox="1"/>
          <p:nvPr/>
        </p:nvSpPr>
        <p:spPr>
          <a:xfrm>
            <a:off x="6976872" y="2505456"/>
            <a:ext cx="4709160" cy="749808"/>
          </a:xfrm>
          <a:prstGeom prst="rect">
            <a:avLst/>
          </a:prstGeom>
          <a:noFill/>
          <a:ln/>
        </p:spPr>
        <p:txBody>
          <a:bodyPr wrap="square" lIns="0" tIns="0" rIns="0" bIns="0" rtlCol="0" anchor="t"/>
          <a:lstStyle/>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L'heure 24 ramenée à 0 ; humidité hors 0–100 % et minutes hors 0–59 passent à NULL plutôt qu'à une valeur inventée.</a:t>
            </a:r>
            <a:endParaRPr lang="en-US" sz="1100" dirty="0"/>
          </a:p>
        </p:txBody>
      </p:sp>
      <p:sp>
        <p:nvSpPr>
          <p:cNvPr id="15" name="Shape 13"/>
          <p:cNvSpPr/>
          <p:nvPr/>
        </p:nvSpPr>
        <p:spPr>
          <a:xfrm>
            <a:off x="566928" y="3474720"/>
            <a:ext cx="5532120" cy="1325880"/>
          </a:xfrm>
          <a:prstGeom prst="roundRect">
            <a:avLst>
              <a:gd name="adj" fmla="val 551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6" name="Shape 14"/>
          <p:cNvSpPr/>
          <p:nvPr/>
        </p:nvSpPr>
        <p:spPr>
          <a:xfrm>
            <a:off x="768096" y="3657600"/>
            <a:ext cx="292608" cy="292608"/>
          </a:xfrm>
          <a:prstGeom prst="ellipse">
            <a:avLst/>
          </a:prstGeom>
          <a:solidFill>
            <a:srgbClr val="1D8AC1"/>
          </a:solidFill>
          <a:ln w="12700">
            <a:solidFill>
              <a:srgbClr val="1D8AC1"/>
            </a:solidFill>
            <a:prstDash val="solid"/>
          </a:ln>
        </p:spPr>
      </p:sp>
      <p:sp>
        <p:nvSpPr>
          <p:cNvPr id="17" name="Text 15"/>
          <p:cNvSpPr txBox="1"/>
          <p:nvPr/>
        </p:nvSpPr>
        <p:spPr>
          <a:xfrm>
            <a:off x="768096" y="3685032"/>
            <a:ext cx="292608"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3</a:t>
            </a:r>
            <a:endParaRPr lang="en-US" sz="1050" dirty="0"/>
          </a:p>
        </p:txBody>
      </p:sp>
      <p:sp>
        <p:nvSpPr>
          <p:cNvPr id="18" name="Text 16"/>
          <p:cNvSpPr txBox="1"/>
          <p:nvPr/>
        </p:nvSpPr>
        <p:spPr>
          <a:xfrm>
            <a:off x="1170432" y="3639312"/>
            <a:ext cx="4663440" cy="292608"/>
          </a:xfrm>
          <a:prstGeom prst="rect">
            <a:avLst/>
          </a:prstGeom>
          <a:noFill/>
          <a:ln/>
        </p:spPr>
        <p:txBody>
          <a:bodyPr wrap="square" lIns="0" tIns="0" rIns="0" bIns="0" rtlCol="0" anchor="ctr"/>
          <a:lstStyle/>
          <a:p>
            <a:pPr indent="0" marL="0">
              <a:buNone/>
            </a:pPr>
            <a:r>
              <a:rPr lang="en-US" sz="1400" b="1" dirty="0">
                <a:solidFill>
                  <a:srgbClr val="12202B"/>
                </a:solidFill>
                <a:latin typeface="Cambria" pitchFamily="34" charset="0"/>
                <a:ea typeface="Cambria" pitchFamily="34" charset="-122"/>
                <a:cs typeface="Cambria" pitchFamily="34" charset="-120"/>
              </a:rPr>
              <a:t>Doublons météo</a:t>
            </a:r>
            <a:endParaRPr lang="en-US" sz="1400" dirty="0"/>
          </a:p>
        </p:txBody>
      </p:sp>
      <p:sp>
        <p:nvSpPr>
          <p:cNvPr id="19" name="Text 17"/>
          <p:cNvSpPr txBox="1"/>
          <p:nvPr/>
        </p:nvSpPr>
        <p:spPr>
          <a:xfrm>
            <a:off x="1170432" y="3968496"/>
            <a:ext cx="4709160" cy="749808"/>
          </a:xfrm>
          <a:prstGeom prst="rect">
            <a:avLst/>
          </a:prstGeom>
          <a:noFill/>
          <a:ln/>
        </p:spPr>
        <p:txBody>
          <a:bodyPr wrap="square" lIns="0" tIns="0" rIns="0" bIns="0" rtlCol="0" anchor="t"/>
          <a:lstStyle/>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La clé naturelle (aéroport, année, mois, jour, heure) est dédoublonnée avant injection, sinon la contrainte UNIQUE rejette le chargement.</a:t>
            </a:r>
            <a:endParaRPr lang="en-US" sz="1100" dirty="0"/>
          </a:p>
        </p:txBody>
      </p:sp>
      <p:sp>
        <p:nvSpPr>
          <p:cNvPr id="20" name="Shape 18"/>
          <p:cNvSpPr/>
          <p:nvPr/>
        </p:nvSpPr>
        <p:spPr>
          <a:xfrm>
            <a:off x="6373368" y="3474720"/>
            <a:ext cx="5532120" cy="1325880"/>
          </a:xfrm>
          <a:prstGeom prst="roundRect">
            <a:avLst>
              <a:gd name="adj" fmla="val 551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21" name="Shape 19"/>
          <p:cNvSpPr/>
          <p:nvPr/>
        </p:nvSpPr>
        <p:spPr>
          <a:xfrm>
            <a:off x="6574536" y="3657600"/>
            <a:ext cx="292608" cy="292608"/>
          </a:xfrm>
          <a:prstGeom prst="ellipse">
            <a:avLst/>
          </a:prstGeom>
          <a:solidFill>
            <a:srgbClr val="1D8AC1"/>
          </a:solidFill>
          <a:ln w="12700">
            <a:solidFill>
              <a:srgbClr val="1D8AC1"/>
            </a:solidFill>
            <a:prstDash val="solid"/>
          </a:ln>
        </p:spPr>
      </p:sp>
      <p:sp>
        <p:nvSpPr>
          <p:cNvPr id="22" name="Text 20"/>
          <p:cNvSpPr txBox="1"/>
          <p:nvPr/>
        </p:nvSpPr>
        <p:spPr>
          <a:xfrm>
            <a:off x="6574536" y="3685032"/>
            <a:ext cx="292608"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4</a:t>
            </a:r>
            <a:endParaRPr lang="en-US" sz="1050" dirty="0"/>
          </a:p>
        </p:txBody>
      </p:sp>
      <p:sp>
        <p:nvSpPr>
          <p:cNvPr id="23" name="Text 21"/>
          <p:cNvSpPr txBox="1"/>
          <p:nvPr/>
        </p:nvSpPr>
        <p:spPr>
          <a:xfrm>
            <a:off x="6976872" y="3639312"/>
            <a:ext cx="4663440" cy="292608"/>
          </a:xfrm>
          <a:prstGeom prst="rect">
            <a:avLst/>
          </a:prstGeom>
          <a:noFill/>
          <a:ln/>
        </p:spPr>
        <p:txBody>
          <a:bodyPr wrap="square" lIns="0" tIns="0" rIns="0" bIns="0" rtlCol="0" anchor="ctr"/>
          <a:lstStyle/>
          <a:p>
            <a:pPr indent="0" marL="0">
              <a:buNone/>
            </a:pPr>
            <a:r>
              <a:rPr lang="en-US" sz="1400" b="1" dirty="0">
                <a:solidFill>
                  <a:srgbClr val="12202B"/>
                </a:solidFill>
                <a:latin typeface="Cambria" pitchFamily="34" charset="0"/>
                <a:ea typeface="Cambria" pitchFamily="34" charset="-122"/>
                <a:cs typeface="Cambria" pitchFamily="34" charset="-120"/>
              </a:rPr>
              <a:t>Lignes inexploitables</a:t>
            </a:r>
            <a:endParaRPr lang="en-US" sz="1400" dirty="0"/>
          </a:p>
        </p:txBody>
      </p:sp>
      <p:sp>
        <p:nvSpPr>
          <p:cNvPr id="24" name="Text 22"/>
          <p:cNvSpPr txBox="1"/>
          <p:nvPr/>
        </p:nvSpPr>
        <p:spPr>
          <a:xfrm>
            <a:off x="6976872" y="3968496"/>
            <a:ext cx="4709160" cy="749808"/>
          </a:xfrm>
          <a:prstGeom prst="rect">
            <a:avLst/>
          </a:prstGeom>
          <a:noFill/>
          <a:ln/>
        </p:spPr>
        <p:txBody>
          <a:bodyPr wrap="square" lIns="0" tIns="0" rIns="0" bIns="0" rtlCol="0" anchor="t"/>
          <a:lstStyle/>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Vols sans date, sans compagnie, sans origine ou sans destination écartés : ce sont les colonnes déclarées NOT NULL.</a:t>
            </a:r>
            <a:endParaRPr lang="en-US" sz="1100" dirty="0"/>
          </a:p>
        </p:txBody>
      </p:sp>
      <p:sp>
        <p:nvSpPr>
          <p:cNvPr id="25" name="Shape 23"/>
          <p:cNvSpPr/>
          <p:nvPr/>
        </p:nvSpPr>
        <p:spPr>
          <a:xfrm>
            <a:off x="566928" y="5047488"/>
            <a:ext cx="11057839" cy="1143000"/>
          </a:xfrm>
          <a:prstGeom prst="roundRect">
            <a:avLst>
              <a:gd name="adj" fmla="val 6400"/>
            </a:avLst>
          </a:prstGeom>
          <a:solidFill>
            <a:srgbClr val="FBF3EA"/>
          </a:solidFill>
          <a:ln w="12700">
            <a:solidFill>
              <a:srgbClr val="F0DDC6"/>
            </a:solidFill>
            <a:prstDash val="solid"/>
          </a:ln>
          <a:effectLst>
            <a:outerShdw sx="100000" sy="100000" kx="0" ky="0" algn="bl" rotWithShape="0" blurRad="101600" dist="508" dir="5400000">
              <a:srgbClr val="9FB3C4">
                <a:alpha val="28000"/>
              </a:srgbClr>
            </a:outerShdw>
          </a:effectLst>
        </p:spPr>
      </p:sp>
      <p:sp>
        <p:nvSpPr>
          <p:cNvPr id="26" name="Text 24"/>
          <p:cNvSpPr txBox="1"/>
          <p:nvPr/>
        </p:nvSpPr>
        <p:spPr>
          <a:xfrm>
            <a:off x="786384" y="5212080"/>
            <a:ext cx="10600639" cy="868680"/>
          </a:xfrm>
          <a:prstGeom prst="rect">
            <a:avLst/>
          </a:prstGeom>
          <a:noFill/>
          <a:ln/>
        </p:spPr>
        <p:txBody>
          <a:bodyPr wrap="square" lIns="0" tIns="0" rIns="0" bIns="0" rtlCol="0" anchor="t"/>
          <a:lstStyle/>
          <a:p>
            <a:pPr indent="0" marL="0">
              <a:lnSpc>
                <a:spcPts val="1400"/>
              </a:lnSpc>
              <a:buNone/>
            </a:pPr>
            <a:r>
              <a:rPr lang="en-US" sz="1150" b="1" dirty="0">
                <a:solidFill>
                  <a:srgbClr val="12202B"/>
                </a:solidFill>
                <a:latin typeface="Calibri" pitchFamily="34" charset="0"/>
                <a:ea typeface="Calibri" pitchFamily="34" charset="-122"/>
                <a:cs typeface="Calibri" pitchFamily="34" charset="-120"/>
              </a:rPr>
              <a:t>Le cas le plus délicat : les clés étrangères. </a:t>
            </a:r>
            <a:pPr indent="0" marL="0">
              <a:lnSpc>
                <a:spcPts val="1400"/>
              </a:lnSpc>
              <a:buNone/>
            </a:pPr>
            <a:r>
              <a:rPr lang="en-US" sz="1150" dirty="0">
                <a:solidFill>
                  <a:srgbClr val="5A6B7B"/>
                </a:solidFill>
                <a:latin typeface="Calibri" pitchFamily="34" charset="0"/>
                <a:ea typeface="Calibri" pitchFamily="34" charset="-122"/>
                <a:cs typeface="Calibri" pitchFamily="34" charset="-120"/>
              </a:rPr>
              <a:t>Quatre aéroports desservis manquaient dans la table airports — Aguadilla, Ponce, San Juan, Saint Thomas — et des centaines d'immatriculations d'avions aussi. Créés avec leur nom réel quand on le connaissait, sinon en lignes techniques : 1 462 aéroports et 4 038 avions au final, dont 716 avions qui ne portent que leur immatriculation. Ce sont des lignes de service, pas une flotte.</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BLOC 1 — BASE DE DONNÉES  ·  MEISSA</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schéma qui refuse les données incohérentes</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Cinq tables InnoDB en utf8mb4, où chaque règle métier est inscrite dans la structure.</a:t>
            </a:r>
            <a:endParaRPr lang="en-US" sz="1400" dirty="0"/>
          </a:p>
        </p:txBody>
      </p:sp>
      <p:sp>
        <p:nvSpPr>
          <p:cNvPr id="5" name="Shape 3"/>
          <p:cNvSpPr/>
          <p:nvPr/>
        </p:nvSpPr>
        <p:spPr>
          <a:xfrm>
            <a:off x="566928" y="1965960"/>
            <a:ext cx="2615184" cy="1188720"/>
          </a:xfrm>
          <a:prstGeom prst="roundRect">
            <a:avLst>
              <a:gd name="adj" fmla="val 6154"/>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713232" y="2075688"/>
            <a:ext cx="2322576"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5</a:t>
            </a:r>
            <a:endParaRPr lang="en-US" sz="3000" dirty="0"/>
          </a:p>
        </p:txBody>
      </p:sp>
      <p:sp>
        <p:nvSpPr>
          <p:cNvPr id="7" name="Text 5"/>
          <p:cNvSpPr txBox="1"/>
          <p:nvPr/>
        </p:nvSpPr>
        <p:spPr>
          <a:xfrm>
            <a:off x="713232" y="2642616"/>
            <a:ext cx="2322576" cy="402336"/>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tables</a:t>
            </a:r>
            <a:endParaRPr lang="en-US" sz="1150" dirty="0"/>
          </a:p>
        </p:txBody>
      </p:sp>
      <p:sp>
        <p:nvSpPr>
          <p:cNvPr id="8" name="Shape 6"/>
          <p:cNvSpPr/>
          <p:nvPr/>
        </p:nvSpPr>
        <p:spPr>
          <a:xfrm>
            <a:off x="3364992" y="1965960"/>
            <a:ext cx="2615184" cy="1188720"/>
          </a:xfrm>
          <a:prstGeom prst="roundRect">
            <a:avLst>
              <a:gd name="adj" fmla="val 6154"/>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9" name="Text 7"/>
          <p:cNvSpPr txBox="1"/>
          <p:nvPr/>
        </p:nvSpPr>
        <p:spPr>
          <a:xfrm>
            <a:off x="3511296" y="207568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5</a:t>
            </a:r>
            <a:endParaRPr lang="en-US" sz="3000" dirty="0"/>
          </a:p>
        </p:txBody>
      </p:sp>
      <p:sp>
        <p:nvSpPr>
          <p:cNvPr id="10" name="Text 8"/>
          <p:cNvSpPr txBox="1"/>
          <p:nvPr/>
        </p:nvSpPr>
        <p:spPr>
          <a:xfrm>
            <a:off x="3511296" y="2642616"/>
            <a:ext cx="2322576" cy="40233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clés étrangères, dont 4 sur flights</a:t>
            </a:r>
            <a:endParaRPr lang="en-US" sz="1150" dirty="0"/>
          </a:p>
        </p:txBody>
      </p:sp>
      <p:sp>
        <p:nvSpPr>
          <p:cNvPr id="11" name="Shape 9"/>
          <p:cNvSpPr/>
          <p:nvPr/>
        </p:nvSpPr>
        <p:spPr>
          <a:xfrm>
            <a:off x="6163056" y="1965960"/>
            <a:ext cx="2615184" cy="1188720"/>
          </a:xfrm>
          <a:prstGeom prst="roundRect">
            <a:avLst>
              <a:gd name="adj" fmla="val 6154"/>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2" name="Text 10"/>
          <p:cNvSpPr txBox="1"/>
          <p:nvPr/>
        </p:nvSpPr>
        <p:spPr>
          <a:xfrm>
            <a:off x="6309360" y="207568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10</a:t>
            </a:r>
            <a:endParaRPr lang="en-US" sz="3000" dirty="0"/>
          </a:p>
        </p:txBody>
      </p:sp>
      <p:sp>
        <p:nvSpPr>
          <p:cNvPr id="13" name="Text 11"/>
          <p:cNvSpPr txBox="1"/>
          <p:nvPr/>
        </p:nvSpPr>
        <p:spPr>
          <a:xfrm>
            <a:off x="6309360" y="2642616"/>
            <a:ext cx="2322576" cy="40233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contraintes CHECK</a:t>
            </a:r>
            <a:endParaRPr lang="en-US" sz="1150" dirty="0"/>
          </a:p>
        </p:txBody>
      </p:sp>
      <p:sp>
        <p:nvSpPr>
          <p:cNvPr id="14" name="Shape 12"/>
          <p:cNvSpPr/>
          <p:nvPr/>
        </p:nvSpPr>
        <p:spPr>
          <a:xfrm>
            <a:off x="8961120" y="1965960"/>
            <a:ext cx="2615184" cy="1188720"/>
          </a:xfrm>
          <a:prstGeom prst="roundRect">
            <a:avLst>
              <a:gd name="adj" fmla="val 6154"/>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5" name="Text 13"/>
          <p:cNvSpPr txBox="1"/>
          <p:nvPr/>
        </p:nvSpPr>
        <p:spPr>
          <a:xfrm>
            <a:off x="9107424" y="207568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7</a:t>
            </a:r>
            <a:endParaRPr lang="en-US" sz="3000" dirty="0"/>
          </a:p>
        </p:txBody>
      </p:sp>
      <p:sp>
        <p:nvSpPr>
          <p:cNvPr id="16" name="Text 14"/>
          <p:cNvSpPr txBox="1"/>
          <p:nvPr/>
        </p:nvSpPr>
        <p:spPr>
          <a:xfrm>
            <a:off x="9107424" y="2642616"/>
            <a:ext cx="2322576" cy="40233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index de filtre et de jointure</a:t>
            </a:r>
            <a:endParaRPr lang="en-US" sz="1150" dirty="0"/>
          </a:p>
        </p:txBody>
      </p:sp>
      <p:sp>
        <p:nvSpPr>
          <p:cNvPr id="17" name="Text 15"/>
          <p:cNvSpPr txBox="1"/>
          <p:nvPr/>
        </p:nvSpPr>
        <p:spPr>
          <a:xfrm>
            <a:off x="566928" y="3474720"/>
            <a:ext cx="5486400" cy="292608"/>
          </a:xfrm>
          <a:prstGeom prst="rect">
            <a:avLst/>
          </a:prstGeom>
          <a:noFill/>
          <a:ln/>
        </p:spPr>
        <p:txBody>
          <a:bodyPr wrap="square" lIns="0" tIns="0" rIns="0" bIns="0" rtlCol="0" anchor="ctr"/>
          <a:lstStyle/>
          <a:p>
            <a:pPr indent="0" marL="0">
              <a:buNone/>
            </a:pPr>
            <a:r>
              <a:rPr lang="en-US" sz="1500" b="1" dirty="0">
                <a:solidFill>
                  <a:srgbClr val="12202B"/>
                </a:solidFill>
                <a:latin typeface="Cambria" pitchFamily="34" charset="0"/>
                <a:ea typeface="Cambria" pitchFamily="34" charset="-122"/>
                <a:cs typeface="Cambria" pitchFamily="34" charset="-120"/>
              </a:rPr>
              <a:t>Les choix structurants</a:t>
            </a:r>
            <a:endParaRPr lang="en-US" sz="1500" dirty="0"/>
          </a:p>
        </p:txBody>
      </p:sp>
      <p:sp>
        <p:nvSpPr>
          <p:cNvPr id="18" name="Text 16"/>
          <p:cNvSpPr txBox="1"/>
          <p:nvPr/>
        </p:nvSpPr>
        <p:spPr>
          <a:xfrm>
            <a:off x="566928" y="3794760"/>
            <a:ext cx="5532120" cy="237744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Clés naturelles là où elles existent : code IATA pour les compagnies, code FAA pour les aéroports, immatriculation pour les avions</a:t>
            </a:r>
            <a:endParaRPr lang="en-US" sz="1150" dirty="0"/>
          </a:p>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Clé technique auto-incrémentée pour flights et weather, dont aucune colonne n'identifie une ligne de façon unique</a:t>
            </a:r>
            <a:endParaRPr lang="en-US" sz="1150" dirty="0"/>
          </a:p>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La clé naturelle de weather reste protégée par une contrainte UNIQUE</a:t>
            </a:r>
            <a:endParaRPr lang="en-US" sz="1150" dirty="0"/>
          </a:p>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ON DELETE RESTRICT partout, sauf l'avion d'un vol qui passe à NULL : supprimer un avion ne doit pas effacer son historique</a:t>
            </a:r>
            <a:endParaRPr lang="en-US" sz="1150" dirty="0"/>
          </a:p>
        </p:txBody>
      </p:sp>
      <p:sp>
        <p:nvSpPr>
          <p:cNvPr id="19" name="Shape 17"/>
          <p:cNvSpPr/>
          <p:nvPr/>
        </p:nvSpPr>
        <p:spPr>
          <a:xfrm>
            <a:off x="6355080" y="3474720"/>
            <a:ext cx="5285232" cy="2697480"/>
          </a:xfrm>
          <a:prstGeom prst="roundRect">
            <a:avLst>
              <a:gd name="adj" fmla="val 2712"/>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20" name="Text 18"/>
          <p:cNvSpPr txBox="1"/>
          <p:nvPr/>
        </p:nvSpPr>
        <p:spPr>
          <a:xfrm>
            <a:off x="6574536" y="3602736"/>
            <a:ext cx="4846320" cy="27432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Le schéma a servi de garde-fou</a:t>
            </a:r>
            <a:endParaRPr lang="en-US" sz="1100" dirty="0"/>
          </a:p>
        </p:txBody>
      </p:sp>
      <p:sp>
        <p:nvSpPr>
          <p:cNvPr id="21" name="Text 19"/>
          <p:cNvSpPr txBox="1"/>
          <p:nvPr/>
        </p:nvSpPr>
        <p:spPr>
          <a:xfrm>
            <a:off x="6574536" y="3913632"/>
            <a:ext cx="4846320" cy="2148840"/>
          </a:xfrm>
          <a:prstGeom prst="rect">
            <a:avLst/>
          </a:prstGeom>
          <a:noFill/>
          <a:ln/>
        </p:spPr>
        <p:txBody>
          <a:bodyPr wrap="square" lIns="0" tIns="0" rIns="0" bIns="0" rtlCol="0" anchor="t"/>
          <a:lstStyle/>
          <a:p>
            <a:pPr indent="0" marL="0">
              <a:lnSpc>
                <a:spcPts val="1400"/>
              </a:lnSpc>
              <a:buNone/>
            </a:pPr>
            <a:r>
              <a:rPr lang="en-US" sz="1100" dirty="0">
                <a:solidFill>
                  <a:srgbClr val="12202B"/>
                </a:solidFill>
                <a:latin typeface="Calibri" pitchFamily="34" charset="0"/>
                <a:ea typeface="Calibri" pitchFamily="34" charset="-122"/>
                <a:cs typeface="Calibri" pitchFamily="34" charset="-120"/>
              </a:rPr>
              <a:t>Les contraintes ont refusé le premier chargement, et c'est ce qui a révélé les anomalies : quatre aéroports absents, des centaines d'avions inconnus, des doublons météo sur la clé naturelle.</a:t>
            </a:r>
            <a:endParaRPr lang="en-US" sz="1100" dirty="0"/>
          </a:p>
          <a:p>
            <a:pPr indent="0" marL="0">
              <a:lnSpc>
                <a:spcPts val="1400"/>
              </a:lnSpc>
              <a:buNone/>
            </a:pPr>
            <a:r>
              <a:rPr lang="en-US" sz="1100" dirty="0">
                <a:solidFill>
                  <a:srgbClr val="12202B"/>
                </a:solidFill>
                <a:latin typeface="Calibri" pitchFamily="34" charset="0"/>
                <a:ea typeface="Calibri" pitchFamily="34" charset="-122"/>
                <a:cs typeface="Calibri" pitchFamily="34" charset="-120"/>
              </a:rPr>
              <a:t>Un schéma permissif aurait tout accepté et les incohérences seraient ressorties plus tard, dans les analyses.</a:t>
            </a:r>
            <a:endParaRPr lang="en-US" sz="1100" dirty="0"/>
          </a:p>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Autrement dit, les 10 CHECK et les 5 clés étrangères ne sont pas de la décoration : ce sont eux qui ont dicté le travail de nettoyage.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BLOC 1 — LE TEMPS  ·  MEISSA</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Le temps et les fuseaux horaires, sans faire semblant</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Ce que la base stocke, ce qu'elle ne convertit pas, et pourquoi c'est un choix.</a:t>
            </a:r>
            <a:endParaRPr lang="en-US" sz="1400" dirty="0"/>
          </a:p>
        </p:txBody>
      </p:sp>
      <p:sp>
        <p:nvSpPr>
          <p:cNvPr id="5" name="Shape 3"/>
          <p:cNvSpPr/>
          <p:nvPr/>
        </p:nvSpPr>
        <p:spPr>
          <a:xfrm>
            <a:off x="566928" y="2057400"/>
            <a:ext cx="5440680" cy="2103120"/>
          </a:xfrm>
          <a:prstGeom prst="roundRect">
            <a:avLst>
              <a:gd name="adj" fmla="val 3478"/>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786384" y="2185416"/>
            <a:ext cx="4937760" cy="27432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Ce que la base contient</a:t>
            </a:r>
            <a:endParaRPr lang="en-US" sz="1100" dirty="0"/>
          </a:p>
        </p:txBody>
      </p:sp>
      <p:sp>
        <p:nvSpPr>
          <p:cNvPr id="7" name="Text 5"/>
          <p:cNvSpPr txBox="1"/>
          <p:nvPr/>
        </p:nvSpPr>
        <p:spPr>
          <a:xfrm>
            <a:off x="786384" y="2496312"/>
            <a:ext cx="4983480" cy="1554480"/>
          </a:xfrm>
          <a:prstGeom prst="rect">
            <a:avLst/>
          </a:prstGeom>
          <a:noFill/>
          <a:ln/>
        </p:spPr>
        <p:txBody>
          <a:bodyPr wrap="square" lIns="0" tIns="0" rIns="0" bIns="0" rtlCol="0" anchor="t"/>
          <a:lstStyle/>
          <a:p>
            <a:pPr indent="0" marL="0">
              <a:lnSpc>
                <a:spcPts val="1500"/>
              </a:lnSpc>
              <a:buNone/>
            </a:pPr>
            <a:r>
              <a:rPr lang="en-US" sz="1150" dirty="0">
                <a:solidFill>
                  <a:srgbClr val="12202B"/>
                </a:solidFill>
                <a:latin typeface="Calibri" pitchFamily="34" charset="0"/>
                <a:ea typeface="Calibri" pitchFamily="34" charset="-122"/>
                <a:cs typeface="Calibri" pitchFamily="34" charset="-120"/>
              </a:rPr>
              <a:t>airports.tz — le décalage UTC de chaque aéroport</a:t>
            </a:r>
            <a:endParaRPr lang="en-US" sz="1150" dirty="0"/>
          </a:p>
          <a:p>
            <a:pPr indent="0" marL="0">
              <a:lnSpc>
                <a:spcPts val="1500"/>
              </a:lnSpc>
              <a:buNone/>
            </a:pPr>
            <a:r>
              <a:rPr lang="en-US" sz="1150" dirty="0">
                <a:solidFill>
                  <a:srgbClr val="12202B"/>
                </a:solidFill>
                <a:latin typeface="Calibri" pitchFamily="34" charset="0"/>
                <a:ea typeface="Calibri" pitchFamily="34" charset="-122"/>
                <a:cs typeface="Calibri" pitchFamily="34" charset="-120"/>
              </a:rPr>
              <a:t>airports.tzone — le nom du fuseau IANA</a:t>
            </a:r>
            <a:endParaRPr lang="en-US" sz="1150" dirty="0"/>
          </a:p>
          <a:p>
            <a:pPr indent="0" marL="0">
              <a:lnSpc>
                <a:spcPts val="1500"/>
              </a:lnSpc>
              <a:buNone/>
            </a:pPr>
            <a:r>
              <a:rPr lang="en-US" sz="1150" dirty="0">
                <a:solidFill>
                  <a:srgbClr val="12202B"/>
                </a:solidFill>
                <a:latin typeface="Calibri" pitchFamily="34" charset="0"/>
                <a:ea typeface="Calibri" pitchFamily="34" charset="-122"/>
                <a:cs typeface="Calibri" pitchFamily="34" charset="-120"/>
              </a:rPr>
              <a:t>airports.dst — le régime d'heure d'été</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flights.time_hour et weather.time_hour — un DATETIME qui sert de clé de jointure entre les vols et la météo</a:t>
            </a:r>
            <a:endParaRPr lang="en-US" sz="1150" dirty="0"/>
          </a:p>
        </p:txBody>
      </p:sp>
      <p:sp>
        <p:nvSpPr>
          <p:cNvPr id="8" name="Shape 6"/>
          <p:cNvSpPr/>
          <p:nvPr/>
        </p:nvSpPr>
        <p:spPr>
          <a:xfrm>
            <a:off x="6355080" y="2057400"/>
            <a:ext cx="5285232" cy="2103120"/>
          </a:xfrm>
          <a:prstGeom prst="roundRect">
            <a:avLst>
              <a:gd name="adj" fmla="val 3478"/>
            </a:avLst>
          </a:prstGeom>
          <a:solidFill>
            <a:srgbClr val="FBF3EA"/>
          </a:solidFill>
          <a:ln w="12700">
            <a:solidFill>
              <a:srgbClr val="F0DDC6"/>
            </a:solidFill>
            <a:prstDash val="solid"/>
          </a:ln>
          <a:effectLst>
            <a:outerShdw sx="100000" sy="100000" kx="0" ky="0" algn="bl" rotWithShape="0" blurRad="101600" dist="508" dir="5400000">
              <a:srgbClr val="9FB3C4">
                <a:alpha val="28000"/>
              </a:srgbClr>
            </a:outerShdw>
          </a:effectLst>
        </p:spPr>
      </p:sp>
      <p:sp>
        <p:nvSpPr>
          <p:cNvPr id="9" name="Text 7"/>
          <p:cNvSpPr txBox="1"/>
          <p:nvPr/>
        </p:nvSpPr>
        <p:spPr>
          <a:xfrm>
            <a:off x="6574536" y="2185416"/>
            <a:ext cx="4846320" cy="274320"/>
          </a:xfrm>
          <a:prstGeom prst="rect">
            <a:avLst/>
          </a:prstGeom>
          <a:noFill/>
          <a:ln/>
        </p:spPr>
        <p:txBody>
          <a:bodyPr wrap="square" lIns="0" tIns="0" rIns="0" bIns="0" rtlCol="0" anchor="ctr"/>
          <a:lstStyle/>
          <a:p>
            <a:pPr indent="0" marL="0">
              <a:buNone/>
            </a:pPr>
            <a:r>
              <a:rPr lang="en-US" sz="1100" b="1" dirty="0">
                <a:solidFill>
                  <a:srgbClr val="9A6B2F"/>
                </a:solidFill>
                <a:latin typeface="Calibri" pitchFamily="34" charset="0"/>
                <a:ea typeface="Calibri" pitchFamily="34" charset="-122"/>
                <a:cs typeface="Calibri" pitchFamily="34" charset="-120"/>
              </a:rPr>
              <a:t>Ce qu'elle ne fait pas</a:t>
            </a:r>
            <a:endParaRPr lang="en-US" sz="1100" dirty="0"/>
          </a:p>
        </p:txBody>
      </p:sp>
      <p:sp>
        <p:nvSpPr>
          <p:cNvPr id="10" name="Text 8"/>
          <p:cNvSpPr txBox="1"/>
          <p:nvPr/>
        </p:nvSpPr>
        <p:spPr>
          <a:xfrm>
            <a:off x="6574536" y="2496312"/>
            <a:ext cx="4846320" cy="1554480"/>
          </a:xfrm>
          <a:prstGeom prst="rect">
            <a:avLst/>
          </a:prstGeom>
          <a:noFill/>
          <a:ln/>
        </p:spPr>
        <p:txBody>
          <a:bodyPr wrap="square" lIns="0" tIns="0" rIns="0" bIns="0" rtlCol="0" anchor="t"/>
          <a:lstStyle/>
          <a:p>
            <a:pPr indent="0" marL="0">
              <a:lnSpc>
                <a:spcPts val="1500"/>
              </a:lnSpc>
              <a:buNone/>
            </a:pPr>
            <a:r>
              <a:rPr lang="en-US" sz="1150" b="1" dirty="0">
                <a:solidFill>
                  <a:srgbClr val="12202B"/>
                </a:solidFill>
                <a:latin typeface="Calibri" pitchFamily="34" charset="0"/>
                <a:ea typeface="Calibri" pitchFamily="34" charset="-122"/>
                <a:cs typeface="Calibri" pitchFamily="34" charset="-120"/>
              </a:rPr>
              <a:t>Aucune conversion n'est appliquée : toutes les heures restent en heure locale de l'aéroport de départ.</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Un JFK → LAX affiche donc un départ à l'heure de New York et une arrivée à celle de Los Angeles. Sur ce vol, l'écart brut entre les deux fait perdre trois heures.</a:t>
            </a:r>
            <a:endParaRPr lang="en-US" sz="1150" dirty="0"/>
          </a:p>
        </p:txBody>
      </p:sp>
      <p:sp>
        <p:nvSpPr>
          <p:cNvPr id="11" name="Shape 9"/>
          <p:cNvSpPr/>
          <p:nvPr/>
        </p:nvSpPr>
        <p:spPr>
          <a:xfrm>
            <a:off x="566928" y="4389120"/>
            <a:ext cx="11057839" cy="1783080"/>
          </a:xfrm>
          <a:prstGeom prst="roundRect">
            <a:avLst>
              <a:gd name="adj" fmla="val 4103"/>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12" name="Text 10"/>
          <p:cNvSpPr txBox="1"/>
          <p:nvPr/>
        </p:nvSpPr>
        <p:spPr>
          <a:xfrm>
            <a:off x="804672" y="4535424"/>
            <a:ext cx="10607040" cy="292608"/>
          </a:xfrm>
          <a:prstGeom prst="rect">
            <a:avLst/>
          </a:prstGeom>
          <a:noFill/>
          <a:ln/>
        </p:spPr>
        <p:txBody>
          <a:bodyPr wrap="square" lIns="0" tIns="0" rIns="0" bIns="0" rtlCol="0" anchor="ctr"/>
          <a:lstStyle/>
          <a:p>
            <a:pPr indent="0" marL="0">
              <a:buNone/>
            </a:pPr>
            <a:r>
              <a:rPr lang="en-US" sz="1150" b="1" dirty="0">
                <a:solidFill>
                  <a:srgbClr val="E8A33D"/>
                </a:solidFill>
                <a:latin typeface="Calibri" pitchFamily="34" charset="0"/>
                <a:ea typeface="Calibri" pitchFamily="34" charset="-122"/>
                <a:cs typeface="Calibri" pitchFamily="34" charset="-120"/>
              </a:rPr>
              <a:t>Pourquoi ce choix, et comment on le corrigerait</a:t>
            </a:r>
            <a:endParaRPr lang="en-US" sz="1150" dirty="0"/>
          </a:p>
        </p:txBody>
      </p:sp>
      <p:sp>
        <p:nvSpPr>
          <p:cNvPr id="13" name="Text 11"/>
          <p:cNvSpPr txBox="1"/>
          <p:nvPr/>
        </p:nvSpPr>
        <p:spPr>
          <a:xfrm>
            <a:off x="804672" y="4864608"/>
            <a:ext cx="10607040" cy="1188720"/>
          </a:xfrm>
          <a:prstGeom prst="rect">
            <a:avLst/>
          </a:prstGeom>
          <a:noFill/>
          <a:ln/>
        </p:spPr>
        <p:txBody>
          <a:bodyPr wrap="square" lIns="0" tIns="0" rIns="0" bIns="0" rtlCol="0" anchor="t"/>
          <a:lstStyle/>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Les colonnes de retard, elles, sont déjà des durées en minutes : elles ne dépendent d'aucun fuseau. Or c'est sur les retards que porte l'essentiel de l'analyse, donc la non-conversion n'affecte aucun de nos résultats.</a:t>
            </a:r>
            <a:endParaRPr lang="en-US" sz="1150" dirty="0"/>
          </a:p>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Elle gênerait en revanche un calcul de durée réelle de trajet. Le correctif passerait par CONVERT_TZ en s'appuyant sur tzone et dst, à condition de charger les tables de fuseaux du serveur MySQL — c'est identifié, pas fait.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BLOC 1 — MISE EN PRODUCTION  ·  HEDI</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De la base au service interrogeable</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MySQL conteneurisé, une API REST devant, et les identifiants sortis du code.</a:t>
            </a:r>
            <a:endParaRPr lang="en-US" sz="1400" dirty="0"/>
          </a:p>
        </p:txBody>
      </p:sp>
      <p:sp>
        <p:nvSpPr>
          <p:cNvPr id="5" name="Shape 3"/>
          <p:cNvSpPr/>
          <p:nvPr/>
        </p:nvSpPr>
        <p:spPr>
          <a:xfrm>
            <a:off x="566928" y="2011680"/>
            <a:ext cx="11055096" cy="749808"/>
          </a:xfrm>
          <a:prstGeom prst="roundRect">
            <a:avLst>
              <a:gd name="adj" fmla="val 9756"/>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6" name="Shape 4"/>
          <p:cNvSpPr/>
          <p:nvPr/>
        </p:nvSpPr>
        <p:spPr>
          <a:xfrm>
            <a:off x="749808" y="2212848"/>
            <a:ext cx="347472" cy="347472"/>
          </a:xfrm>
          <a:prstGeom prst="ellipse">
            <a:avLst/>
          </a:prstGeom>
          <a:solidFill>
            <a:srgbClr val="0B3C5D"/>
          </a:solidFill>
          <a:ln w="12700">
            <a:solidFill>
              <a:srgbClr val="0B3C5D"/>
            </a:solidFill>
            <a:prstDash val="solid"/>
          </a:ln>
        </p:spPr>
      </p:sp>
      <p:sp>
        <p:nvSpPr>
          <p:cNvPr id="7" name="Text 5"/>
          <p:cNvSpPr txBox="1"/>
          <p:nvPr/>
        </p:nvSpPr>
        <p:spPr>
          <a:xfrm>
            <a:off x="749808" y="2240280"/>
            <a:ext cx="34747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txBox="1"/>
          <p:nvPr/>
        </p:nvSpPr>
        <p:spPr>
          <a:xfrm>
            <a:off x="1225296" y="2066544"/>
            <a:ext cx="2468880" cy="640080"/>
          </a:xfrm>
          <a:prstGeom prst="rect">
            <a:avLst/>
          </a:prstGeom>
          <a:noFill/>
          <a:ln/>
        </p:spPr>
        <p:txBody>
          <a:bodyPr wrap="square" lIns="0" tIns="0" rIns="0" bIns="0" rtlCol="0" anchor="ctr"/>
          <a:lstStyle/>
          <a:p>
            <a:pPr indent="0" marL="0">
              <a:buNone/>
            </a:pPr>
            <a:r>
              <a:rPr lang="en-US" sz="1350" b="1" dirty="0">
                <a:solidFill>
                  <a:srgbClr val="12202B"/>
                </a:solidFill>
                <a:latin typeface="Cambria" pitchFamily="34" charset="0"/>
                <a:ea typeface="Cambria" pitchFamily="34" charset="-122"/>
                <a:cs typeface="Cambria" pitchFamily="34" charset="-120"/>
              </a:rPr>
              <a:t>Base conteneurisée</a:t>
            </a:r>
            <a:endParaRPr lang="en-US" sz="1350" dirty="0"/>
          </a:p>
        </p:txBody>
      </p:sp>
      <p:sp>
        <p:nvSpPr>
          <p:cNvPr id="9" name="Text 7"/>
          <p:cNvSpPr txBox="1"/>
          <p:nvPr/>
        </p:nvSpPr>
        <p:spPr>
          <a:xfrm>
            <a:off x="3767328" y="2057400"/>
            <a:ext cx="7680960" cy="658368"/>
          </a:xfrm>
          <a:prstGeom prst="rect">
            <a:avLst/>
          </a:prstGeom>
          <a:noFill/>
          <a:ln/>
        </p:spPr>
        <p:txBody>
          <a:bodyPr wrap="square" lIns="0" tIns="0" rIns="0" bIns="0" rtlCol="0" anchor="ctr"/>
          <a:lstStyle/>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MySQL 8.4 via docker compose, redémarrage automatique. Le schéma se recharge d'une commande : l'environnement est reproductible sur n'importe quel poste.</a:t>
            </a:r>
            <a:endParaRPr lang="en-US" sz="1100" dirty="0"/>
          </a:p>
        </p:txBody>
      </p:sp>
      <p:sp>
        <p:nvSpPr>
          <p:cNvPr id="10" name="Shape 8"/>
          <p:cNvSpPr/>
          <p:nvPr/>
        </p:nvSpPr>
        <p:spPr>
          <a:xfrm>
            <a:off x="566928" y="2852928"/>
            <a:ext cx="11055096" cy="749808"/>
          </a:xfrm>
          <a:prstGeom prst="roundRect">
            <a:avLst>
              <a:gd name="adj" fmla="val 9756"/>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1" name="Shape 9"/>
          <p:cNvSpPr/>
          <p:nvPr/>
        </p:nvSpPr>
        <p:spPr>
          <a:xfrm>
            <a:off x="749808" y="3054096"/>
            <a:ext cx="347472" cy="347472"/>
          </a:xfrm>
          <a:prstGeom prst="ellipse">
            <a:avLst/>
          </a:prstGeom>
          <a:solidFill>
            <a:srgbClr val="0B3C5D"/>
          </a:solidFill>
          <a:ln w="12700">
            <a:solidFill>
              <a:srgbClr val="0B3C5D"/>
            </a:solidFill>
            <a:prstDash val="solid"/>
          </a:ln>
        </p:spPr>
      </p:sp>
      <p:sp>
        <p:nvSpPr>
          <p:cNvPr id="12" name="Text 10"/>
          <p:cNvSpPr txBox="1"/>
          <p:nvPr/>
        </p:nvSpPr>
        <p:spPr>
          <a:xfrm>
            <a:off x="749808" y="3081528"/>
            <a:ext cx="34747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txBox="1"/>
          <p:nvPr/>
        </p:nvSpPr>
        <p:spPr>
          <a:xfrm>
            <a:off x="1225296" y="2907792"/>
            <a:ext cx="2468880" cy="640080"/>
          </a:xfrm>
          <a:prstGeom prst="rect">
            <a:avLst/>
          </a:prstGeom>
          <a:noFill/>
          <a:ln/>
        </p:spPr>
        <p:txBody>
          <a:bodyPr wrap="square" lIns="0" tIns="0" rIns="0" bIns="0" rtlCol="0" anchor="ctr"/>
          <a:lstStyle/>
          <a:p>
            <a:pPr indent="0" marL="0">
              <a:buNone/>
            </a:pPr>
            <a:r>
              <a:rPr lang="en-US" sz="1350" b="1" dirty="0">
                <a:solidFill>
                  <a:srgbClr val="12202B"/>
                </a:solidFill>
                <a:latin typeface="Cambria" pitchFamily="34" charset="0"/>
                <a:ea typeface="Cambria" pitchFamily="34" charset="-122"/>
                <a:cs typeface="Cambria" pitchFamily="34" charset="-120"/>
              </a:rPr>
              <a:t>Identifiants hors du code</a:t>
            </a:r>
            <a:endParaRPr lang="en-US" sz="1350" dirty="0"/>
          </a:p>
        </p:txBody>
      </p:sp>
      <p:sp>
        <p:nvSpPr>
          <p:cNvPr id="14" name="Text 12"/>
          <p:cNvSpPr txBox="1"/>
          <p:nvPr/>
        </p:nvSpPr>
        <p:spPr>
          <a:xfrm>
            <a:off x="3767328" y="2898648"/>
            <a:ext cx="7680960" cy="658368"/>
          </a:xfrm>
          <a:prstGeom prst="rect">
            <a:avLst/>
          </a:prstGeom>
          <a:noFill/>
          <a:ln/>
        </p:spPr>
        <p:txBody>
          <a:bodyPr wrap="square" lIns="0" tIns="0" rIns="0" bIns="0" rtlCol="0" anchor="ctr"/>
          <a:lstStyle/>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Hôte, base, utilisateur et mot de passe viennent de variables d'environnement. Aucun identifiant écrit dans les scripts R.</a:t>
            </a:r>
            <a:endParaRPr lang="en-US" sz="1100" dirty="0"/>
          </a:p>
        </p:txBody>
      </p:sp>
      <p:sp>
        <p:nvSpPr>
          <p:cNvPr id="15" name="Shape 13"/>
          <p:cNvSpPr/>
          <p:nvPr/>
        </p:nvSpPr>
        <p:spPr>
          <a:xfrm>
            <a:off x="566928" y="3694176"/>
            <a:ext cx="11055096" cy="749808"/>
          </a:xfrm>
          <a:prstGeom prst="roundRect">
            <a:avLst>
              <a:gd name="adj" fmla="val 9756"/>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6" name="Shape 14"/>
          <p:cNvSpPr/>
          <p:nvPr/>
        </p:nvSpPr>
        <p:spPr>
          <a:xfrm>
            <a:off x="749808" y="3895344"/>
            <a:ext cx="347472" cy="347472"/>
          </a:xfrm>
          <a:prstGeom prst="ellipse">
            <a:avLst/>
          </a:prstGeom>
          <a:solidFill>
            <a:srgbClr val="0B3C5D"/>
          </a:solidFill>
          <a:ln w="12700">
            <a:solidFill>
              <a:srgbClr val="0B3C5D"/>
            </a:solidFill>
            <a:prstDash val="solid"/>
          </a:ln>
        </p:spPr>
      </p:sp>
      <p:sp>
        <p:nvSpPr>
          <p:cNvPr id="17" name="Text 15"/>
          <p:cNvSpPr txBox="1"/>
          <p:nvPr/>
        </p:nvSpPr>
        <p:spPr>
          <a:xfrm>
            <a:off x="749808" y="3922776"/>
            <a:ext cx="34747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txBox="1"/>
          <p:nvPr/>
        </p:nvSpPr>
        <p:spPr>
          <a:xfrm>
            <a:off x="1225296" y="3749040"/>
            <a:ext cx="2468880" cy="640080"/>
          </a:xfrm>
          <a:prstGeom prst="rect">
            <a:avLst/>
          </a:prstGeom>
          <a:noFill/>
          <a:ln/>
        </p:spPr>
        <p:txBody>
          <a:bodyPr wrap="square" lIns="0" tIns="0" rIns="0" bIns="0" rtlCol="0" anchor="ctr"/>
          <a:lstStyle/>
          <a:p>
            <a:pPr indent="0" marL="0">
              <a:buNone/>
            </a:pPr>
            <a:r>
              <a:rPr lang="en-US" sz="1350" b="1" dirty="0">
                <a:solidFill>
                  <a:srgbClr val="12202B"/>
                </a:solidFill>
                <a:latin typeface="Cambria" pitchFamily="34" charset="0"/>
                <a:ea typeface="Cambria" pitchFamily="34" charset="-122"/>
                <a:cs typeface="Cambria" pitchFamily="34" charset="-120"/>
              </a:rPr>
              <a:t>API REST devant la base</a:t>
            </a:r>
            <a:endParaRPr lang="en-US" sz="1350" dirty="0"/>
          </a:p>
        </p:txBody>
      </p:sp>
      <p:sp>
        <p:nvSpPr>
          <p:cNvPr id="19" name="Text 17"/>
          <p:cNvSpPr txBox="1"/>
          <p:nvPr/>
        </p:nvSpPr>
        <p:spPr>
          <a:xfrm>
            <a:off x="3767328" y="3739896"/>
            <a:ext cx="7680960" cy="658368"/>
          </a:xfrm>
          <a:prstGeom prst="rect">
            <a:avLst/>
          </a:prstGeom>
          <a:noFill/>
          <a:ln/>
        </p:spPr>
        <p:txBody>
          <a:bodyPr wrap="square" lIns="0" tIns="0" rIns="0" bIns="0" rtlCol="0" anchor="ctr"/>
          <a:lstStyle/>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30 endpoints Plumber, documentation Swagger générée, CORS limité à une liste d'origines. Le dashboard n'ouvre aucune connexion MySQL.</a:t>
            </a:r>
            <a:endParaRPr lang="en-US" sz="1100" dirty="0"/>
          </a:p>
        </p:txBody>
      </p:sp>
      <p:sp>
        <p:nvSpPr>
          <p:cNvPr id="20" name="Shape 18"/>
          <p:cNvSpPr/>
          <p:nvPr/>
        </p:nvSpPr>
        <p:spPr>
          <a:xfrm>
            <a:off x="566928" y="4535424"/>
            <a:ext cx="11055096" cy="749808"/>
          </a:xfrm>
          <a:prstGeom prst="roundRect">
            <a:avLst>
              <a:gd name="adj" fmla="val 9756"/>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21" name="Shape 19"/>
          <p:cNvSpPr/>
          <p:nvPr/>
        </p:nvSpPr>
        <p:spPr>
          <a:xfrm>
            <a:off x="749808" y="4736592"/>
            <a:ext cx="347472" cy="347472"/>
          </a:xfrm>
          <a:prstGeom prst="ellipse">
            <a:avLst/>
          </a:prstGeom>
          <a:solidFill>
            <a:srgbClr val="0B3C5D"/>
          </a:solidFill>
          <a:ln w="12700">
            <a:solidFill>
              <a:srgbClr val="0B3C5D"/>
            </a:solidFill>
            <a:prstDash val="solid"/>
          </a:ln>
        </p:spPr>
      </p:sp>
      <p:sp>
        <p:nvSpPr>
          <p:cNvPr id="22" name="Text 20"/>
          <p:cNvSpPr txBox="1"/>
          <p:nvPr/>
        </p:nvSpPr>
        <p:spPr>
          <a:xfrm>
            <a:off x="749808" y="4764024"/>
            <a:ext cx="34747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txBox="1"/>
          <p:nvPr/>
        </p:nvSpPr>
        <p:spPr>
          <a:xfrm>
            <a:off x="1225296" y="4590288"/>
            <a:ext cx="2468880" cy="640080"/>
          </a:xfrm>
          <a:prstGeom prst="rect">
            <a:avLst/>
          </a:prstGeom>
          <a:noFill/>
          <a:ln/>
        </p:spPr>
        <p:txBody>
          <a:bodyPr wrap="square" lIns="0" tIns="0" rIns="0" bIns="0" rtlCol="0" anchor="ctr"/>
          <a:lstStyle/>
          <a:p>
            <a:pPr indent="0" marL="0">
              <a:buNone/>
            </a:pPr>
            <a:r>
              <a:rPr lang="en-US" sz="1350" b="1" dirty="0">
                <a:solidFill>
                  <a:srgbClr val="12202B"/>
                </a:solidFill>
                <a:latin typeface="Cambria" pitchFamily="34" charset="0"/>
                <a:ea typeface="Cambria" pitchFamily="34" charset="-122"/>
                <a:cs typeface="Cambria" pitchFamily="34" charset="-120"/>
              </a:rPr>
              <a:t>Connexion robuste</a:t>
            </a:r>
            <a:endParaRPr lang="en-US" sz="1350" dirty="0"/>
          </a:p>
        </p:txBody>
      </p:sp>
      <p:sp>
        <p:nvSpPr>
          <p:cNvPr id="24" name="Text 22"/>
          <p:cNvSpPr txBox="1"/>
          <p:nvPr/>
        </p:nvSpPr>
        <p:spPr>
          <a:xfrm>
            <a:off x="3767328" y="4581144"/>
            <a:ext cx="7680960" cy="658368"/>
          </a:xfrm>
          <a:prstGeom prst="rect">
            <a:avLst/>
          </a:prstGeom>
          <a:noFill/>
          <a:ln/>
        </p:spPr>
        <p:txBody>
          <a:bodyPr wrap="square" lIns="0" tIns="0" rIns="0" bIns="0" rtlCol="0" anchor="ctr"/>
          <a:lstStyle/>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Pilote RMariaDB, choisi parce que RMySQL passe mal l'authentification caching_sha2 de MySQL 8. La connexion est testée et rétablie à chaud.</a:t>
            </a:r>
            <a:endParaRPr lang="en-US" sz="1100" dirty="0"/>
          </a:p>
        </p:txBody>
      </p:sp>
      <p:sp>
        <p:nvSpPr>
          <p:cNvPr id="25" name="Shape 23"/>
          <p:cNvSpPr/>
          <p:nvPr/>
        </p:nvSpPr>
        <p:spPr>
          <a:xfrm>
            <a:off x="566928" y="5376672"/>
            <a:ext cx="11055096" cy="749808"/>
          </a:xfrm>
          <a:prstGeom prst="roundRect">
            <a:avLst>
              <a:gd name="adj" fmla="val 9756"/>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26" name="Shape 24"/>
          <p:cNvSpPr/>
          <p:nvPr/>
        </p:nvSpPr>
        <p:spPr>
          <a:xfrm>
            <a:off x="749808" y="5577840"/>
            <a:ext cx="347472" cy="347472"/>
          </a:xfrm>
          <a:prstGeom prst="ellipse">
            <a:avLst/>
          </a:prstGeom>
          <a:solidFill>
            <a:srgbClr val="0B3C5D"/>
          </a:solidFill>
          <a:ln w="12700">
            <a:solidFill>
              <a:srgbClr val="0B3C5D"/>
            </a:solidFill>
            <a:prstDash val="solid"/>
          </a:ln>
        </p:spPr>
      </p:sp>
      <p:sp>
        <p:nvSpPr>
          <p:cNvPr id="27" name="Text 25"/>
          <p:cNvSpPr txBox="1"/>
          <p:nvPr/>
        </p:nvSpPr>
        <p:spPr>
          <a:xfrm>
            <a:off x="749808" y="5605272"/>
            <a:ext cx="34747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txBox="1"/>
          <p:nvPr/>
        </p:nvSpPr>
        <p:spPr>
          <a:xfrm>
            <a:off x="1225296" y="5431536"/>
            <a:ext cx="2468880" cy="640080"/>
          </a:xfrm>
          <a:prstGeom prst="rect">
            <a:avLst/>
          </a:prstGeom>
          <a:noFill/>
          <a:ln/>
        </p:spPr>
        <p:txBody>
          <a:bodyPr wrap="square" lIns="0" tIns="0" rIns="0" bIns="0" rtlCol="0" anchor="ctr"/>
          <a:lstStyle/>
          <a:p>
            <a:pPr indent="0" marL="0">
              <a:buNone/>
            </a:pPr>
            <a:r>
              <a:rPr lang="en-US" sz="1350" b="1" dirty="0">
                <a:solidFill>
                  <a:srgbClr val="12202B"/>
                </a:solidFill>
                <a:latin typeface="Cambria" pitchFamily="34" charset="0"/>
                <a:ea typeface="Cambria" pitchFamily="34" charset="-122"/>
                <a:cs typeface="Cambria" pitchFamily="34" charset="-120"/>
              </a:rPr>
              <a:t>Paramètres validés</a:t>
            </a:r>
            <a:endParaRPr lang="en-US" sz="1350" dirty="0"/>
          </a:p>
        </p:txBody>
      </p:sp>
      <p:sp>
        <p:nvSpPr>
          <p:cNvPr id="29" name="Text 27"/>
          <p:cNvSpPr txBox="1"/>
          <p:nvPr/>
        </p:nvSpPr>
        <p:spPr>
          <a:xfrm>
            <a:off x="3767328" y="5422392"/>
            <a:ext cx="7680960" cy="658368"/>
          </a:xfrm>
          <a:prstGeom prst="rect">
            <a:avLst/>
          </a:prstGeom>
          <a:noFill/>
          <a:ln/>
        </p:spPr>
        <p:txBody>
          <a:bodyPr wrap="square" lIns="0" tIns="0" rIns="0" bIns="0" rtlCol="0" anchor="ctr"/>
          <a:lstStyle/>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Chaque paramètre d'URL est typé et borné avant d'atteindre le SQL, et les valeurs sont échappées : une requête malformée reçoit une erreur, pas une injection.</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BLOC 1 — ACCÈS  ·  HEDI</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Les privilèges : le point faible qu'on assume</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La question mérite une réponse franche plutôt qu'un contournement.</a:t>
            </a:r>
            <a:endParaRPr lang="en-US" sz="1400" dirty="0"/>
          </a:p>
        </p:txBody>
      </p:sp>
      <p:sp>
        <p:nvSpPr>
          <p:cNvPr id="5" name="Shape 3"/>
          <p:cNvSpPr/>
          <p:nvPr/>
        </p:nvSpPr>
        <p:spPr>
          <a:xfrm>
            <a:off x="566928" y="2057400"/>
            <a:ext cx="5440680" cy="2377440"/>
          </a:xfrm>
          <a:prstGeom prst="roundRect">
            <a:avLst>
              <a:gd name="adj" fmla="val 3077"/>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786384" y="2185416"/>
            <a:ext cx="4937760" cy="274320"/>
          </a:xfrm>
          <a:prstGeom prst="rect">
            <a:avLst/>
          </a:prstGeom>
          <a:noFill/>
          <a:ln/>
        </p:spPr>
        <p:txBody>
          <a:bodyPr wrap="square" lIns="0" tIns="0" rIns="0" bIns="0" rtlCol="0" anchor="ctr"/>
          <a:lstStyle/>
          <a:p>
            <a:pPr indent="0" marL="0">
              <a:buNone/>
            </a:pPr>
            <a:r>
              <a:rPr lang="en-US" sz="1100" b="1" dirty="0">
                <a:solidFill>
                  <a:srgbClr val="E4572E"/>
                </a:solidFill>
                <a:latin typeface="Calibri" pitchFamily="34" charset="0"/>
                <a:ea typeface="Calibri" pitchFamily="34" charset="-122"/>
                <a:cs typeface="Calibri" pitchFamily="34" charset="-120"/>
              </a:rPr>
              <a:t>Ce qui existe aujourd'hui</a:t>
            </a:r>
            <a:endParaRPr lang="en-US" sz="1100" dirty="0"/>
          </a:p>
        </p:txBody>
      </p:sp>
      <p:sp>
        <p:nvSpPr>
          <p:cNvPr id="7" name="Text 5"/>
          <p:cNvSpPr txBox="1"/>
          <p:nvPr/>
        </p:nvSpPr>
        <p:spPr>
          <a:xfrm>
            <a:off x="786384" y="2496312"/>
            <a:ext cx="4983480" cy="1828800"/>
          </a:xfrm>
          <a:prstGeom prst="rect">
            <a:avLst/>
          </a:prstGeom>
          <a:noFill/>
          <a:ln/>
        </p:spPr>
        <p:txBody>
          <a:bodyPr wrap="square" lIns="0" tIns="0" rIns="0" bIns="0" rtlCol="0" anchor="t"/>
          <a:lstStyle/>
          <a:p>
            <a:pPr indent="0" marL="0">
              <a:lnSpc>
                <a:spcPts val="1500"/>
              </a:lnSpc>
              <a:buNone/>
            </a:pPr>
            <a:r>
              <a:rPr lang="en-US" sz="1150" dirty="0">
                <a:solidFill>
                  <a:srgbClr val="12202B"/>
                </a:solidFill>
                <a:latin typeface="Calibri" pitchFamily="34" charset="0"/>
                <a:ea typeface="Calibri" pitchFamily="34" charset="-122"/>
                <a:cs typeface="Calibri" pitchFamily="34" charset="-120"/>
              </a:rPr>
              <a:t>Un seul compte applicatif, adp_user, avec tous les droits sur la base.</a:t>
            </a:r>
            <a:endParaRPr lang="en-US" sz="1150" dirty="0"/>
          </a:p>
          <a:p>
            <a:pPr indent="0" marL="0">
              <a:lnSpc>
                <a:spcPts val="1500"/>
              </a:lnSpc>
              <a:buNone/>
            </a:pPr>
            <a:r>
              <a:rPr lang="en-US" sz="1150" dirty="0">
                <a:solidFill>
                  <a:srgbClr val="12202B"/>
                </a:solidFill>
                <a:latin typeface="Calibri" pitchFamily="34" charset="0"/>
                <a:ea typeface="Calibri" pitchFamily="34" charset="-122"/>
                <a:cs typeface="Calibri" pitchFamily="34" charset="-120"/>
              </a:rPr>
              <a:t>Pas de compte en lecture seule, pas de compte distinct par membre du groupe.</a:t>
            </a:r>
            <a:endParaRPr lang="en-US" sz="1150" dirty="0"/>
          </a:p>
          <a:p>
            <a:pPr indent="0" marL="0">
              <a:lnSpc>
                <a:spcPts val="1500"/>
              </a:lnSpc>
              <a:buNone/>
            </a:pPr>
            <a:r>
              <a:rPr lang="en-US" sz="1150" b="1" dirty="0">
                <a:solidFill>
                  <a:srgbClr val="E4572E"/>
                </a:solidFill>
                <a:latin typeface="Calibri" pitchFamily="34" charset="0"/>
                <a:ea typeface="Calibri" pitchFamily="34" charset="-122"/>
                <a:cs typeface="Calibri" pitchFamily="34" charset="-120"/>
              </a:rPr>
              <a:t>Son mot de passe est identique à celui de root, et il figure en clair dans docker-compose.yml et dans .Renviron — deux fichiers versionnés dans un dépôt public.</a:t>
            </a:r>
            <a:endParaRPr lang="en-US" sz="1150" dirty="0"/>
          </a:p>
        </p:txBody>
      </p:sp>
      <p:sp>
        <p:nvSpPr>
          <p:cNvPr id="8" name="Shape 6"/>
          <p:cNvSpPr/>
          <p:nvPr/>
        </p:nvSpPr>
        <p:spPr>
          <a:xfrm>
            <a:off x="6355080" y="2057400"/>
            <a:ext cx="5285232" cy="2377440"/>
          </a:xfrm>
          <a:prstGeom prst="roundRect">
            <a:avLst>
              <a:gd name="adj" fmla="val 3077"/>
            </a:avLst>
          </a:prstGeom>
          <a:solidFill>
            <a:srgbClr val="EAF6F0"/>
          </a:solidFill>
          <a:ln w="12700">
            <a:solidFill>
              <a:srgbClr val="CDE8DC"/>
            </a:solidFill>
            <a:prstDash val="solid"/>
          </a:ln>
          <a:effectLst>
            <a:outerShdw sx="100000" sy="100000" kx="0" ky="0" algn="bl" rotWithShape="0" blurRad="101600" dist="508" dir="5400000">
              <a:srgbClr val="9FB3C4">
                <a:alpha val="28000"/>
              </a:srgbClr>
            </a:outerShdw>
          </a:effectLst>
        </p:spPr>
      </p:sp>
      <p:sp>
        <p:nvSpPr>
          <p:cNvPr id="9" name="Text 7"/>
          <p:cNvSpPr txBox="1"/>
          <p:nvPr/>
        </p:nvSpPr>
        <p:spPr>
          <a:xfrm>
            <a:off x="6574536" y="2185416"/>
            <a:ext cx="4846320" cy="274320"/>
          </a:xfrm>
          <a:prstGeom prst="rect">
            <a:avLst/>
          </a:prstGeom>
          <a:noFill/>
          <a:ln/>
        </p:spPr>
        <p:txBody>
          <a:bodyPr wrap="square" lIns="0" tIns="0" rIns="0" bIns="0" rtlCol="0" anchor="ctr"/>
          <a:lstStyle/>
          <a:p>
            <a:pPr indent="0" marL="0">
              <a:buNone/>
            </a:pPr>
            <a:r>
              <a:rPr lang="en-US" sz="1100" b="1" dirty="0">
                <a:solidFill>
                  <a:srgbClr val="2E9E6B"/>
                </a:solidFill>
                <a:latin typeface="Calibri" pitchFamily="34" charset="0"/>
                <a:ea typeface="Calibri" pitchFamily="34" charset="-122"/>
                <a:cs typeface="Calibri" pitchFamily="34" charset="-120"/>
              </a:rPr>
              <a:t>Ce qu'il faudrait, et c'est court</a:t>
            </a:r>
            <a:endParaRPr lang="en-US" sz="1100" dirty="0"/>
          </a:p>
        </p:txBody>
      </p:sp>
      <p:sp>
        <p:nvSpPr>
          <p:cNvPr id="10" name="Text 8"/>
          <p:cNvSpPr txBox="1"/>
          <p:nvPr/>
        </p:nvSpPr>
        <p:spPr>
          <a:xfrm>
            <a:off x="6574536" y="2496312"/>
            <a:ext cx="4846320" cy="1828800"/>
          </a:xfrm>
          <a:prstGeom prst="rect">
            <a:avLst/>
          </a:prstGeom>
          <a:noFill/>
          <a:ln/>
        </p:spPr>
        <p:txBody>
          <a:bodyPr wrap="square" lIns="0" tIns="0" rIns="0" bIns="0" rtlCol="0" anchor="t"/>
          <a:lstStyle/>
          <a:p>
            <a:pPr indent="0" marL="0">
              <a:lnSpc>
                <a:spcPts val="1500"/>
              </a:lnSpc>
              <a:buNone/>
            </a:pPr>
            <a:r>
              <a:rPr lang="en-US" sz="1150" dirty="0">
                <a:solidFill>
                  <a:srgbClr val="12202B"/>
                </a:solidFill>
                <a:latin typeface="Calibri" pitchFamily="34" charset="0"/>
                <a:ea typeface="Calibri" pitchFamily="34" charset="-122"/>
                <a:cs typeface="Calibri" pitchFamily="34" charset="-120"/>
              </a:rPr>
              <a:t>Un compte par usage : lecture seule pour l'analyse et le dashboard, écriture réservée à l'injection.</a:t>
            </a:r>
            <a:endParaRPr lang="en-US" sz="1150" dirty="0"/>
          </a:p>
          <a:p>
            <a:pPr indent="0" marL="0">
              <a:lnSpc>
                <a:spcPts val="1500"/>
              </a:lnSpc>
              <a:buNone/>
            </a:pPr>
            <a:r>
              <a:rPr lang="en-US" sz="1150" dirty="0">
                <a:solidFill>
                  <a:srgbClr val="12202B"/>
                </a:solidFill>
                <a:latin typeface="Calibri" pitchFamily="34" charset="0"/>
                <a:ea typeface="Calibri" pitchFamily="34" charset="-122"/>
                <a:cs typeface="Calibri" pitchFamily="34" charset="-120"/>
              </a:rPr>
              <a:t>Un mot de passe distinct de celui de root.</a:t>
            </a:r>
            <a:endParaRPr lang="en-US" sz="1150" dirty="0"/>
          </a:p>
          <a:p>
            <a:pPr indent="0" marL="0">
              <a:lnSpc>
                <a:spcPts val="1500"/>
              </a:lnSpc>
              <a:buNone/>
            </a:pPr>
            <a:r>
              <a:rPr lang="en-US" sz="1150" dirty="0">
                <a:solidFill>
                  <a:srgbClr val="12202B"/>
                </a:solidFill>
                <a:latin typeface="Calibri" pitchFamily="34" charset="0"/>
                <a:ea typeface="Calibri" pitchFamily="34" charset="-122"/>
                <a:cs typeface="Calibri" pitchFamily="34" charset="-120"/>
              </a:rPr>
              <a:t>Les deux fichiers sortis du dépôt par .gitignore, avec un .Renviron.example sans valeur réelle.</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Trois GRANT et deux lignes de .gitignore : le coût n'est pas l'obstacle, on ne l'a pas priorisé.</a:t>
            </a:r>
            <a:endParaRPr lang="en-US" sz="1150" dirty="0"/>
          </a:p>
        </p:txBody>
      </p:sp>
      <p:sp>
        <p:nvSpPr>
          <p:cNvPr id="11" name="Shape 9"/>
          <p:cNvSpPr/>
          <p:nvPr/>
        </p:nvSpPr>
        <p:spPr>
          <a:xfrm>
            <a:off x="566928" y="4663440"/>
            <a:ext cx="11057839" cy="1234440"/>
          </a:xfrm>
          <a:prstGeom prst="roundRect">
            <a:avLst>
              <a:gd name="adj" fmla="val 5926"/>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12" name="Text 10"/>
          <p:cNvSpPr txBox="1"/>
          <p:nvPr/>
        </p:nvSpPr>
        <p:spPr>
          <a:xfrm>
            <a:off x="804672" y="4809744"/>
            <a:ext cx="10607040" cy="292608"/>
          </a:xfrm>
          <a:prstGeom prst="rect">
            <a:avLst/>
          </a:prstGeom>
          <a:noFill/>
          <a:ln/>
        </p:spPr>
        <p:txBody>
          <a:bodyPr wrap="square" lIns="0" tIns="0" rIns="0" bIns="0" rtlCol="0" anchor="ctr"/>
          <a:lstStyle/>
          <a:p>
            <a:pPr indent="0" marL="0">
              <a:buNone/>
            </a:pPr>
            <a:r>
              <a:rPr lang="en-US" sz="1150" b="1" dirty="0">
                <a:solidFill>
                  <a:srgbClr val="E8A33D"/>
                </a:solidFill>
                <a:latin typeface="Calibri" pitchFamily="34" charset="0"/>
                <a:ea typeface="Calibri" pitchFamily="34" charset="-122"/>
                <a:cs typeface="Calibri" pitchFamily="34" charset="-120"/>
              </a:rPr>
              <a:t>Pourquoi on le dit nous-mêmes</a:t>
            </a:r>
            <a:endParaRPr lang="en-US" sz="1150" dirty="0"/>
          </a:p>
        </p:txBody>
      </p:sp>
      <p:sp>
        <p:nvSpPr>
          <p:cNvPr id="13" name="Text 11"/>
          <p:cNvSpPr txBox="1"/>
          <p:nvPr/>
        </p:nvSpPr>
        <p:spPr>
          <a:xfrm>
            <a:off x="804672" y="5120640"/>
            <a:ext cx="10607040" cy="685800"/>
          </a:xfrm>
          <a:prstGeom prst="rect">
            <a:avLst/>
          </a:prstGeom>
          <a:noFill/>
          <a:ln/>
        </p:spPr>
        <p:txBody>
          <a:bodyPr wrap="square" lIns="0" tIns="0" rIns="0" bIns="0" rtlCol="0" anchor="t"/>
          <a:lstStyle/>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Le risque réel est limité — c'est un mot de passe de développement pour une base locale. Mais l'annoncer comme un axe identifié n'a pas le même sens que de le laisser découvrir : dans un cas c'est de la lucidité sur son propre travail, dans l'autre c'est une faille qu'on n'avait pas vue.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BLOC 2 — ANALYSE  ·  HASSAN</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Trois aéroports à parts égales, un rythme net</a:t>
            </a:r>
            <a:endParaRPr lang="en-US" sz="3200" dirty="0"/>
          </a:p>
        </p:txBody>
      </p:sp>
      <p:pic>
        <p:nvPicPr>
          <p:cNvPr id="4" name="Image 0" descr="/Users/marcuslinguet/Downloads/trafic-aerien-adp/presentation/figures/06_facettes_mensuelles.png">    </p:cNvPr>
          <p:cNvPicPr>
            <a:picLocks noChangeAspect="1"/>
          </p:cNvPicPr>
          <p:nvPr/>
        </p:nvPicPr>
        <p:blipFill>
          <a:blip r:embed="rId1"/>
          <a:stretch>
            <a:fillRect/>
          </a:stretch>
        </p:blipFill>
        <p:spPr>
          <a:xfrm>
            <a:off x="566928" y="1371600"/>
            <a:ext cx="7772400" cy="3675888"/>
          </a:xfrm>
          <a:prstGeom prst="rect">
            <a:avLst/>
          </a:prstGeom>
        </p:spPr>
      </p:pic>
      <p:sp>
        <p:nvSpPr>
          <p:cNvPr id="5" name="Shape 2"/>
          <p:cNvSpPr/>
          <p:nvPr/>
        </p:nvSpPr>
        <p:spPr>
          <a:xfrm>
            <a:off x="8549640" y="1371600"/>
            <a:ext cx="3090672" cy="1051560"/>
          </a:xfrm>
          <a:prstGeom prst="roundRect">
            <a:avLst>
              <a:gd name="adj" fmla="val 6957"/>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695944" y="1481328"/>
            <a:ext cx="2798064" cy="56692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−15 %</a:t>
            </a:r>
            <a:endParaRPr lang="en-US" sz="2400" dirty="0"/>
          </a:p>
        </p:txBody>
      </p:sp>
      <p:sp>
        <p:nvSpPr>
          <p:cNvPr id="7" name="Text 4"/>
          <p:cNvSpPr txBox="1"/>
          <p:nvPr/>
        </p:nvSpPr>
        <p:spPr>
          <a:xfrm>
            <a:off x="8695944" y="2048256"/>
            <a:ext cx="2798064" cy="265176"/>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de trafic le week-end : 814 vols par jour contre 956 en semaine</a:t>
            </a:r>
            <a:endParaRPr lang="en-US" sz="1150" dirty="0"/>
          </a:p>
        </p:txBody>
      </p:sp>
      <p:sp>
        <p:nvSpPr>
          <p:cNvPr id="8" name="Shape 5"/>
          <p:cNvSpPr/>
          <p:nvPr/>
        </p:nvSpPr>
        <p:spPr>
          <a:xfrm>
            <a:off x="8549640" y="2542032"/>
            <a:ext cx="3090672" cy="1371600"/>
          </a:xfrm>
          <a:prstGeom prst="roundRect">
            <a:avLst>
              <a:gd name="adj" fmla="val 5333"/>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8732520" y="2651760"/>
            <a:ext cx="2743200" cy="27432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Aucun aéroport ne domine</a:t>
            </a:r>
            <a:endParaRPr lang="en-US" sz="1100" dirty="0"/>
          </a:p>
        </p:txBody>
      </p:sp>
      <p:sp>
        <p:nvSpPr>
          <p:cNvPr id="10" name="Text 7"/>
          <p:cNvSpPr txBox="1"/>
          <p:nvPr/>
        </p:nvSpPr>
        <p:spPr>
          <a:xfrm>
            <a:off x="8732520" y="2944368"/>
            <a:ext cx="2743200" cy="914400"/>
          </a:xfrm>
          <a:prstGeom prst="rect">
            <a:avLst/>
          </a:prstGeom>
          <a:noFill/>
          <a:ln/>
        </p:spPr>
        <p:txBody>
          <a:bodyPr wrap="square" lIns="0" tIns="0" rIns="0" bIns="0" rtlCol="0" anchor="t"/>
          <a:lstStyle/>
          <a:p>
            <a:pPr indent="0" marL="0">
              <a:lnSpc>
                <a:spcPts val="1400"/>
              </a:lnSpc>
              <a:buNone/>
            </a:pPr>
            <a:r>
              <a:rPr lang="en-US" sz="1100" dirty="0">
                <a:solidFill>
                  <a:srgbClr val="12202B"/>
                </a:solidFill>
                <a:latin typeface="Calibri" pitchFamily="34" charset="0"/>
                <a:ea typeface="Calibri" pitchFamily="34" charset="-122"/>
                <a:cs typeface="Calibri" pitchFamily="34" charset="-120"/>
              </a:rPr>
              <a:t>EWR 331 vols/jour</a:t>
            </a:r>
            <a:endParaRPr lang="en-US" sz="1100" dirty="0"/>
          </a:p>
          <a:p>
            <a:pPr indent="0" marL="0">
              <a:lnSpc>
                <a:spcPts val="1400"/>
              </a:lnSpc>
              <a:buNone/>
            </a:pPr>
            <a:r>
              <a:rPr lang="en-US" sz="1100" dirty="0">
                <a:solidFill>
                  <a:srgbClr val="12202B"/>
                </a:solidFill>
                <a:latin typeface="Calibri" pitchFamily="34" charset="0"/>
                <a:ea typeface="Calibri" pitchFamily="34" charset="-122"/>
                <a:cs typeface="Calibri" pitchFamily="34" charset="-120"/>
              </a:rPr>
              <a:t>JFK 302  ·  LGA 284</a:t>
            </a:r>
            <a:endParaRPr lang="en-US" sz="1100" dirty="0"/>
          </a:p>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Même courbe pour les trois : creux en février, sommet en avril.</a:t>
            </a:r>
            <a:endParaRPr lang="en-US" sz="1100" dirty="0"/>
          </a:p>
        </p:txBody>
      </p:sp>
      <p:sp>
        <p:nvSpPr>
          <p:cNvPr id="11" name="Shape 8"/>
          <p:cNvSpPr/>
          <p:nvPr/>
        </p:nvSpPr>
        <p:spPr>
          <a:xfrm>
            <a:off x="8549640" y="4023360"/>
            <a:ext cx="3090672" cy="1024128"/>
          </a:xfrm>
          <a:prstGeom prst="roundRect">
            <a:avLst>
              <a:gd name="adj" fmla="val 7143"/>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12" name="Text 9"/>
          <p:cNvSpPr txBox="1"/>
          <p:nvPr/>
        </p:nvSpPr>
        <p:spPr>
          <a:xfrm>
            <a:off x="8732520" y="4133088"/>
            <a:ext cx="2743200" cy="256032"/>
          </a:xfrm>
          <a:prstGeom prst="rect">
            <a:avLst/>
          </a:prstGeom>
          <a:noFill/>
          <a:ln/>
        </p:spPr>
        <p:txBody>
          <a:bodyPr wrap="square" lIns="0" tIns="0" rIns="0" bIns="0" rtlCol="0" anchor="ctr"/>
          <a:lstStyle/>
          <a:p>
            <a:pPr indent="0" marL="0">
              <a:buNone/>
            </a:pPr>
            <a:r>
              <a:rPr lang="en-US" sz="1100" b="1" dirty="0">
                <a:solidFill>
                  <a:srgbClr val="E4572E"/>
                </a:solidFill>
                <a:latin typeface="Calibri" pitchFamily="34" charset="0"/>
                <a:ea typeface="Calibri" pitchFamily="34" charset="-122"/>
                <a:cs typeface="Calibri" pitchFamily="34" charset="-120"/>
              </a:rPr>
              <a:t>276 jours sur 365</a:t>
            </a:r>
            <a:endParaRPr lang="en-US" sz="1100" dirty="0"/>
          </a:p>
        </p:txBody>
      </p:sp>
      <p:sp>
        <p:nvSpPr>
          <p:cNvPr id="13" name="Text 10"/>
          <p:cNvSpPr txBox="1"/>
          <p:nvPr/>
        </p:nvSpPr>
        <p:spPr>
          <a:xfrm>
            <a:off x="8732520" y="4389120"/>
            <a:ext cx="2743200" cy="566928"/>
          </a:xfrm>
          <a:prstGeom prst="rect">
            <a:avLst/>
          </a:prstGeom>
          <a:noFill/>
          <a:ln/>
        </p:spPr>
        <p:txBody>
          <a:bodyPr wrap="square" lIns="0" tIns="0" rIns="0" bIns="0" rtlCol="0" anchor="t"/>
          <a:lstStyle/>
          <a:p>
            <a:pPr indent="0" marL="0">
              <a:lnSpc>
                <a:spcPts val="1300"/>
              </a:lnSpc>
              <a:buNone/>
            </a:pPr>
            <a:r>
              <a:rPr lang="en-US" sz="1050" dirty="0">
                <a:solidFill>
                  <a:srgbClr val="5A6B7B"/>
                </a:solidFill>
                <a:latin typeface="Calibri" pitchFamily="34" charset="0"/>
                <a:ea typeface="Calibri" pitchFamily="34" charset="-122"/>
                <a:cs typeface="Calibri" pitchFamily="34" charset="-120"/>
              </a:rPr>
              <a:t>Août et septembre absents, juillet arrêté au 3. Les mois incomplets sont écartés des moyennes.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BLOC 2 — ANALYSE  ·  HASSAN</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Le retard n'est pas subi, il s'accumule</a:t>
            </a:r>
            <a:endParaRPr lang="en-US" sz="3200" dirty="0"/>
          </a:p>
        </p:txBody>
      </p:sp>
      <p:pic>
        <p:nvPicPr>
          <p:cNvPr id="4" name="Image 0" descr="/Users/marcuslinguet/Downloads/trafic-aerien-adp/presentation/figures/01_retard_par_heure.png">    </p:cNvPr>
          <p:cNvPicPr>
            <a:picLocks noChangeAspect="1"/>
          </p:cNvPicPr>
          <p:nvPr/>
        </p:nvPicPr>
        <p:blipFill>
          <a:blip r:embed="rId1"/>
          <a:stretch>
            <a:fillRect/>
          </a:stretch>
        </p:blipFill>
        <p:spPr>
          <a:xfrm>
            <a:off x="566928" y="1371600"/>
            <a:ext cx="7772400" cy="4352544"/>
          </a:xfrm>
          <a:prstGeom prst="rect">
            <a:avLst/>
          </a:prstGeom>
        </p:spPr>
      </p:pic>
      <p:sp>
        <p:nvSpPr>
          <p:cNvPr id="5" name="Shape 2"/>
          <p:cNvSpPr/>
          <p:nvPr/>
        </p:nvSpPr>
        <p:spPr>
          <a:xfrm>
            <a:off x="8549640" y="1371600"/>
            <a:ext cx="3090672" cy="1371600"/>
          </a:xfrm>
          <a:prstGeom prst="roundRect">
            <a:avLst>
              <a:gd name="adj" fmla="val 5333"/>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732520" y="1481328"/>
            <a:ext cx="2743200" cy="502920"/>
          </a:xfrm>
          <a:prstGeom prst="rect">
            <a:avLst/>
          </a:prstGeom>
          <a:noFill/>
          <a:ln/>
        </p:spPr>
        <p:txBody>
          <a:bodyPr wrap="square" lIns="0" tIns="0" rIns="0" bIns="0" rtlCol="0" anchor="ctr"/>
          <a:lstStyle/>
          <a:p>
            <a:pPr indent="0" marL="0">
              <a:buNone/>
            </a:pPr>
            <a:r>
              <a:rPr lang="en-US" sz="2800" b="1" dirty="0">
                <a:solidFill>
                  <a:srgbClr val="E8A33D"/>
                </a:solidFill>
                <a:latin typeface="Cambria" pitchFamily="34" charset="0"/>
                <a:ea typeface="Cambria" pitchFamily="34" charset="-122"/>
                <a:cs typeface="Cambria" pitchFamily="34" charset="-120"/>
              </a:rPr>
              <a:t>× 30</a:t>
            </a:r>
            <a:endParaRPr lang="en-US" sz="2800" dirty="0"/>
          </a:p>
        </p:txBody>
      </p:sp>
      <p:sp>
        <p:nvSpPr>
          <p:cNvPr id="7" name="Text 4"/>
          <p:cNvSpPr txBox="1"/>
          <p:nvPr/>
        </p:nvSpPr>
        <p:spPr>
          <a:xfrm>
            <a:off x="8732520" y="1993392"/>
            <a:ext cx="2743200" cy="658368"/>
          </a:xfrm>
          <a:prstGeom prst="rect">
            <a:avLst/>
          </a:prstGeom>
          <a:noFill/>
          <a:ln/>
        </p:spPr>
        <p:txBody>
          <a:bodyPr wrap="square" lIns="0" tIns="0" rIns="0" bIns="0" rtlCol="0" anchor="t"/>
          <a:lstStyle/>
          <a:p>
            <a:pPr indent="0" marL="0">
              <a:lnSpc>
                <a:spcPts val="1400"/>
              </a:lnSpc>
              <a:buNone/>
            </a:pPr>
            <a:r>
              <a:rPr lang="en-US" sz="1100" dirty="0">
                <a:solidFill>
                  <a:srgbClr val="CFE3F1"/>
                </a:solidFill>
                <a:latin typeface="Calibri" pitchFamily="34" charset="0"/>
                <a:ea typeface="Calibri" pitchFamily="34" charset="-122"/>
                <a:cs typeface="Calibri" pitchFamily="34" charset="-120"/>
              </a:rPr>
              <a:t>entre un décollage à 5 h (0,8 min de retard) et un décollage à 19 h (24 min)</a:t>
            </a:r>
            <a:endParaRPr lang="en-US" sz="1100" dirty="0"/>
          </a:p>
        </p:txBody>
      </p:sp>
      <p:sp>
        <p:nvSpPr>
          <p:cNvPr id="8" name="Text 5"/>
          <p:cNvSpPr txBox="1"/>
          <p:nvPr/>
        </p:nvSpPr>
        <p:spPr>
          <a:xfrm>
            <a:off x="8549640" y="2852928"/>
            <a:ext cx="3108960" cy="137160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39,1 % des départs en retard</a:t>
            </a:r>
            <a:endParaRPr lang="en-US" sz="1150" dirty="0"/>
          </a:p>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12,4 min au départ, 7,3 min à l'arrivée</a:t>
            </a:r>
            <a:endParaRPr lang="en-US" sz="1150" dirty="0"/>
          </a:p>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Record : 1 301 min, un JFK → Honolulu</a:t>
            </a:r>
            <a:endParaRPr lang="en-US" sz="1150" dirty="0"/>
          </a:p>
        </p:txBody>
      </p:sp>
      <p:sp>
        <p:nvSpPr>
          <p:cNvPr id="9" name="Shape 6"/>
          <p:cNvSpPr/>
          <p:nvPr/>
        </p:nvSpPr>
        <p:spPr>
          <a:xfrm>
            <a:off x="8549640" y="4315968"/>
            <a:ext cx="3090672" cy="1417320"/>
          </a:xfrm>
          <a:prstGeom prst="roundRect">
            <a:avLst>
              <a:gd name="adj" fmla="val 516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0" name="Text 7"/>
          <p:cNvSpPr txBox="1"/>
          <p:nvPr/>
        </p:nvSpPr>
        <p:spPr>
          <a:xfrm>
            <a:off x="8732520" y="4425696"/>
            <a:ext cx="2743200" cy="256032"/>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Deux autres facteurs</a:t>
            </a:r>
            <a:endParaRPr lang="en-US" sz="1100" dirty="0"/>
          </a:p>
        </p:txBody>
      </p:sp>
      <p:sp>
        <p:nvSpPr>
          <p:cNvPr id="11" name="Text 8"/>
          <p:cNvSpPr txBox="1"/>
          <p:nvPr/>
        </p:nvSpPr>
        <p:spPr>
          <a:xfrm>
            <a:off x="8732520" y="4700016"/>
            <a:ext cx="2743200" cy="960120"/>
          </a:xfrm>
          <a:prstGeom prst="rect">
            <a:avLst/>
          </a:prstGeom>
          <a:noFill/>
          <a:ln/>
        </p:spPr>
        <p:txBody>
          <a:bodyPr wrap="square" lIns="0" tIns="0" rIns="0" bIns="0" rtlCol="0" anchor="t"/>
          <a:lstStyle/>
          <a:p>
            <a:pPr indent="0" marL="0">
              <a:lnSpc>
                <a:spcPts val="1300"/>
              </a:lnSpc>
              <a:buNone/>
            </a:pPr>
            <a:r>
              <a:rPr lang="en-US" sz="1050" dirty="0">
                <a:solidFill>
                  <a:srgbClr val="12202B"/>
                </a:solidFill>
                <a:latin typeface="Calibri" pitchFamily="34" charset="0"/>
                <a:ea typeface="Calibri" pitchFamily="34" charset="-122"/>
                <a:cs typeface="Calibri" pitchFamily="34" charset="-120"/>
              </a:rPr>
              <a:t>Compagnie : de 24 % à 59 % de vols en retard selon le transporteur.</a:t>
            </a:r>
            <a:endParaRPr lang="en-US" sz="1050" dirty="0"/>
          </a:p>
          <a:p>
            <a:pPr indent="0" marL="0">
              <a:lnSpc>
                <a:spcPts val="1300"/>
              </a:lnSpc>
              <a:buNone/>
            </a:pPr>
            <a:r>
              <a:rPr lang="en-US" sz="1050" dirty="0">
                <a:solidFill>
                  <a:srgbClr val="12202B"/>
                </a:solidFill>
                <a:latin typeface="Calibri" pitchFamily="34" charset="0"/>
                <a:ea typeface="Calibri" pitchFamily="34" charset="-122"/>
                <a:cs typeface="Calibri" pitchFamily="34" charset="-120"/>
              </a:rPr>
              <a:t>Distance : r = −0,47, les vols longs rattrapent leur retard en vol.</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BLOC 2 — ANALYSE  ·  HASSAN</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Annulations, et les limites du jeu de données</a:t>
            </a:r>
            <a:endParaRPr lang="en-US" sz="3200" dirty="0"/>
          </a:p>
        </p:txBody>
      </p:sp>
      <p:pic>
        <p:nvPicPr>
          <p:cNvPr id="4" name="Image 0" descr="/Users/marcuslinguet/Downloads/trafic-aerien-adp/presentation/figures/05_annulations_mensuelles.png">    </p:cNvPr>
          <p:cNvPicPr>
            <a:picLocks noChangeAspect="1"/>
          </p:cNvPicPr>
          <p:nvPr/>
        </p:nvPicPr>
        <p:blipFill>
          <a:blip r:embed="rId1"/>
          <a:stretch>
            <a:fillRect/>
          </a:stretch>
        </p:blipFill>
        <p:spPr>
          <a:xfrm>
            <a:off x="566928" y="1371600"/>
            <a:ext cx="6583680" cy="3685032"/>
          </a:xfrm>
          <a:prstGeom prst="rect">
            <a:avLst/>
          </a:prstGeom>
        </p:spPr>
      </p:pic>
      <p:sp>
        <p:nvSpPr>
          <p:cNvPr id="5" name="Shape 2"/>
          <p:cNvSpPr/>
          <p:nvPr/>
        </p:nvSpPr>
        <p:spPr>
          <a:xfrm>
            <a:off x="7406640" y="1371600"/>
            <a:ext cx="2011680" cy="1051560"/>
          </a:xfrm>
          <a:prstGeom prst="roundRect">
            <a:avLst>
              <a:gd name="adj" fmla="val 6957"/>
            </a:avLst>
          </a:prstGeom>
          <a:solidFill>
            <a:srgbClr val="FBEDE9"/>
          </a:solidFill>
          <a:ln w="12700">
            <a:solidFill>
              <a:srgbClr val="FBEDE9"/>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7552944" y="1481328"/>
            <a:ext cx="1719072" cy="566928"/>
          </a:xfrm>
          <a:prstGeom prst="rect">
            <a:avLst/>
          </a:prstGeom>
          <a:noFill/>
          <a:ln/>
        </p:spPr>
        <p:txBody>
          <a:bodyPr wrap="square" lIns="0" tIns="0" rIns="0" bIns="0" rtlCol="0" anchor="ctr"/>
          <a:lstStyle/>
          <a:p>
            <a:pPr indent="0" marL="0">
              <a:buNone/>
            </a:pPr>
            <a:r>
              <a:rPr lang="en-US" sz="2200" b="1" dirty="0">
                <a:solidFill>
                  <a:srgbClr val="E4572E"/>
                </a:solidFill>
                <a:latin typeface="Cambria" pitchFamily="34" charset="0"/>
                <a:ea typeface="Cambria" pitchFamily="34" charset="-122"/>
                <a:cs typeface="Cambria" pitchFamily="34" charset="-120"/>
              </a:rPr>
              <a:t>6 481</a:t>
            </a:r>
            <a:endParaRPr lang="en-US" sz="2200" dirty="0"/>
          </a:p>
        </p:txBody>
      </p:sp>
      <p:sp>
        <p:nvSpPr>
          <p:cNvPr id="7" name="Text 4"/>
          <p:cNvSpPr txBox="1"/>
          <p:nvPr/>
        </p:nvSpPr>
        <p:spPr>
          <a:xfrm>
            <a:off x="7552944" y="2048256"/>
            <a:ext cx="1719072" cy="26517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vols annulés</a:t>
            </a:r>
            <a:endParaRPr lang="en-US" sz="1150" dirty="0"/>
          </a:p>
        </p:txBody>
      </p:sp>
      <p:sp>
        <p:nvSpPr>
          <p:cNvPr id="8" name="Shape 5"/>
          <p:cNvSpPr/>
          <p:nvPr/>
        </p:nvSpPr>
        <p:spPr>
          <a:xfrm>
            <a:off x="9628632" y="1371600"/>
            <a:ext cx="2011680" cy="1051560"/>
          </a:xfrm>
          <a:prstGeom prst="roundRect">
            <a:avLst>
              <a:gd name="adj" fmla="val 6957"/>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9774936" y="1481328"/>
            <a:ext cx="1719072" cy="566928"/>
          </a:xfrm>
          <a:prstGeom prst="rect">
            <a:avLst/>
          </a:prstGeom>
          <a:noFill/>
          <a:ln/>
        </p:spPr>
        <p:txBody>
          <a:bodyPr wrap="square" lIns="0" tIns="0" rIns="0" bIns="0" rtlCol="0" anchor="ctr"/>
          <a:lstStyle/>
          <a:p>
            <a:pPr indent="0" marL="0">
              <a:buNone/>
            </a:pPr>
            <a:r>
              <a:rPr lang="en-US" sz="2200" b="1" dirty="0">
                <a:solidFill>
                  <a:srgbClr val="0B3C5D"/>
                </a:solidFill>
                <a:latin typeface="Cambria" pitchFamily="34" charset="0"/>
                <a:ea typeface="Cambria" pitchFamily="34" charset="-122"/>
                <a:cs typeface="Cambria" pitchFamily="34" charset="-120"/>
              </a:rPr>
              <a:t>2,56 %</a:t>
            </a:r>
            <a:endParaRPr lang="en-US" sz="2200" dirty="0"/>
          </a:p>
        </p:txBody>
      </p:sp>
      <p:sp>
        <p:nvSpPr>
          <p:cNvPr id="10" name="Text 7"/>
          <p:cNvSpPr txBox="1"/>
          <p:nvPr/>
        </p:nvSpPr>
        <p:spPr>
          <a:xfrm>
            <a:off x="9774936" y="2048256"/>
            <a:ext cx="1719072" cy="26517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de tous les vols</a:t>
            </a:r>
            <a:endParaRPr lang="en-US" sz="1150" dirty="0"/>
          </a:p>
        </p:txBody>
      </p:sp>
      <p:sp>
        <p:nvSpPr>
          <p:cNvPr id="11" name="Shape 8"/>
          <p:cNvSpPr/>
          <p:nvPr/>
        </p:nvSpPr>
        <p:spPr>
          <a:xfrm>
            <a:off x="7406640" y="2542032"/>
            <a:ext cx="4233672" cy="1234440"/>
          </a:xfrm>
          <a:prstGeom prst="roundRect">
            <a:avLst>
              <a:gd name="adj" fmla="val 5926"/>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2" name="Text 9"/>
          <p:cNvSpPr txBox="1"/>
          <p:nvPr/>
        </p:nvSpPr>
        <p:spPr>
          <a:xfrm>
            <a:off x="7626096" y="2651760"/>
            <a:ext cx="3794760" cy="256032"/>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Qui et quand</a:t>
            </a:r>
            <a:endParaRPr lang="en-US" sz="1100" dirty="0"/>
          </a:p>
        </p:txBody>
      </p:sp>
      <p:sp>
        <p:nvSpPr>
          <p:cNvPr id="13" name="Text 10"/>
          <p:cNvSpPr txBox="1"/>
          <p:nvPr/>
        </p:nvSpPr>
        <p:spPr>
          <a:xfrm>
            <a:off x="7626096" y="2926080"/>
            <a:ext cx="3794760" cy="777240"/>
          </a:xfrm>
          <a:prstGeom prst="rect">
            <a:avLst/>
          </a:prstGeom>
          <a:noFill/>
          <a:ln/>
        </p:spPr>
        <p:txBody>
          <a:bodyPr wrap="square" lIns="0" tIns="0" rIns="0" bIns="0" rtlCol="0" anchor="t"/>
          <a:lstStyle/>
          <a:p>
            <a:pPr indent="0" marL="0">
              <a:lnSpc>
                <a:spcPts val="1300"/>
              </a:lnSpc>
              <a:buNone/>
            </a:pPr>
            <a:r>
              <a:rPr lang="en-US" sz="1050" dirty="0">
                <a:solidFill>
                  <a:srgbClr val="5A6B7B"/>
                </a:solidFill>
                <a:latin typeface="Calibri" pitchFamily="34" charset="0"/>
                <a:ea typeface="Calibri" pitchFamily="34" charset="-122"/>
                <a:cs typeface="Calibri" pitchFamily="34" charset="-120"/>
              </a:rPr>
              <a:t>Février culmine à 1 261, près du double de la moyenne mensuelle. ExpressJet, Envoy Air et Endeavor concentrent l'essentiel : des flottes régionales, plus sensibles à la météo.</a:t>
            </a:r>
            <a:endParaRPr lang="en-US" sz="1050" dirty="0"/>
          </a:p>
        </p:txBody>
      </p:sp>
      <p:sp>
        <p:nvSpPr>
          <p:cNvPr id="14" name="Shape 11"/>
          <p:cNvSpPr/>
          <p:nvPr/>
        </p:nvSpPr>
        <p:spPr>
          <a:xfrm>
            <a:off x="7406640" y="3895344"/>
            <a:ext cx="4233672" cy="2286000"/>
          </a:xfrm>
          <a:prstGeom prst="roundRect">
            <a:avLst>
              <a:gd name="adj" fmla="val 3200"/>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15" name="Text 12"/>
          <p:cNvSpPr txBox="1"/>
          <p:nvPr/>
        </p:nvSpPr>
        <p:spPr>
          <a:xfrm>
            <a:off x="7626096" y="4005072"/>
            <a:ext cx="3794760" cy="256032"/>
          </a:xfrm>
          <a:prstGeom prst="rect">
            <a:avLst/>
          </a:prstGeom>
          <a:noFill/>
          <a:ln/>
        </p:spPr>
        <p:txBody>
          <a:bodyPr wrap="square" lIns="0" tIns="0" rIns="0" bIns="0" rtlCol="0" anchor="ctr"/>
          <a:lstStyle/>
          <a:p>
            <a:pPr indent="0" marL="0">
              <a:buNone/>
            </a:pPr>
            <a:r>
              <a:rPr lang="en-US" sz="1100" b="1" dirty="0">
                <a:solidFill>
                  <a:srgbClr val="E4572E"/>
                </a:solidFill>
                <a:latin typeface="Calibri" pitchFamily="34" charset="0"/>
                <a:ea typeface="Calibri" pitchFamily="34" charset="-122"/>
                <a:cs typeface="Calibri" pitchFamily="34" charset="-120"/>
              </a:rPr>
              <a:t>Quatre limites à annoncer</a:t>
            </a:r>
            <a:endParaRPr lang="en-US" sz="1100" dirty="0"/>
          </a:p>
        </p:txBody>
      </p:sp>
      <p:sp>
        <p:nvSpPr>
          <p:cNvPr id="16" name="Text 13"/>
          <p:cNvSpPr txBox="1"/>
          <p:nvPr/>
        </p:nvSpPr>
        <p:spPr>
          <a:xfrm>
            <a:off x="7626096" y="4279392"/>
            <a:ext cx="3794760" cy="1828800"/>
          </a:xfrm>
          <a:prstGeom prst="rect">
            <a:avLst/>
          </a:prstGeom>
          <a:noFill/>
          <a:ln/>
        </p:spPr>
        <p:txBody>
          <a:bodyPr wrap="square" lIns="0" tIns="0" rIns="0" bIns="0" rtlCol="0" anchor="t"/>
          <a:lstStyle/>
          <a:p>
            <a:pPr indent="0" marL="0">
              <a:lnSpc>
                <a:spcPts val="1200"/>
              </a:lnSpc>
              <a:buNone/>
            </a:pPr>
            <a:r>
              <a:rPr lang="en-US" sz="1000" dirty="0">
                <a:solidFill>
                  <a:srgbClr val="12202B"/>
                </a:solidFill>
                <a:latin typeface="Calibri" pitchFamily="34" charset="0"/>
                <a:ea typeface="Calibri" pitchFamily="34" charset="-122"/>
                <a:cs typeface="Calibri" pitchFamily="34" charset="-120"/>
              </a:rPr>
              <a:t>252 704 vols quand l'énoncé en annonce 326 776 : août et septembre absents, juillet arrêté au 3. Aucune conclusion possible sur l'été.</a:t>
            </a:r>
            <a:endParaRPr lang="en-US" sz="1000" dirty="0"/>
          </a:p>
          <a:p>
            <a:pPr indent="0" marL="0">
              <a:lnSpc>
                <a:spcPts val="1200"/>
              </a:lnSpc>
              <a:buNone/>
            </a:pPr>
            <a:r>
              <a:rPr lang="en-US" sz="1000" dirty="0">
                <a:solidFill>
                  <a:srgbClr val="12202B"/>
                </a:solidFill>
                <a:latin typeface="Calibri" pitchFamily="34" charset="0"/>
                <a:ea typeface="Calibri" pitchFamily="34" charset="-122"/>
                <a:cs typeface="Calibri" pitchFamily="34" charset="-120"/>
              </a:rPr>
              <a:t>Le 4 juillet tombe dans le trou : Independence Day n'est pas mesurable.</a:t>
            </a:r>
            <a:endParaRPr lang="en-US" sz="1000" dirty="0"/>
          </a:p>
          <a:p>
            <a:pPr indent="0" marL="0">
              <a:lnSpc>
                <a:spcPts val="1200"/>
              </a:lnSpc>
              <a:buNone/>
            </a:pPr>
            <a:r>
              <a:rPr lang="en-US" sz="1000" dirty="0">
                <a:solidFill>
                  <a:srgbClr val="12202B"/>
                </a:solidFill>
                <a:latin typeface="Calibri" pitchFamily="34" charset="0"/>
                <a:ea typeface="Calibri" pitchFamily="34" charset="-122"/>
                <a:cs typeface="Calibri" pitchFamily="34" charset="-120"/>
              </a:rPr>
              <a:t>La météo ne couvre qu'EWR, de janvier à mai, et contient un vent à 1 048 mph — écarté.</a:t>
            </a:r>
            <a:endParaRPr lang="en-US" sz="1000" dirty="0"/>
          </a:p>
          <a:p>
            <a:pPr indent="0" marL="0">
              <a:lnSpc>
                <a:spcPts val="1200"/>
              </a:lnSpc>
              <a:buNone/>
            </a:pPr>
            <a:r>
              <a:rPr lang="en-US" sz="1000" dirty="0">
                <a:solidFill>
                  <a:srgbClr val="12202B"/>
                </a:solidFill>
                <a:latin typeface="Calibri" pitchFamily="34" charset="0"/>
                <a:ea typeface="Calibri" pitchFamily="34" charset="-122"/>
                <a:cs typeface="Calibri" pitchFamily="34" charset="-120"/>
              </a:rPr>
              <a:t>Les 2,56 % d'heures manquantes sont exactement les vols annulés : les moyennes de retard portent sur 246 223 vols, pas 252 704.</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BLOC 3 — REPORTING  ·  MARCUS</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dashboard en neuf onglets, branché sur l'API</a:t>
            </a:r>
            <a:endParaRPr lang="en-US" sz="3200" dirty="0"/>
          </a:p>
        </p:txBody>
      </p:sp>
      <p:pic>
        <p:nvPicPr>
          <p:cNvPr id="4" name="Image 0" descr="/Users/marcuslinguet/Downloads/trafic-aerien-adp/presentation/figures/10_dashboard_vue_ensemble.png">    </p:cNvPr>
          <p:cNvPicPr>
            <a:picLocks noChangeAspect="1"/>
          </p:cNvPicPr>
          <p:nvPr/>
        </p:nvPicPr>
        <p:blipFill>
          <a:blip r:embed="rId1"/>
          <a:stretch>
            <a:fillRect/>
          </a:stretch>
        </p:blipFill>
        <p:spPr>
          <a:xfrm>
            <a:off x="566928" y="1371600"/>
            <a:ext cx="4892040" cy="4572000"/>
          </a:xfrm>
          <a:prstGeom prst="rect">
            <a:avLst/>
          </a:prstGeom>
        </p:spPr>
      </p:pic>
      <p:sp>
        <p:nvSpPr>
          <p:cNvPr id="5" name="Shape 2"/>
          <p:cNvSpPr/>
          <p:nvPr/>
        </p:nvSpPr>
        <p:spPr>
          <a:xfrm>
            <a:off x="5806440" y="1517904"/>
            <a:ext cx="274320" cy="274320"/>
          </a:xfrm>
          <a:prstGeom prst="ellipse">
            <a:avLst/>
          </a:prstGeom>
          <a:solidFill>
            <a:srgbClr val="1D8AC1"/>
          </a:solidFill>
          <a:ln w="12700">
            <a:solidFill>
              <a:srgbClr val="1D8AC1"/>
            </a:solidFill>
            <a:prstDash val="solid"/>
          </a:ln>
        </p:spPr>
      </p:sp>
      <p:sp>
        <p:nvSpPr>
          <p:cNvPr id="6" name="Text 3"/>
          <p:cNvSpPr txBox="1"/>
          <p:nvPr/>
        </p:nvSpPr>
        <p:spPr>
          <a:xfrm>
            <a:off x="5806440" y="1545336"/>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7" name="Text 4"/>
          <p:cNvSpPr txBox="1"/>
          <p:nvPr/>
        </p:nvSpPr>
        <p:spPr>
          <a:xfrm>
            <a:off x="6236208" y="1463040"/>
            <a:ext cx="5394960" cy="384048"/>
          </a:xfrm>
          <a:prstGeom prst="rect">
            <a:avLst/>
          </a:prstGeom>
          <a:noFill/>
          <a:ln/>
        </p:spPr>
        <p:txBody>
          <a:bodyPr wrap="square" lIns="0" tIns="0" rIns="0" bIns="0" rtlCol="0" anchor="ctr"/>
          <a:lstStyle/>
          <a:p>
            <a:pPr indent="0" marL="0">
              <a:buNone/>
            </a:pPr>
            <a:r>
              <a:rPr lang="en-US" sz="1250" b="1" dirty="0">
                <a:solidFill>
                  <a:srgbClr val="12202B"/>
                </a:solidFill>
                <a:latin typeface="Calibri" pitchFamily="34" charset="0"/>
                <a:ea typeface="Calibri" pitchFamily="34" charset="-122"/>
                <a:cs typeface="Calibri" pitchFamily="34" charset="-120"/>
              </a:rPr>
              <a:t>Vue d'ensemble  </a:t>
            </a:r>
            <a:pPr indent="0" marL="0">
              <a:buNone/>
            </a:pPr>
            <a:r>
              <a:rPr lang="en-US" sz="1100" dirty="0">
                <a:solidFill>
                  <a:srgbClr val="5A6B7B"/>
                </a:solidFill>
                <a:latin typeface="Calibri" pitchFamily="34" charset="0"/>
                <a:ea typeface="Calibri" pitchFamily="34" charset="-122"/>
                <a:cs typeface="Calibri" pitchFamily="34" charset="-120"/>
              </a:rPr>
              <a:t>volumétrie et cadrage</a:t>
            </a:r>
            <a:endParaRPr lang="en-US" sz="1250" dirty="0"/>
          </a:p>
        </p:txBody>
      </p:sp>
      <p:sp>
        <p:nvSpPr>
          <p:cNvPr id="8" name="Shape 5"/>
          <p:cNvSpPr/>
          <p:nvPr/>
        </p:nvSpPr>
        <p:spPr>
          <a:xfrm>
            <a:off x="5806440" y="2029968"/>
            <a:ext cx="274320" cy="274320"/>
          </a:xfrm>
          <a:prstGeom prst="ellipse">
            <a:avLst/>
          </a:prstGeom>
          <a:solidFill>
            <a:srgbClr val="1D8AC1"/>
          </a:solidFill>
          <a:ln w="12700">
            <a:solidFill>
              <a:srgbClr val="1D8AC1"/>
            </a:solidFill>
            <a:prstDash val="solid"/>
          </a:ln>
        </p:spPr>
      </p:sp>
      <p:sp>
        <p:nvSpPr>
          <p:cNvPr id="9" name="Text 6"/>
          <p:cNvSpPr txBox="1"/>
          <p:nvPr/>
        </p:nvSpPr>
        <p:spPr>
          <a:xfrm>
            <a:off x="5806440" y="2057400"/>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0" name="Text 7"/>
          <p:cNvSpPr txBox="1"/>
          <p:nvPr/>
        </p:nvSpPr>
        <p:spPr>
          <a:xfrm>
            <a:off x="6236208" y="1975104"/>
            <a:ext cx="5394960" cy="384048"/>
          </a:xfrm>
          <a:prstGeom prst="rect">
            <a:avLst/>
          </a:prstGeom>
          <a:noFill/>
          <a:ln/>
        </p:spPr>
        <p:txBody>
          <a:bodyPr wrap="square" lIns="0" tIns="0" rIns="0" bIns="0" rtlCol="0" anchor="ctr"/>
          <a:lstStyle/>
          <a:p>
            <a:pPr indent="0" marL="0">
              <a:buNone/>
            </a:pPr>
            <a:r>
              <a:rPr lang="en-US" sz="1250" b="1" dirty="0">
                <a:solidFill>
                  <a:srgbClr val="12202B"/>
                </a:solidFill>
                <a:latin typeface="Calibri" pitchFamily="34" charset="0"/>
                <a:ea typeface="Calibri" pitchFamily="34" charset="-122"/>
                <a:cs typeface="Calibri" pitchFamily="34" charset="-120"/>
              </a:rPr>
              <a:t>Trafic  </a:t>
            </a:r>
            <a:pPr indent="0" marL="0">
              <a:buNone/>
            </a:pPr>
            <a:r>
              <a:rPr lang="en-US" sz="1100" dirty="0">
                <a:solidFill>
                  <a:srgbClr val="5A6B7B"/>
                </a:solidFill>
                <a:latin typeface="Calibri" pitchFamily="34" charset="0"/>
                <a:ea typeface="Calibri" pitchFamily="34" charset="-122"/>
                <a:cs typeface="Calibri" pitchFamily="34" charset="-120"/>
              </a:rPr>
              <a:t>saisonnalité, croissance, périodes</a:t>
            </a:r>
            <a:endParaRPr lang="en-US" sz="1250" dirty="0"/>
          </a:p>
        </p:txBody>
      </p:sp>
      <p:sp>
        <p:nvSpPr>
          <p:cNvPr id="11" name="Shape 8"/>
          <p:cNvSpPr/>
          <p:nvPr/>
        </p:nvSpPr>
        <p:spPr>
          <a:xfrm>
            <a:off x="5806440" y="2542032"/>
            <a:ext cx="274320" cy="274320"/>
          </a:xfrm>
          <a:prstGeom prst="ellipse">
            <a:avLst/>
          </a:prstGeom>
          <a:solidFill>
            <a:srgbClr val="1D8AC1"/>
          </a:solidFill>
          <a:ln w="12700">
            <a:solidFill>
              <a:srgbClr val="1D8AC1"/>
            </a:solidFill>
            <a:prstDash val="solid"/>
          </a:ln>
        </p:spPr>
      </p:sp>
      <p:sp>
        <p:nvSpPr>
          <p:cNvPr id="12" name="Text 9"/>
          <p:cNvSpPr txBox="1"/>
          <p:nvPr/>
        </p:nvSpPr>
        <p:spPr>
          <a:xfrm>
            <a:off x="5806440" y="2569464"/>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3" name="Text 10"/>
          <p:cNvSpPr txBox="1"/>
          <p:nvPr/>
        </p:nvSpPr>
        <p:spPr>
          <a:xfrm>
            <a:off x="6236208" y="2487168"/>
            <a:ext cx="5394960" cy="384048"/>
          </a:xfrm>
          <a:prstGeom prst="rect">
            <a:avLst/>
          </a:prstGeom>
          <a:noFill/>
          <a:ln/>
        </p:spPr>
        <p:txBody>
          <a:bodyPr wrap="square" lIns="0" tIns="0" rIns="0" bIns="0" rtlCol="0" anchor="ctr"/>
          <a:lstStyle/>
          <a:p>
            <a:pPr indent="0" marL="0">
              <a:buNone/>
            </a:pPr>
            <a:r>
              <a:rPr lang="en-US" sz="1250" b="1" dirty="0">
                <a:solidFill>
                  <a:srgbClr val="12202B"/>
                </a:solidFill>
                <a:latin typeface="Calibri" pitchFamily="34" charset="0"/>
                <a:ea typeface="Calibri" pitchFamily="34" charset="-122"/>
                <a:cs typeface="Calibri" pitchFamily="34" charset="-120"/>
              </a:rPr>
              <a:t>Retards  </a:t>
            </a:r>
            <a:pPr indent="0" marL="0">
              <a:buNone/>
            </a:pPr>
            <a:r>
              <a:rPr lang="en-US" sz="1100" dirty="0">
                <a:solidFill>
                  <a:srgbClr val="5A6B7B"/>
                </a:solidFill>
                <a:latin typeface="Calibri" pitchFamily="34" charset="0"/>
                <a:ea typeface="Calibri" pitchFamily="34" charset="-122"/>
                <a:cs typeface="Calibri" pitchFamily="34" charset="-120"/>
              </a:rPr>
              <a:t>compagnies, aéroports, vitesse, extrêmes</a:t>
            </a:r>
            <a:endParaRPr lang="en-US" sz="1250" dirty="0"/>
          </a:p>
        </p:txBody>
      </p:sp>
      <p:sp>
        <p:nvSpPr>
          <p:cNvPr id="14" name="Shape 11"/>
          <p:cNvSpPr/>
          <p:nvPr/>
        </p:nvSpPr>
        <p:spPr>
          <a:xfrm>
            <a:off x="5806440" y="3054096"/>
            <a:ext cx="274320" cy="274320"/>
          </a:xfrm>
          <a:prstGeom prst="ellipse">
            <a:avLst/>
          </a:prstGeom>
          <a:solidFill>
            <a:srgbClr val="1D8AC1"/>
          </a:solidFill>
          <a:ln w="12700">
            <a:solidFill>
              <a:srgbClr val="1D8AC1"/>
            </a:solidFill>
            <a:prstDash val="solid"/>
          </a:ln>
        </p:spPr>
      </p:sp>
      <p:sp>
        <p:nvSpPr>
          <p:cNvPr id="15" name="Text 12"/>
          <p:cNvSpPr txBox="1"/>
          <p:nvPr/>
        </p:nvSpPr>
        <p:spPr>
          <a:xfrm>
            <a:off x="5806440" y="3081528"/>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6" name="Text 13"/>
          <p:cNvSpPr txBox="1"/>
          <p:nvPr/>
        </p:nvSpPr>
        <p:spPr>
          <a:xfrm>
            <a:off x="6236208" y="2999232"/>
            <a:ext cx="5394960" cy="384048"/>
          </a:xfrm>
          <a:prstGeom prst="rect">
            <a:avLst/>
          </a:prstGeom>
          <a:noFill/>
          <a:ln/>
        </p:spPr>
        <p:txBody>
          <a:bodyPr wrap="square" lIns="0" tIns="0" rIns="0" bIns="0" rtlCol="0" anchor="ctr"/>
          <a:lstStyle/>
          <a:p>
            <a:pPr indent="0" marL="0">
              <a:buNone/>
            </a:pPr>
            <a:r>
              <a:rPr lang="en-US" sz="1250" b="1" dirty="0">
                <a:solidFill>
                  <a:srgbClr val="12202B"/>
                </a:solidFill>
                <a:latin typeface="Calibri" pitchFamily="34" charset="0"/>
                <a:ea typeface="Calibri" pitchFamily="34" charset="-122"/>
                <a:cs typeface="Calibri" pitchFamily="34" charset="-120"/>
              </a:rPr>
              <a:t>Annulations  </a:t>
            </a:r>
            <a:pPr indent="0" marL="0">
              <a:buNone/>
            </a:pPr>
            <a:r>
              <a:rPr lang="en-US" sz="1100" dirty="0">
                <a:solidFill>
                  <a:srgbClr val="5A6B7B"/>
                </a:solidFill>
                <a:latin typeface="Calibri" pitchFamily="34" charset="0"/>
                <a:ea typeface="Calibri" pitchFamily="34" charset="-122"/>
                <a:cs typeface="Calibri" pitchFamily="34" charset="-120"/>
              </a:rPr>
              <a:t>volumétrie et qualité des données</a:t>
            </a:r>
            <a:endParaRPr lang="en-US" sz="1250" dirty="0"/>
          </a:p>
        </p:txBody>
      </p:sp>
      <p:sp>
        <p:nvSpPr>
          <p:cNvPr id="17" name="Shape 14"/>
          <p:cNvSpPr/>
          <p:nvPr/>
        </p:nvSpPr>
        <p:spPr>
          <a:xfrm>
            <a:off x="5806440" y="3566160"/>
            <a:ext cx="274320" cy="274320"/>
          </a:xfrm>
          <a:prstGeom prst="ellipse">
            <a:avLst/>
          </a:prstGeom>
          <a:solidFill>
            <a:srgbClr val="1D8AC1"/>
          </a:solidFill>
          <a:ln w="12700">
            <a:solidFill>
              <a:srgbClr val="1D8AC1"/>
            </a:solidFill>
            <a:prstDash val="solid"/>
          </a:ln>
        </p:spPr>
      </p:sp>
      <p:sp>
        <p:nvSpPr>
          <p:cNvPr id="18" name="Text 15"/>
          <p:cNvSpPr txBox="1"/>
          <p:nvPr/>
        </p:nvSpPr>
        <p:spPr>
          <a:xfrm>
            <a:off x="5806440" y="3593592"/>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19" name="Text 16"/>
          <p:cNvSpPr txBox="1"/>
          <p:nvPr/>
        </p:nvSpPr>
        <p:spPr>
          <a:xfrm>
            <a:off x="6236208" y="3511296"/>
            <a:ext cx="5394960" cy="384048"/>
          </a:xfrm>
          <a:prstGeom prst="rect">
            <a:avLst/>
          </a:prstGeom>
          <a:noFill/>
          <a:ln/>
        </p:spPr>
        <p:txBody>
          <a:bodyPr wrap="square" lIns="0" tIns="0" rIns="0" bIns="0" rtlCol="0" anchor="ctr"/>
          <a:lstStyle/>
          <a:p>
            <a:pPr indent="0" marL="0">
              <a:buNone/>
            </a:pPr>
            <a:r>
              <a:rPr lang="en-US" sz="1250" b="1" dirty="0">
                <a:solidFill>
                  <a:srgbClr val="12202B"/>
                </a:solidFill>
                <a:latin typeface="Calibri" pitchFamily="34" charset="0"/>
                <a:ea typeface="Calibri" pitchFamily="34" charset="-122"/>
                <a:cs typeface="Calibri" pitchFamily="34" charset="-120"/>
              </a:rPr>
              <a:t>Carte  </a:t>
            </a:r>
            <a:pPr indent="0" marL="0">
              <a:buNone/>
            </a:pPr>
            <a:r>
              <a:rPr lang="en-US" sz="1100" dirty="0">
                <a:solidFill>
                  <a:srgbClr val="5A6B7B"/>
                </a:solidFill>
                <a:latin typeface="Calibri" pitchFamily="34" charset="0"/>
                <a:ea typeface="Calibri" pitchFamily="34" charset="-122"/>
                <a:cs typeface="Calibri" pitchFamily="34" charset="-120"/>
              </a:rPr>
              <a:t>réseau origine → destination</a:t>
            </a:r>
            <a:endParaRPr lang="en-US" sz="1250" dirty="0"/>
          </a:p>
        </p:txBody>
      </p:sp>
      <p:sp>
        <p:nvSpPr>
          <p:cNvPr id="20" name="Shape 17"/>
          <p:cNvSpPr/>
          <p:nvPr/>
        </p:nvSpPr>
        <p:spPr>
          <a:xfrm>
            <a:off x="5806440" y="4078224"/>
            <a:ext cx="274320" cy="274320"/>
          </a:xfrm>
          <a:prstGeom prst="ellipse">
            <a:avLst/>
          </a:prstGeom>
          <a:solidFill>
            <a:srgbClr val="1D8AC1"/>
          </a:solidFill>
          <a:ln w="12700">
            <a:solidFill>
              <a:srgbClr val="1D8AC1"/>
            </a:solidFill>
            <a:prstDash val="solid"/>
          </a:ln>
        </p:spPr>
      </p:sp>
      <p:sp>
        <p:nvSpPr>
          <p:cNvPr id="21" name="Text 18"/>
          <p:cNvSpPr txBox="1"/>
          <p:nvPr/>
        </p:nvSpPr>
        <p:spPr>
          <a:xfrm>
            <a:off x="5806440" y="4105656"/>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22" name="Text 19"/>
          <p:cNvSpPr txBox="1"/>
          <p:nvPr/>
        </p:nvSpPr>
        <p:spPr>
          <a:xfrm>
            <a:off x="6236208" y="4023360"/>
            <a:ext cx="5394960" cy="384048"/>
          </a:xfrm>
          <a:prstGeom prst="rect">
            <a:avLst/>
          </a:prstGeom>
          <a:noFill/>
          <a:ln/>
        </p:spPr>
        <p:txBody>
          <a:bodyPr wrap="square" lIns="0" tIns="0" rIns="0" bIns="0" rtlCol="0" anchor="ctr"/>
          <a:lstStyle/>
          <a:p>
            <a:pPr indent="0" marL="0">
              <a:buNone/>
            </a:pPr>
            <a:r>
              <a:rPr lang="en-US" sz="1250" b="1" dirty="0">
                <a:solidFill>
                  <a:srgbClr val="12202B"/>
                </a:solidFill>
                <a:latin typeface="Calibri" pitchFamily="34" charset="0"/>
                <a:ea typeface="Calibri" pitchFamily="34" charset="-122"/>
                <a:cs typeface="Calibri" pitchFamily="34" charset="-120"/>
              </a:rPr>
              <a:t>Météo  </a:t>
            </a:r>
            <a:pPr indent="0" marL="0">
              <a:buNone/>
            </a:pPr>
            <a:r>
              <a:rPr lang="en-US" sz="1100" dirty="0">
                <a:solidFill>
                  <a:srgbClr val="5A6B7B"/>
                </a:solidFill>
                <a:latin typeface="Calibri" pitchFamily="34" charset="0"/>
                <a:ea typeface="Calibri" pitchFamily="34" charset="-122"/>
                <a:cs typeface="Calibri" pitchFamily="34" charset="-120"/>
              </a:rPr>
              <a:t>température, vent, précipitations</a:t>
            </a:r>
            <a:endParaRPr lang="en-US" sz="1250" dirty="0"/>
          </a:p>
        </p:txBody>
      </p:sp>
      <p:sp>
        <p:nvSpPr>
          <p:cNvPr id="23" name="Shape 20"/>
          <p:cNvSpPr/>
          <p:nvPr/>
        </p:nvSpPr>
        <p:spPr>
          <a:xfrm>
            <a:off x="5806440" y="4590288"/>
            <a:ext cx="274320" cy="274320"/>
          </a:xfrm>
          <a:prstGeom prst="ellipse">
            <a:avLst/>
          </a:prstGeom>
          <a:solidFill>
            <a:srgbClr val="E4572E"/>
          </a:solidFill>
          <a:ln w="12700">
            <a:solidFill>
              <a:srgbClr val="E4572E"/>
            </a:solidFill>
            <a:prstDash val="solid"/>
          </a:ln>
        </p:spPr>
      </p:sp>
      <p:sp>
        <p:nvSpPr>
          <p:cNvPr id="24" name="Text 21"/>
          <p:cNvSpPr txBox="1"/>
          <p:nvPr/>
        </p:nvSpPr>
        <p:spPr>
          <a:xfrm>
            <a:off x="5806440" y="4617720"/>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6236208" y="4535424"/>
            <a:ext cx="5394960" cy="384048"/>
          </a:xfrm>
          <a:prstGeom prst="rect">
            <a:avLst/>
          </a:prstGeom>
          <a:noFill/>
          <a:ln/>
        </p:spPr>
        <p:txBody>
          <a:bodyPr wrap="square" lIns="0" tIns="0" rIns="0" bIns="0" rtlCol="0" anchor="ctr"/>
          <a:lstStyle/>
          <a:p>
            <a:pPr indent="0" marL="0">
              <a:buNone/>
            </a:pPr>
            <a:r>
              <a:rPr lang="en-US" sz="1250" b="1" dirty="0">
                <a:solidFill>
                  <a:srgbClr val="12202B"/>
                </a:solidFill>
                <a:latin typeface="Calibri" pitchFamily="34" charset="0"/>
                <a:ea typeface="Calibri" pitchFamily="34" charset="-122"/>
                <a:cs typeface="Calibri" pitchFamily="34" charset="-120"/>
              </a:rPr>
              <a:t>Vols  </a:t>
            </a:r>
            <a:pPr indent="0" marL="0">
              <a:buNone/>
            </a:pPr>
            <a:r>
              <a:rPr lang="en-US" sz="1100" dirty="0">
                <a:solidFill>
                  <a:srgbClr val="5A6B7B"/>
                </a:solidFill>
                <a:latin typeface="Calibri" pitchFamily="34" charset="0"/>
                <a:ea typeface="Calibri" pitchFamily="34" charset="-122"/>
                <a:cs typeface="Calibri" pitchFamily="34" charset="-120"/>
              </a:rPr>
              <a:t>explorateur filtré, trié, paginé</a:t>
            </a:r>
            <a:endParaRPr lang="en-US" sz="1250" dirty="0"/>
          </a:p>
        </p:txBody>
      </p:sp>
      <p:sp>
        <p:nvSpPr>
          <p:cNvPr id="26" name="Shape 23"/>
          <p:cNvSpPr/>
          <p:nvPr/>
        </p:nvSpPr>
        <p:spPr>
          <a:xfrm>
            <a:off x="5806440" y="5102352"/>
            <a:ext cx="274320" cy="274320"/>
          </a:xfrm>
          <a:prstGeom prst="ellipse">
            <a:avLst/>
          </a:prstGeom>
          <a:solidFill>
            <a:srgbClr val="E4572E"/>
          </a:solidFill>
          <a:ln w="12700">
            <a:solidFill>
              <a:srgbClr val="E4572E"/>
            </a:solidFill>
            <a:prstDash val="solid"/>
          </a:ln>
        </p:spPr>
      </p:sp>
      <p:sp>
        <p:nvSpPr>
          <p:cNvPr id="27" name="Text 24"/>
          <p:cNvSpPr txBox="1"/>
          <p:nvPr/>
        </p:nvSpPr>
        <p:spPr>
          <a:xfrm>
            <a:off x="5806440" y="5129784"/>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28" name="Text 25"/>
          <p:cNvSpPr txBox="1"/>
          <p:nvPr/>
        </p:nvSpPr>
        <p:spPr>
          <a:xfrm>
            <a:off x="6236208" y="5047488"/>
            <a:ext cx="5394960" cy="384048"/>
          </a:xfrm>
          <a:prstGeom prst="rect">
            <a:avLst/>
          </a:prstGeom>
          <a:noFill/>
          <a:ln/>
        </p:spPr>
        <p:txBody>
          <a:bodyPr wrap="square" lIns="0" tIns="0" rIns="0" bIns="0" rtlCol="0" anchor="ctr"/>
          <a:lstStyle/>
          <a:p>
            <a:pPr indent="0" marL="0">
              <a:buNone/>
            </a:pPr>
            <a:r>
              <a:rPr lang="en-US" sz="1250" b="1" dirty="0">
                <a:solidFill>
                  <a:srgbClr val="12202B"/>
                </a:solidFill>
                <a:latin typeface="Calibri" pitchFamily="34" charset="0"/>
                <a:ea typeface="Calibri" pitchFamily="34" charset="-122"/>
                <a:cs typeface="Calibri" pitchFamily="34" charset="-120"/>
              </a:rPr>
              <a:t>Prévisions  </a:t>
            </a:r>
            <a:pPr indent="0" marL="0">
              <a:buNone/>
            </a:pPr>
            <a:r>
              <a:rPr lang="en-US" sz="1100" dirty="0">
                <a:solidFill>
                  <a:srgbClr val="5A6B7B"/>
                </a:solidFill>
                <a:latin typeface="Calibri" pitchFamily="34" charset="0"/>
                <a:ea typeface="Calibri" pitchFamily="34" charset="-122"/>
                <a:cs typeface="Calibri" pitchFamily="34" charset="-120"/>
              </a:rPr>
              <a:t>modèle saisonnier et validation</a:t>
            </a:r>
            <a:endParaRPr lang="en-US" sz="1250" dirty="0"/>
          </a:p>
        </p:txBody>
      </p:sp>
      <p:sp>
        <p:nvSpPr>
          <p:cNvPr id="29" name="Shape 26"/>
          <p:cNvSpPr/>
          <p:nvPr/>
        </p:nvSpPr>
        <p:spPr>
          <a:xfrm>
            <a:off x="5806440" y="5614416"/>
            <a:ext cx="274320" cy="274320"/>
          </a:xfrm>
          <a:prstGeom prst="ellipse">
            <a:avLst/>
          </a:prstGeom>
          <a:solidFill>
            <a:srgbClr val="1D8AC1"/>
          </a:solidFill>
          <a:ln w="12700">
            <a:solidFill>
              <a:srgbClr val="1D8AC1"/>
            </a:solidFill>
            <a:prstDash val="solid"/>
          </a:ln>
        </p:spPr>
      </p:sp>
      <p:sp>
        <p:nvSpPr>
          <p:cNvPr id="30" name="Text 27"/>
          <p:cNvSpPr txBox="1"/>
          <p:nvPr/>
        </p:nvSpPr>
        <p:spPr>
          <a:xfrm>
            <a:off x="5806440" y="5641848"/>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31" name="Text 28"/>
          <p:cNvSpPr txBox="1"/>
          <p:nvPr/>
        </p:nvSpPr>
        <p:spPr>
          <a:xfrm>
            <a:off x="6236208" y="5559552"/>
            <a:ext cx="5394960" cy="384048"/>
          </a:xfrm>
          <a:prstGeom prst="rect">
            <a:avLst/>
          </a:prstGeom>
          <a:noFill/>
          <a:ln/>
        </p:spPr>
        <p:txBody>
          <a:bodyPr wrap="square" lIns="0" tIns="0" rIns="0" bIns="0" rtlCol="0" anchor="ctr"/>
          <a:lstStyle/>
          <a:p>
            <a:pPr indent="0" marL="0">
              <a:buNone/>
            </a:pPr>
            <a:r>
              <a:rPr lang="en-US" sz="1250" b="1" dirty="0">
                <a:solidFill>
                  <a:srgbClr val="12202B"/>
                </a:solidFill>
                <a:latin typeface="Calibri" pitchFamily="34" charset="0"/>
                <a:ea typeface="Calibri" pitchFamily="34" charset="-122"/>
                <a:cs typeface="Calibri" pitchFamily="34" charset="-120"/>
              </a:rPr>
              <a:t>Données &amp; méthode  </a:t>
            </a:r>
            <a:pPr indent="0" marL="0">
              <a:buNone/>
            </a:pPr>
            <a:r>
              <a:rPr lang="en-US" sz="1100" dirty="0">
                <a:solidFill>
                  <a:srgbClr val="5A6B7B"/>
                </a:solidFill>
                <a:latin typeface="Calibri" pitchFamily="34" charset="0"/>
                <a:ea typeface="Calibri" pitchFamily="34" charset="-122"/>
                <a:cs typeface="Calibri" pitchFamily="34" charset="-120"/>
              </a:rPr>
              <a:t>sources et conventions de lecture</a:t>
            </a:r>
            <a:endParaRPr lang="en-US" sz="1250" dirty="0"/>
          </a:p>
        </p:txBody>
      </p:sp>
      <p:sp>
        <p:nvSpPr>
          <p:cNvPr id="32" name="Shape 29"/>
          <p:cNvSpPr/>
          <p:nvPr/>
        </p:nvSpPr>
        <p:spPr>
          <a:xfrm>
            <a:off x="5806440" y="6053328"/>
            <a:ext cx="5833872" cy="502920"/>
          </a:xfrm>
          <a:prstGeom prst="roundRect">
            <a:avLst>
              <a:gd name="adj" fmla="val 14545"/>
            </a:avLst>
          </a:prstGeom>
          <a:solidFill>
            <a:srgbClr val="E8F1F8"/>
          </a:solidFill>
          <a:ln w="12700">
            <a:solidFill>
              <a:srgbClr val="CFE3F1"/>
            </a:solidFill>
            <a:prstDash val="solid"/>
          </a:ln>
        </p:spPr>
      </p:sp>
      <p:sp>
        <p:nvSpPr>
          <p:cNvPr id="33" name="Text 30"/>
          <p:cNvSpPr txBox="1"/>
          <p:nvPr/>
        </p:nvSpPr>
        <p:spPr>
          <a:xfrm>
            <a:off x="5989320" y="6126480"/>
            <a:ext cx="5486400" cy="384048"/>
          </a:xfrm>
          <a:prstGeom prst="rect">
            <a:avLst/>
          </a:prstGeom>
          <a:noFill/>
          <a:ln/>
        </p:spPr>
        <p:txBody>
          <a:bodyPr wrap="square" lIns="0" tIns="0" rIns="0" bIns="0" rtlCol="0" anchor="t"/>
          <a:lstStyle/>
          <a:p>
            <a:pPr indent="0" marL="0">
              <a:lnSpc>
                <a:spcPts val="1300"/>
              </a:lnSpc>
              <a:buNone/>
            </a:pPr>
            <a:r>
              <a:rPr lang="en-US" sz="1050" dirty="0">
                <a:solidFill>
                  <a:srgbClr val="5A6B7B"/>
                </a:solidFill>
                <a:latin typeface="Calibri" pitchFamily="34" charset="0"/>
                <a:ea typeface="Calibri" pitchFamily="34" charset="-122"/>
                <a:cs typeface="Calibri" pitchFamily="34" charset="-120"/>
              </a:rPr>
              <a:t>Aucune connexion à MySQL : tout passe par l'API. Si elle tombe, le badge passe au rouge et chaque graphique affiche l'erreur — la session ne tombe jamais.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BLOC 3 — MISSION 3  ·  MARCUS</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Prévoir le trafic à 30 jours, avec 7,3 % d'erreur</a:t>
            </a:r>
            <a:endParaRPr lang="en-US" sz="3200" dirty="0"/>
          </a:p>
        </p:txBody>
      </p:sp>
      <p:pic>
        <p:nvPicPr>
          <p:cNvPr id="4" name="Image 0" descr="/Users/marcuslinguet/Downloads/trafic-aerien-adp/presentation/figures/07_prevision_trafic.png">    </p:cNvPr>
          <p:cNvPicPr>
            <a:picLocks noChangeAspect="1"/>
          </p:cNvPicPr>
          <p:nvPr/>
        </p:nvPicPr>
        <p:blipFill>
          <a:blip r:embed="rId1"/>
          <a:stretch>
            <a:fillRect/>
          </a:stretch>
        </p:blipFill>
        <p:spPr>
          <a:xfrm>
            <a:off x="566928" y="1371600"/>
            <a:ext cx="7589520" cy="4251960"/>
          </a:xfrm>
          <a:prstGeom prst="rect">
            <a:avLst/>
          </a:prstGeom>
        </p:spPr>
      </p:pic>
      <p:sp>
        <p:nvSpPr>
          <p:cNvPr id="5" name="Shape 2"/>
          <p:cNvSpPr/>
          <p:nvPr/>
        </p:nvSpPr>
        <p:spPr>
          <a:xfrm>
            <a:off x="8366760" y="1371600"/>
            <a:ext cx="3246120" cy="1115568"/>
          </a:xfrm>
          <a:prstGeom prst="roundRect">
            <a:avLst>
              <a:gd name="adj" fmla="val 6557"/>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513064" y="1481328"/>
            <a:ext cx="2953512" cy="56692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63 vols</a:t>
            </a:r>
            <a:endParaRPr lang="en-US" sz="2400" dirty="0"/>
          </a:p>
        </p:txBody>
      </p:sp>
      <p:sp>
        <p:nvSpPr>
          <p:cNvPr id="7" name="Text 4"/>
          <p:cNvSpPr txBox="1"/>
          <p:nvPr/>
        </p:nvSpPr>
        <p:spPr>
          <a:xfrm>
            <a:off x="8513064" y="2048256"/>
            <a:ext cx="2953512" cy="329184"/>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d'erreur moyenne par jour, sur les 28 derniers jours mis de côté</a:t>
            </a:r>
            <a:endParaRPr lang="en-US" sz="1150" dirty="0"/>
          </a:p>
        </p:txBody>
      </p:sp>
      <p:sp>
        <p:nvSpPr>
          <p:cNvPr id="8" name="Shape 5"/>
          <p:cNvSpPr/>
          <p:nvPr/>
        </p:nvSpPr>
        <p:spPr>
          <a:xfrm>
            <a:off x="8366760" y="2596896"/>
            <a:ext cx="3246120" cy="1115568"/>
          </a:xfrm>
          <a:prstGeom prst="roundRect">
            <a:avLst>
              <a:gd name="adj" fmla="val 6557"/>
            </a:avLst>
          </a:prstGeom>
          <a:solidFill>
            <a:srgbClr val="EAF6F0"/>
          </a:solidFill>
          <a:ln w="12700">
            <a:solidFill>
              <a:srgbClr val="EAF6F0"/>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8513064" y="2706624"/>
            <a:ext cx="2953512" cy="566928"/>
          </a:xfrm>
          <a:prstGeom prst="rect">
            <a:avLst/>
          </a:prstGeom>
          <a:noFill/>
          <a:ln/>
        </p:spPr>
        <p:txBody>
          <a:bodyPr wrap="square" lIns="0" tIns="0" rIns="0" bIns="0" rtlCol="0" anchor="ctr"/>
          <a:lstStyle/>
          <a:p>
            <a:pPr indent="0" marL="0">
              <a:buNone/>
            </a:pPr>
            <a:r>
              <a:rPr lang="en-US" sz="2400" b="1" dirty="0">
                <a:solidFill>
                  <a:srgbClr val="2E9E6B"/>
                </a:solidFill>
                <a:latin typeface="Cambria" pitchFamily="34" charset="0"/>
                <a:ea typeface="Cambria" pitchFamily="34" charset="-122"/>
                <a:cs typeface="Cambria" pitchFamily="34" charset="-120"/>
              </a:rPr>
              <a:t>−61 %</a:t>
            </a:r>
            <a:endParaRPr lang="en-US" sz="2400" dirty="0"/>
          </a:p>
        </p:txBody>
      </p:sp>
      <p:sp>
        <p:nvSpPr>
          <p:cNvPr id="10" name="Text 7"/>
          <p:cNvSpPr txBox="1"/>
          <p:nvPr/>
        </p:nvSpPr>
        <p:spPr>
          <a:xfrm>
            <a:off x="8513064" y="3273552"/>
            <a:ext cx="2953512" cy="329184"/>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d'erreur face à une référence naïve qui répète la dernière semaine</a:t>
            </a:r>
            <a:endParaRPr lang="en-US" sz="1150" dirty="0"/>
          </a:p>
        </p:txBody>
      </p:sp>
      <p:sp>
        <p:nvSpPr>
          <p:cNvPr id="11" name="Shape 8"/>
          <p:cNvSpPr/>
          <p:nvPr/>
        </p:nvSpPr>
        <p:spPr>
          <a:xfrm>
            <a:off x="8366760" y="3822192"/>
            <a:ext cx="3246120" cy="1801368"/>
          </a:xfrm>
          <a:prstGeom prst="roundRect">
            <a:avLst>
              <a:gd name="adj" fmla="val 406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2" name="Text 9"/>
          <p:cNvSpPr txBox="1"/>
          <p:nvPr/>
        </p:nvSpPr>
        <p:spPr>
          <a:xfrm>
            <a:off x="8549640" y="3931920"/>
            <a:ext cx="2880360" cy="256032"/>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Le modèle, en une ligne</a:t>
            </a:r>
            <a:endParaRPr lang="en-US" sz="1100" dirty="0"/>
          </a:p>
        </p:txBody>
      </p:sp>
      <p:sp>
        <p:nvSpPr>
          <p:cNvPr id="13" name="Text 10"/>
          <p:cNvSpPr txBox="1"/>
          <p:nvPr/>
        </p:nvSpPr>
        <p:spPr>
          <a:xfrm>
            <a:off x="8549640" y="4206240"/>
            <a:ext cx="2880360" cy="1325880"/>
          </a:xfrm>
          <a:prstGeom prst="rect">
            <a:avLst/>
          </a:prstGeom>
          <a:noFill/>
          <a:ln/>
        </p:spPr>
        <p:txBody>
          <a:bodyPr wrap="square" lIns="0" tIns="0" rIns="0" bIns="0" rtlCol="0" anchor="t"/>
          <a:lstStyle/>
          <a:p>
            <a:pPr indent="0" marL="0">
              <a:lnSpc>
                <a:spcPts val="1300"/>
              </a:lnSpc>
              <a:buNone/>
            </a:pPr>
            <a:r>
              <a:rPr lang="en-US" sz="1050" b="1" dirty="0">
                <a:solidFill>
                  <a:srgbClr val="12202B"/>
                </a:solidFill>
                <a:latin typeface="Calibri" pitchFamily="34" charset="0"/>
                <a:ea typeface="Calibri" pitchFamily="34" charset="-122"/>
                <a:cs typeface="Calibri" pitchFamily="34" charset="-120"/>
              </a:rPr>
              <a:t>tendance + mois + jour de la semaine + jour férié</a:t>
            </a:r>
            <a:endParaRPr lang="en-US" sz="1050" dirty="0"/>
          </a:p>
          <a:p>
            <a:pPr indent="0" marL="0">
              <a:lnSpc>
                <a:spcPts val="1300"/>
              </a:lnSpc>
              <a:buNone/>
            </a:pPr>
            <a:r>
              <a:rPr lang="en-US" sz="1050" dirty="0">
                <a:solidFill>
                  <a:srgbClr val="12202B"/>
                </a:solidFill>
                <a:latin typeface="Calibri" pitchFamily="34" charset="0"/>
                <a:ea typeface="Calibri" pitchFamily="34" charset="-122"/>
                <a:cs typeface="Calibri" pitchFamily="34" charset="-120"/>
              </a:rPr>
              <a:t>Samedi : −24,5 % de trafic</a:t>
            </a:r>
            <a:endParaRPr lang="en-US" sz="1050" dirty="0"/>
          </a:p>
          <a:p>
            <a:pPr indent="0" marL="0">
              <a:lnSpc>
                <a:spcPts val="1300"/>
              </a:lnSpc>
              <a:buNone/>
            </a:pPr>
            <a:r>
              <a:rPr lang="en-US" sz="1050" dirty="0">
                <a:solidFill>
                  <a:srgbClr val="12202B"/>
                </a:solidFill>
                <a:latin typeface="Calibri" pitchFamily="34" charset="0"/>
                <a:ea typeface="Calibri" pitchFamily="34" charset="-122"/>
                <a:cs typeface="Calibri" pitchFamily="34" charset="-120"/>
              </a:rPr>
              <a:t>Jour férié : −25,0 %</a:t>
            </a:r>
            <a:endParaRPr lang="en-US" sz="1050" dirty="0"/>
          </a:p>
          <a:p>
            <a:pPr indent="0" marL="0">
              <a:lnSpc>
                <a:spcPts val="1300"/>
              </a:lnSpc>
              <a:buNone/>
            </a:pPr>
            <a:r>
              <a:rPr lang="en-US" sz="1050" dirty="0">
                <a:solidFill>
                  <a:srgbClr val="5A6B7B"/>
                </a:solidFill>
                <a:latin typeface="Calibri" pitchFamily="34" charset="0"/>
                <a:ea typeface="Calibri" pitchFamily="34" charset="-122"/>
                <a:cs typeface="Calibri" pitchFamily="34" charset="-120"/>
              </a:rPr>
              <a:t>Chaque coefficient s'interprète, et la prévision reste vérifiable à la main.</a:t>
            </a:r>
            <a:endParaRPr lang="en-US" sz="1050" dirty="0"/>
          </a:p>
        </p:txBody>
      </p:sp>
      <p:sp>
        <p:nvSpPr>
          <p:cNvPr id="14" name="Text 11"/>
          <p:cNvSpPr txBox="1"/>
          <p:nvPr/>
        </p:nvSpPr>
        <p:spPr>
          <a:xfrm>
            <a:off x="566928" y="5760720"/>
            <a:ext cx="11057839" cy="274320"/>
          </a:xfrm>
          <a:prstGeom prst="rect">
            <a:avLst/>
          </a:prstGeom>
          <a:noFill/>
          <a:ln/>
        </p:spPr>
        <p:txBody>
          <a:bodyPr wrap="square" lIns="0" tIns="0" rIns="0" bIns="0" rtlCol="0" anchor="ctr"/>
          <a:lstStyle/>
          <a:p>
            <a:pPr indent="0" marL="0">
              <a:buNone/>
            </a:pPr>
            <a:r>
              <a:rPr lang="en-US" sz="1000" i="1" dirty="0">
                <a:solidFill>
                  <a:srgbClr val="5A6B7B"/>
                </a:solidFill>
                <a:latin typeface="Calibri" pitchFamily="34" charset="0"/>
                <a:ea typeface="Calibri" pitchFamily="34" charset="-122"/>
                <a:cs typeface="Calibri" pitchFamily="34" charset="-120"/>
              </a:rPr>
              <a:t>Régression sur le logarithme du trafic, R² ajusté 0,72. L'énoncé écarte les modèles plus lourds et demande de traiter la saisonnalité.</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3C5D"/>
        </a:solidFill>
      </p:bgPr>
    </p:bg>
    <p:spTree>
      <p:nvGrpSpPr>
        <p:cNvPr id="1" name=""/>
        <p:cNvGrpSpPr/>
        <p:nvPr/>
      </p:nvGrpSpPr>
      <p:grpSpPr>
        <a:xfrm>
          <a:off x="0" y="0"/>
          <a:ext cx="0" cy="0"/>
          <a:chOff x="0" y="0"/>
          <a:chExt cx="0" cy="0"/>
        </a:xfrm>
      </p:grpSpPr>
      <p:sp>
        <p:nvSpPr>
          <p:cNvPr id="2" name="Text 0"/>
          <p:cNvSpPr txBox="1"/>
          <p:nvPr/>
        </p:nvSpPr>
        <p:spPr>
          <a:xfrm>
            <a:off x="566928" y="548640"/>
            <a:ext cx="8229600" cy="274320"/>
          </a:xfrm>
          <a:prstGeom prst="rect">
            <a:avLst/>
          </a:prstGeom>
          <a:noFill/>
          <a:ln/>
        </p:spPr>
        <p:txBody>
          <a:bodyPr wrap="square" lIns="0" tIns="0" rIns="0" bIns="0" rtlCol="0" anchor="ctr"/>
          <a:lstStyle/>
          <a:p>
            <a:pPr indent="0" marL="0">
              <a:buNone/>
            </a:pPr>
            <a:r>
              <a:rPr lang="en-US" sz="1200" b="1" spc="200" kern="0" dirty="0">
                <a:solidFill>
                  <a:srgbClr val="8FC4E3"/>
                </a:solidFill>
                <a:latin typeface="Calibri" pitchFamily="34" charset="0"/>
                <a:ea typeface="Calibri" pitchFamily="34" charset="-122"/>
                <a:cs typeface="Calibri" pitchFamily="34" charset="-120"/>
              </a:rPr>
              <a:t>BLOC 3 — CONTRÔLE CROISÉ  ·  MARCUS</a:t>
            </a:r>
            <a:endParaRPr lang="en-US" sz="1200" dirty="0"/>
          </a:p>
        </p:txBody>
      </p:sp>
      <p:sp>
        <p:nvSpPr>
          <p:cNvPr id="3" name="Text 1"/>
          <p:cNvSpPr txBox="1"/>
          <p:nvPr/>
        </p:nvSpPr>
        <p:spPr>
          <a:xfrm>
            <a:off x="566928" y="868680"/>
            <a:ext cx="10789920" cy="64008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Construire les écrans a révélé deux défauts</a:t>
            </a:r>
            <a:endParaRPr lang="en-US" sz="2700" dirty="0"/>
          </a:p>
        </p:txBody>
      </p:sp>
      <p:sp>
        <p:nvSpPr>
          <p:cNvPr id="4" name="Shape 2"/>
          <p:cNvSpPr/>
          <p:nvPr/>
        </p:nvSpPr>
        <p:spPr>
          <a:xfrm>
            <a:off x="566928" y="1783080"/>
            <a:ext cx="5440680" cy="2286000"/>
          </a:xfrm>
          <a:prstGeom prst="roundRect">
            <a:avLst>
              <a:gd name="adj" fmla="val 3200"/>
            </a:avLst>
          </a:prstGeom>
          <a:solidFill>
            <a:srgbClr val="134E70"/>
          </a:solidFill>
          <a:ln w="12700">
            <a:solidFill>
              <a:srgbClr val="1F6288"/>
            </a:solidFill>
            <a:prstDash val="solid"/>
          </a:ln>
        </p:spPr>
      </p:sp>
      <p:sp>
        <p:nvSpPr>
          <p:cNvPr id="5" name="Text 3"/>
          <p:cNvSpPr txBox="1"/>
          <p:nvPr/>
        </p:nvSpPr>
        <p:spPr>
          <a:xfrm>
            <a:off x="786384" y="1911096"/>
            <a:ext cx="4937760" cy="457200"/>
          </a:xfrm>
          <a:prstGeom prst="rect">
            <a:avLst/>
          </a:prstGeom>
          <a:noFill/>
          <a:ln/>
        </p:spPr>
        <p:txBody>
          <a:bodyPr wrap="square" lIns="0" tIns="0" rIns="0" bIns="0" rtlCol="0" anchor="ctr"/>
          <a:lstStyle/>
          <a:p>
            <a:pPr indent="0" marL="0">
              <a:buNone/>
            </a:pPr>
            <a:r>
              <a:rPr lang="en-US" sz="1200" b="1" dirty="0">
                <a:solidFill>
                  <a:srgbClr val="E8A33D"/>
                </a:solidFill>
                <a:latin typeface="Calibri" pitchFamily="34" charset="0"/>
                <a:ea typeface="Calibri" pitchFamily="34" charset="-122"/>
                <a:cs typeface="Calibri" pitchFamily="34" charset="-120"/>
              </a:rPr>
              <a:t>L'année de la base n'est pas celle des données</a:t>
            </a:r>
            <a:endParaRPr lang="en-US" sz="1200" dirty="0"/>
          </a:p>
        </p:txBody>
      </p:sp>
      <p:sp>
        <p:nvSpPr>
          <p:cNvPr id="6" name="Text 4"/>
          <p:cNvSpPr txBox="1"/>
          <p:nvPr/>
        </p:nvSpPr>
        <p:spPr>
          <a:xfrm>
            <a:off x="786384" y="2395728"/>
            <a:ext cx="4983480" cy="1554480"/>
          </a:xfrm>
          <a:prstGeom prst="rect">
            <a:avLst/>
          </a:prstGeom>
          <a:noFill/>
          <a:ln/>
        </p:spPr>
        <p:txBody>
          <a:bodyPr wrap="square" lIns="0" tIns="0" rIns="0" bIns="0" rtlCol="0" anchor="t"/>
          <a:lstStyle/>
          <a:p>
            <a:pPr indent="0" marL="0">
              <a:lnSpc>
                <a:spcPts val="1400"/>
              </a:lnSpc>
              <a:buNone/>
            </a:pPr>
            <a:r>
              <a:rPr lang="en-US" sz="1100" dirty="0">
                <a:solidFill>
                  <a:srgbClr val="CFE3F1"/>
                </a:solidFill>
                <a:latin typeface="Calibri" pitchFamily="34" charset="0"/>
                <a:ea typeface="Calibri" pitchFamily="34" charset="-122"/>
                <a:cs typeface="Calibri" pitchFamily="34" charset="-120"/>
              </a:rPr>
              <a:t>La colonne year vaut 2021, mais le jour creux ne tombe sur le samedi que sous le calendrier 2013 : 741 vols/jour contre plus de 940 en semaine. Sous 2021, il tomberait un mardi — aucun sens pour du transport aérien.</a:t>
            </a:r>
            <a:endParaRPr lang="en-US" sz="1100" dirty="0"/>
          </a:p>
          <a:p>
            <a:pPr indent="0" marL="0">
              <a:lnSpc>
                <a:spcPts val="1400"/>
              </a:lnSpc>
              <a:buNone/>
            </a:pPr>
            <a:r>
              <a:rPr lang="en-US" sz="1100" b="1" dirty="0">
                <a:solidFill>
                  <a:srgbClr val="FFFFFF"/>
                </a:solidFill>
                <a:latin typeface="Calibri" pitchFamily="34" charset="0"/>
                <a:ea typeface="Calibri" pitchFamily="34" charset="-122"/>
                <a:cs typeface="Calibri" pitchFamily="34" charset="-120"/>
              </a:rPr>
              <a:t>Conséquence : semaine contre week-end s'inversait. Corrigé dans le dashboard et dans le script d'analyse.</a:t>
            </a:r>
            <a:endParaRPr lang="en-US" sz="1100" dirty="0"/>
          </a:p>
        </p:txBody>
      </p:sp>
      <p:sp>
        <p:nvSpPr>
          <p:cNvPr id="7" name="Shape 5"/>
          <p:cNvSpPr/>
          <p:nvPr/>
        </p:nvSpPr>
        <p:spPr>
          <a:xfrm>
            <a:off x="6355080" y="1783080"/>
            <a:ext cx="5285232" cy="2286000"/>
          </a:xfrm>
          <a:prstGeom prst="roundRect">
            <a:avLst>
              <a:gd name="adj" fmla="val 3200"/>
            </a:avLst>
          </a:prstGeom>
          <a:solidFill>
            <a:srgbClr val="134E70"/>
          </a:solidFill>
          <a:ln w="12700">
            <a:solidFill>
              <a:srgbClr val="1F6288"/>
            </a:solidFill>
            <a:prstDash val="solid"/>
          </a:ln>
        </p:spPr>
      </p:sp>
      <p:sp>
        <p:nvSpPr>
          <p:cNvPr id="8" name="Text 6"/>
          <p:cNvSpPr txBox="1"/>
          <p:nvPr/>
        </p:nvSpPr>
        <p:spPr>
          <a:xfrm>
            <a:off x="6574536" y="1911096"/>
            <a:ext cx="4846320" cy="457200"/>
          </a:xfrm>
          <a:prstGeom prst="rect">
            <a:avLst/>
          </a:prstGeom>
          <a:noFill/>
          <a:ln/>
        </p:spPr>
        <p:txBody>
          <a:bodyPr wrap="square" lIns="0" tIns="0" rIns="0" bIns="0" rtlCol="0" anchor="ctr"/>
          <a:lstStyle/>
          <a:p>
            <a:pPr indent="0" marL="0">
              <a:buNone/>
            </a:pPr>
            <a:r>
              <a:rPr lang="en-US" sz="1200" b="1" dirty="0">
                <a:solidFill>
                  <a:srgbClr val="E8A33D"/>
                </a:solidFill>
                <a:latin typeface="Calibri" pitchFamily="34" charset="0"/>
                <a:ea typeface="Calibri" pitchFamily="34" charset="-122"/>
                <a:cs typeface="Calibri" pitchFamily="34" charset="-120"/>
              </a:rPr>
              <a:t>Un endpoint donnait l'inverse de son intitulé</a:t>
            </a:r>
            <a:endParaRPr lang="en-US" sz="1200" dirty="0"/>
          </a:p>
        </p:txBody>
      </p:sp>
      <p:sp>
        <p:nvSpPr>
          <p:cNvPr id="9" name="Text 7"/>
          <p:cNvSpPr txBox="1"/>
          <p:nvPr/>
        </p:nvSpPr>
        <p:spPr>
          <a:xfrm>
            <a:off x="6574536" y="2395728"/>
            <a:ext cx="4846320" cy="1554480"/>
          </a:xfrm>
          <a:prstGeom prst="rect">
            <a:avLst/>
          </a:prstGeom>
          <a:noFill/>
          <a:ln/>
        </p:spPr>
        <p:txBody>
          <a:bodyPr wrap="square" lIns="0" tIns="0" rIns="0" bIns="0" rtlCol="0" anchor="t"/>
          <a:lstStyle/>
          <a:p>
            <a:pPr indent="0" marL="0">
              <a:lnSpc>
                <a:spcPts val="1400"/>
              </a:lnSpc>
              <a:buNone/>
            </a:pPr>
            <a:r>
              <a:rPr lang="en-US" sz="1100" dirty="0">
                <a:solidFill>
                  <a:srgbClr val="CFE3F1"/>
                </a:solidFill>
                <a:latin typeface="Calibri" pitchFamily="34" charset="0"/>
                <a:ea typeface="Calibri" pitchFamily="34" charset="-122"/>
                <a:cs typeface="Calibri" pitchFamily="34" charset="-120"/>
              </a:rPr>
              <a:t>/delays/gain calcule arr_delay − dep_delay et nomme cela un gain : il remonte donc les vols dont le retard s'aggrave en vol, 121 min au départ pour 171 à l'arrivée en moyenne.</a:t>
            </a:r>
            <a:endParaRPr lang="en-US" sz="1100" dirty="0"/>
          </a:p>
          <a:p>
            <a:pPr indent="0" marL="0">
              <a:lnSpc>
                <a:spcPts val="1400"/>
              </a:lnSpc>
              <a:buNone/>
            </a:pPr>
            <a:r>
              <a:rPr lang="en-US" sz="1100" b="1" dirty="0">
                <a:solidFill>
                  <a:srgbClr val="FFFFFF"/>
                </a:solidFill>
                <a:latin typeface="Calibri" pitchFamily="34" charset="0"/>
                <a:ea typeface="Calibri" pitchFamily="34" charset="-122"/>
                <a:cs typeface="Calibri" pitchFamily="34" charset="-120"/>
              </a:rPr>
              <a:t>L'API répondait 200, le SQL était valide : seule la lecture métier du résultat révélait l'inversion.</a:t>
            </a:r>
            <a:endParaRPr lang="en-US" sz="1100" dirty="0"/>
          </a:p>
        </p:txBody>
      </p:sp>
      <p:sp>
        <p:nvSpPr>
          <p:cNvPr id="10" name="Text 8"/>
          <p:cNvSpPr txBox="1"/>
          <p:nvPr/>
        </p:nvSpPr>
        <p:spPr>
          <a:xfrm>
            <a:off x="566928" y="4297680"/>
            <a:ext cx="5943600" cy="32004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Trois commandes pour tout relancer</a:t>
            </a:r>
            <a:endParaRPr lang="en-US" sz="1600" dirty="0"/>
          </a:p>
        </p:txBody>
      </p:sp>
      <p:sp>
        <p:nvSpPr>
          <p:cNvPr id="11" name="Text 9"/>
          <p:cNvSpPr txBox="1"/>
          <p:nvPr/>
        </p:nvSpPr>
        <p:spPr>
          <a:xfrm>
            <a:off x="566928" y="4681728"/>
            <a:ext cx="4023360" cy="274320"/>
          </a:xfrm>
          <a:prstGeom prst="rect">
            <a:avLst/>
          </a:prstGeom>
          <a:noFill/>
          <a:ln/>
        </p:spPr>
        <p:txBody>
          <a:bodyPr wrap="square" lIns="0" tIns="0" rIns="0" bIns="0" rtlCol="0" anchor="ctr"/>
          <a:lstStyle/>
          <a:p>
            <a:pPr indent="0" marL="0">
              <a:buNone/>
            </a:pPr>
            <a:r>
              <a:rPr lang="en-US" sz="1250" b="1" dirty="0">
                <a:solidFill>
                  <a:srgbClr val="E8A33D"/>
                </a:solidFill>
                <a:latin typeface="Courier New" pitchFamily="34" charset="0"/>
                <a:ea typeface="Courier New" pitchFamily="34" charset="-122"/>
                <a:cs typeface="Courier New" pitchFamily="34" charset="-120"/>
              </a:rPr>
              <a:t>docker compose up -d</a:t>
            </a:r>
            <a:endParaRPr lang="en-US" sz="1250" dirty="0"/>
          </a:p>
        </p:txBody>
      </p:sp>
      <p:sp>
        <p:nvSpPr>
          <p:cNvPr id="12" name="Text 10"/>
          <p:cNvSpPr txBox="1"/>
          <p:nvPr/>
        </p:nvSpPr>
        <p:spPr>
          <a:xfrm>
            <a:off x="4681728" y="4700016"/>
            <a:ext cx="4206240" cy="274320"/>
          </a:xfrm>
          <a:prstGeom prst="rect">
            <a:avLst/>
          </a:prstGeom>
          <a:noFill/>
          <a:ln/>
        </p:spPr>
        <p:txBody>
          <a:bodyPr wrap="square" lIns="0" tIns="0" rIns="0" bIns="0" rtlCol="0" anchor="ctr"/>
          <a:lstStyle/>
          <a:p>
            <a:pPr indent="0" marL="0">
              <a:buNone/>
            </a:pPr>
            <a:r>
              <a:rPr lang="en-US" sz="1050" dirty="0">
                <a:solidFill>
                  <a:srgbClr val="CFE3F1"/>
                </a:solidFill>
                <a:latin typeface="Calibri" pitchFamily="34" charset="0"/>
                <a:ea typeface="Calibri" pitchFamily="34" charset="-122"/>
                <a:cs typeface="Calibri" pitchFamily="34" charset="-120"/>
              </a:rPr>
              <a:t>MySQL 8, puis chargement de schema.sql</a:t>
            </a:r>
            <a:endParaRPr lang="en-US" sz="1050" dirty="0"/>
          </a:p>
        </p:txBody>
      </p:sp>
      <p:sp>
        <p:nvSpPr>
          <p:cNvPr id="13" name="Text 11"/>
          <p:cNvSpPr txBox="1"/>
          <p:nvPr/>
        </p:nvSpPr>
        <p:spPr>
          <a:xfrm>
            <a:off x="566928" y="5184648"/>
            <a:ext cx="4023360" cy="274320"/>
          </a:xfrm>
          <a:prstGeom prst="rect">
            <a:avLst/>
          </a:prstGeom>
          <a:noFill/>
          <a:ln/>
        </p:spPr>
        <p:txBody>
          <a:bodyPr wrap="square" lIns="0" tIns="0" rIns="0" bIns="0" rtlCol="0" anchor="ctr"/>
          <a:lstStyle/>
          <a:p>
            <a:pPr indent="0" marL="0">
              <a:buNone/>
            </a:pPr>
            <a:r>
              <a:rPr lang="en-US" sz="1250" b="1" dirty="0">
                <a:solidFill>
                  <a:srgbClr val="E8A33D"/>
                </a:solidFill>
                <a:latin typeface="Courier New" pitchFamily="34" charset="0"/>
                <a:ea typeface="Courier New" pitchFamily="34" charset="-122"/>
                <a:cs typeface="Courier New" pitchFamily="34" charset="-120"/>
              </a:rPr>
              <a:t>Rscript backend/run.R</a:t>
            </a:r>
            <a:endParaRPr lang="en-US" sz="1250" dirty="0"/>
          </a:p>
        </p:txBody>
      </p:sp>
      <p:sp>
        <p:nvSpPr>
          <p:cNvPr id="14" name="Text 12"/>
          <p:cNvSpPr txBox="1"/>
          <p:nvPr/>
        </p:nvSpPr>
        <p:spPr>
          <a:xfrm>
            <a:off x="4681728" y="5202936"/>
            <a:ext cx="4206240" cy="274320"/>
          </a:xfrm>
          <a:prstGeom prst="rect">
            <a:avLst/>
          </a:prstGeom>
          <a:noFill/>
          <a:ln/>
        </p:spPr>
        <p:txBody>
          <a:bodyPr wrap="square" lIns="0" tIns="0" rIns="0" bIns="0" rtlCol="0" anchor="ctr"/>
          <a:lstStyle/>
          <a:p>
            <a:pPr indent="0" marL="0">
              <a:buNone/>
            </a:pPr>
            <a:r>
              <a:rPr lang="en-US" sz="1050" dirty="0">
                <a:solidFill>
                  <a:srgbClr val="CFE3F1"/>
                </a:solidFill>
                <a:latin typeface="Calibri" pitchFamily="34" charset="0"/>
                <a:ea typeface="Calibri" pitchFamily="34" charset="-122"/>
                <a:cs typeface="Calibri" pitchFamily="34" charset="-120"/>
              </a:rPr>
              <a:t>API Plumber sur le port 8000, Swagger sur /__docs__/</a:t>
            </a:r>
            <a:endParaRPr lang="en-US" sz="1050" dirty="0"/>
          </a:p>
        </p:txBody>
      </p:sp>
      <p:sp>
        <p:nvSpPr>
          <p:cNvPr id="15" name="Text 13"/>
          <p:cNvSpPr txBox="1"/>
          <p:nvPr/>
        </p:nvSpPr>
        <p:spPr>
          <a:xfrm>
            <a:off x="566928" y="5687568"/>
            <a:ext cx="4023360" cy="274320"/>
          </a:xfrm>
          <a:prstGeom prst="rect">
            <a:avLst/>
          </a:prstGeom>
          <a:noFill/>
          <a:ln/>
        </p:spPr>
        <p:txBody>
          <a:bodyPr wrap="square" lIns="0" tIns="0" rIns="0" bIns="0" rtlCol="0" anchor="ctr"/>
          <a:lstStyle/>
          <a:p>
            <a:pPr indent="0" marL="0">
              <a:buNone/>
            </a:pPr>
            <a:r>
              <a:rPr lang="en-US" sz="1250" b="1" dirty="0">
                <a:solidFill>
                  <a:srgbClr val="E8A33D"/>
                </a:solidFill>
                <a:latin typeface="Courier New" pitchFamily="34" charset="0"/>
                <a:ea typeface="Courier New" pitchFamily="34" charset="-122"/>
                <a:cs typeface="Courier New" pitchFamily="34" charset="-120"/>
              </a:rPr>
              <a:t>Rscript frontend/run_app.R</a:t>
            </a:r>
            <a:endParaRPr lang="en-US" sz="1250" dirty="0"/>
          </a:p>
        </p:txBody>
      </p:sp>
      <p:sp>
        <p:nvSpPr>
          <p:cNvPr id="16" name="Text 14"/>
          <p:cNvSpPr txBox="1"/>
          <p:nvPr/>
        </p:nvSpPr>
        <p:spPr>
          <a:xfrm>
            <a:off x="4681728" y="5705856"/>
            <a:ext cx="4206240" cy="274320"/>
          </a:xfrm>
          <a:prstGeom prst="rect">
            <a:avLst/>
          </a:prstGeom>
          <a:noFill/>
          <a:ln/>
        </p:spPr>
        <p:txBody>
          <a:bodyPr wrap="square" lIns="0" tIns="0" rIns="0" bIns="0" rtlCol="0" anchor="ctr"/>
          <a:lstStyle/>
          <a:p>
            <a:pPr indent="0" marL="0">
              <a:buNone/>
            </a:pPr>
            <a:r>
              <a:rPr lang="en-US" sz="1050" dirty="0">
                <a:solidFill>
                  <a:srgbClr val="CFE3F1"/>
                </a:solidFill>
                <a:latin typeface="Calibri" pitchFamily="34" charset="0"/>
                <a:ea typeface="Calibri" pitchFamily="34" charset="-122"/>
                <a:cs typeface="Calibri" pitchFamily="34" charset="-120"/>
              </a:rPr>
              <a:t>Dashboard Shiny sur le port 3838, neuf onglets</a:t>
            </a:r>
            <a:endParaRPr lang="en-US" sz="1050" dirty="0"/>
          </a:p>
        </p:txBody>
      </p:sp>
      <p:sp>
        <p:nvSpPr>
          <p:cNvPr id="17" name="Shape 15"/>
          <p:cNvSpPr/>
          <p:nvPr/>
        </p:nvSpPr>
        <p:spPr>
          <a:xfrm>
            <a:off x="8686800" y="4224528"/>
            <a:ext cx="2953512" cy="1691640"/>
          </a:xfrm>
          <a:prstGeom prst="roundRect">
            <a:avLst>
              <a:gd name="adj" fmla="val 4324"/>
            </a:avLst>
          </a:prstGeom>
          <a:solidFill>
            <a:srgbClr val="134E70"/>
          </a:solidFill>
          <a:ln w="12700">
            <a:solidFill>
              <a:srgbClr val="1F6288"/>
            </a:solidFill>
            <a:prstDash val="solid"/>
          </a:ln>
        </p:spPr>
      </p:sp>
      <p:sp>
        <p:nvSpPr>
          <p:cNvPr id="18" name="Text 16"/>
          <p:cNvSpPr txBox="1"/>
          <p:nvPr/>
        </p:nvSpPr>
        <p:spPr>
          <a:xfrm>
            <a:off x="8887968" y="4334256"/>
            <a:ext cx="2606040" cy="256032"/>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La suite</a:t>
            </a:r>
            <a:endParaRPr lang="en-US" sz="1100" dirty="0"/>
          </a:p>
        </p:txBody>
      </p:sp>
      <p:sp>
        <p:nvSpPr>
          <p:cNvPr id="19" name="Text 17"/>
          <p:cNvSpPr txBox="1"/>
          <p:nvPr/>
        </p:nvSpPr>
        <p:spPr>
          <a:xfrm>
            <a:off x="8887968" y="4608576"/>
            <a:ext cx="2560320" cy="1234440"/>
          </a:xfrm>
          <a:prstGeom prst="rect">
            <a:avLst/>
          </a:prstGeom>
          <a:noFill/>
          <a:ln/>
        </p:spPr>
        <p:txBody>
          <a:bodyPr wrap="square" lIns="0" tIns="0" rIns="0" bIns="0" rtlCol="0" anchor="t"/>
          <a:lstStyle/>
          <a:p>
            <a:pPr marL="342900" indent="-342900">
              <a:lnSpc>
                <a:spcPts val="1300"/>
              </a:lnSpc>
              <a:spcAft>
                <a:spcPts val="500"/>
              </a:spcAft>
              <a:buSzPct val="100000"/>
              <a:buChar char="•"/>
            </a:pPr>
            <a:r>
              <a:rPr lang="en-US" sz="1000" dirty="0">
                <a:solidFill>
                  <a:srgbClr val="CFE3F1"/>
                </a:solidFill>
                <a:latin typeface="Calibri" pitchFamily="34" charset="0"/>
                <a:ea typeface="Calibri" pitchFamily="34" charset="-122"/>
                <a:cs typeface="Calibri" pitchFamily="34" charset="-120"/>
              </a:rPr>
              <a:t>Corriger /delays/gain</a:t>
            </a:r>
            <a:endParaRPr lang="en-US" sz="1000" dirty="0"/>
          </a:p>
          <a:p>
            <a:pPr marL="342900" indent="-342900">
              <a:lnSpc>
                <a:spcPts val="1300"/>
              </a:lnSpc>
              <a:spcAft>
                <a:spcPts val="500"/>
              </a:spcAft>
              <a:buSzPct val="100000"/>
              <a:buChar char="•"/>
            </a:pPr>
            <a:r>
              <a:rPr lang="en-US" sz="1000" dirty="0">
                <a:solidFill>
                  <a:srgbClr val="CFE3F1"/>
                </a:solidFill>
                <a:latin typeface="Calibri" pitchFamily="34" charset="0"/>
                <a:ea typeface="Calibri" pitchFamily="34" charset="-122"/>
                <a:cs typeface="Calibri" pitchFamily="34" charset="-120"/>
              </a:rPr>
              <a:t>Compléter flights.xlsx pour retrouver l'été</a:t>
            </a:r>
            <a:endParaRPr lang="en-US" sz="1000" dirty="0"/>
          </a:p>
          <a:p>
            <a:pPr marL="342900" indent="-342900">
              <a:lnSpc>
                <a:spcPts val="1300"/>
              </a:lnSpc>
              <a:spcAft>
                <a:spcPts val="500"/>
              </a:spcAft>
              <a:buSzPct val="100000"/>
              <a:buChar char="•"/>
            </a:pPr>
            <a:r>
              <a:rPr lang="en-US" sz="1000" dirty="0">
                <a:solidFill>
                  <a:srgbClr val="CFE3F1"/>
                </a:solidFill>
                <a:latin typeface="Calibri" pitchFamily="34" charset="0"/>
                <a:ea typeface="Calibri" pitchFamily="34" charset="-122"/>
                <a:cs typeface="Calibri" pitchFamily="34" charset="-120"/>
              </a:rPr>
              <a:t>Étendre la météo à JFK et LGA, puis l'ajouter au modèle</a:t>
            </a:r>
            <a:endParaRPr lang="en-US" sz="1000" dirty="0"/>
          </a:p>
        </p:txBody>
      </p:sp>
      <p:sp>
        <p:nvSpPr>
          <p:cNvPr id="20" name="Text 18"/>
          <p:cNvSpPr txBox="1"/>
          <p:nvPr/>
        </p:nvSpPr>
        <p:spPr>
          <a:xfrm>
            <a:off x="566928" y="6263640"/>
            <a:ext cx="7315200" cy="274320"/>
          </a:xfrm>
          <a:prstGeom prst="rect">
            <a:avLst/>
          </a:prstGeom>
          <a:noFill/>
          <a:ln/>
        </p:spPr>
        <p:txBody>
          <a:bodyPr wrap="square" lIns="0" tIns="0" rIns="0" bIns="0" rtlCol="0" anchor="ctr"/>
          <a:lstStyle/>
          <a:p>
            <a:pPr indent="0" marL="0">
              <a:buNone/>
            </a:pPr>
            <a:r>
              <a:rPr lang="en-US" sz="1100" dirty="0">
                <a:solidFill>
                  <a:srgbClr val="8FC4E3"/>
                </a:solidFill>
                <a:latin typeface="Calibri" pitchFamily="34" charset="0"/>
                <a:ea typeface="Calibri" pitchFamily="34" charset="-122"/>
                <a:cs typeface="Calibri" pitchFamily="34" charset="-120"/>
              </a:rPr>
              <a:t>github.com/Salmabentisse/trafic-aerien-adp</a:t>
            </a:r>
            <a:endParaRPr lang="en-US" sz="1100" dirty="0"/>
          </a:p>
        </p:txBody>
      </p:sp>
      <p:sp>
        <p:nvSpPr>
          <p:cNvPr id="21" name="Text 19"/>
          <p:cNvSpPr txBox="1"/>
          <p:nvPr/>
        </p:nvSpPr>
        <p:spPr>
          <a:xfrm>
            <a:off x="8229600" y="6217920"/>
            <a:ext cx="3383280" cy="365760"/>
          </a:xfrm>
          <a:prstGeom prst="rect">
            <a:avLst/>
          </a:prstGeom>
          <a:noFill/>
          <a:ln/>
        </p:spPr>
        <p:txBody>
          <a:bodyPr wrap="square" lIns="0" tIns="0" rIns="0" bIns="0" rtlCol="0" anchor="ctr"/>
          <a:lstStyle/>
          <a:p>
            <a:pPr algn="r" indent="0" marL="0">
              <a:buNone/>
            </a:pPr>
            <a:r>
              <a:rPr lang="en-US" sz="1700" b="1" dirty="0">
                <a:solidFill>
                  <a:srgbClr val="FFFFFF"/>
                </a:solidFill>
                <a:latin typeface="Cambria" pitchFamily="34" charset="0"/>
                <a:ea typeface="Cambria" pitchFamily="34" charset="-122"/>
                <a:cs typeface="Cambria" pitchFamily="34" charset="-120"/>
              </a:rPr>
              <a:t>Merci — questions ?</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Trafic Aérien ADP — dashboard et analyse</dc:title>
  <dc:subject>PptxGenJS Presentation</dc:subject>
  <dc:creator>Marcus Linguet</dc:creator>
  <cp:lastModifiedBy>Marcus Linguet</cp:lastModifiedBy>
  <cp:revision>1</cp:revision>
  <dcterms:created xsi:type="dcterms:W3CDTF">2026-08-27T13:19:25Z</dcterms:created>
  <dcterms:modified xsi:type="dcterms:W3CDTF">2026-08-27T13:19:25Z</dcterms:modified>
</cp:coreProperties>
</file>