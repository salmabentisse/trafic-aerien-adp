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02B"/>
                </a:solidFill>
                <a:latin typeface="Cambria"/>
              </a:defRPr>
            </a:pPr>
            <a:r>
              <a:rPr sz="1400" b="0" i="0" u="none" strike="noStrike">
                <a:solidFill>
                  <a:srgbClr val="12202B"/>
                </a:solidFill>
                <a:latin typeface="Cambria"/>
              </a:rPr>
              <a:t>Les 8 destinations les plus desservies</a:t>
            </a:r>
          </a:p>
        </c:rich>
      </c:tx>
      <c:layout/>
      <c:overlay val="0"/>
    </c:title>
    <c:autoTitleDeleted val="0"/>
    <c:plotArea>
      <c:layout/>
      <c:barChart>
        <c:barDir val="bar"/>
        <c:grouping val="clustered"/>
        <c:varyColors val="0"/>
        <c:ser>
          <c:idx val="0"/>
          <c:order val="0"/>
          <c:tx>
            <c:strRef>
              <c:f>Sheet1!$B$1</c:f>
              <c:strCache>
                <c:ptCount val="1"/>
                <c:pt idx="0">
                  <c:v>Vols</c:v>
                </c:pt>
              </c:strCache>
            </c:strRef>
          </c:tx>
          <c:spPr>
            <a:solidFill>
              <a:srgbClr val="1D8AC1"/>
            </a:solidFill>
            <a:effectLst/>
          </c:spPr>
          <c:invertIfNegative val="0"/>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cat>
            <c:multiLvlStrRef>
              <c:f>Sheet1!$A$2:$A$9</c:f>
              <c:multiLvlStrCache>
                <c:ptCount val="8"/>
                <c:lvl>
                  <c:pt idx="0">
                    <c:v>ATL</c:v>
                  </c:pt>
                  <c:pt idx="1">
                    <c:v>ORD</c:v>
                  </c:pt>
                  <c:pt idx="2">
                    <c:v>LAX</c:v>
                  </c:pt>
                  <c:pt idx="3">
                    <c:v>BOS</c:v>
                  </c:pt>
                  <c:pt idx="4">
                    <c:v>MCO</c:v>
                  </c:pt>
                  <c:pt idx="5">
                    <c:v>CLT</c:v>
                  </c:pt>
                  <c:pt idx="6">
                    <c:v>SFO</c:v>
                  </c:pt>
                  <c:pt idx="7">
                    <c:v>FLL</c:v>
                  </c:pt>
                </c:lvl>
              </c:multiLvlStrCache>
            </c:multiLvlStrRef>
          </c:cat>
          <c:val>
            <c:numRef>
              <c:f>Sheet1!$B$2:$B$9</c:f>
              <c:numCache>
                <c:formatCode>General</c:formatCode>
                <c:ptCount val="8"/>
                <c:pt idx="0">
                  <c:v>12946</c:v>
                </c:pt>
                <c:pt idx="1">
                  <c:v>12654</c:v>
                </c:pt>
                <c:pt idx="2">
                  <c:v>11895</c:v>
                </c:pt>
                <c:pt idx="3">
                  <c:v>11560</c:v>
                </c:pt>
                <c:pt idx="4">
                  <c:v>10637</c:v>
                </c:pt>
                <c:pt idx="5">
                  <c:v>10448</c:v>
                </c:pt>
                <c:pt idx="6">
                  <c:v>9729</c:v>
                </c:pt>
                <c:pt idx="7">
                  <c:v>9443</c:v>
                </c:pt>
              </c:numCache>
            </c:numRef>
          </c:val>
        </c:ser>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4000"/>
          <c:min val="0"/>
        </c:scaling>
        <c:delete val="0"/>
        <c:axPos val="b"/>
        <c:majorGridlines>
          <c:spPr>
            <a:ln w="12700" cap="flat">
              <a:solidFill>
                <a:srgbClr val="E3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B7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dernière partie du projet : le dashboard qui expose les données, et ce qu'elles racontent. Le jeu porte sur les vols au départ des trois aéroports de New York en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formats volontairement hétérogènes : du JSON, de l'Excel, du HTML à scraper et un PDF. L'enjeu du projet est de tout ramener dans un schéma relationnel propre, puis de le rendre lisible.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découplage par l'API est le choix structurant : chacun a pu avancer sur son étage sans bloquer les autres, et le dashboard est déployable séparément.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onglets, un module Shiny par onglet. L'onglet Vols est celui qui sert le plus en démonstration : les filtres, le tri et la pagination sont exécutés par l'API, le dashboard ne charge qu'une page de résultats à la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trafic se répartit presque équitablement entre les trois aéroports. Côté destinations, on retrouve les grands hubs domestiques : Atlanta, Chicago, Los Angeles,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enseignements. D'abord un rythme hebdomadaire très marqué, typique d'un trafic d'affaires. Ensuite une limite du jeu de données qu'il faut annoncer : il manque presque trois mois. Le dashboard laisse volontairement le trou visible au lieu de relier les points. Attention si on nous interroge sur le week-end : le chiffre doit être calculé sur le vrai calendrier, voir la slide suivante sur l'année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visualisation demandée explicitement par l'énoncé. Le point à défendre : comparer des totaux mensuels serait une erreur de méthode, puisque les mois n'ont ni la même longueur ni la même couverture dans nos données. En ramenant au jour observé, les trois aéroports et les douze mois redeviennent comparables.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pratique tient en une phrase : réserver tôt le matin.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de cette slide, c'est l'effectif. Hawaiian affiche le meilleur taux mais sur 258 vols, et SkyWest apparaît à 50 % sur huit vols. C'est pourquoi le graphique affiche le nombre de vols de chaque compagnie, et pourquoi je donne aussi la comparaison à effectifs comparables : Delta contre ExpressJet, environ 17 points d'écart.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corrélation négative s'explique par la marge horaire : les compagnies gonflent le temps de vol prévu sur les longs courriers, ce qui laisse de quoi rattraper. Sur une navette de 90 miles, il n'y a aucune marge.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définition retenue vient du backend : un vol sans heure de départ ni heure d'arrivée. C'est une convention, pas une donnée d'annulation officielle — il faut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Découverte faite en construisant le modèle prédictif : l'effet du jour de la semaine sortait absurde, avec un mardi à moins 23 pour cent. En testant l'hypothèse d'un autre calendrier, tout s'est remis en place sur 2013. À signaler à l'équipe data, parce que ça touche toute analyse qui utilise le jour de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 chaque coefficient s'interprète. Point important sur la validation : la référence naïve répète la dernière semaine connue, sans piocher dans la période de test. Ma première version faisait cette erreur et donnait une référence artificiellement imbattable.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dashboard qui affiche une courbe continue là où il n'y a pas de données ment à son lecteur. Chaque limite est écrite à l'écran, à côté du graphique concerné. Le relevé de vent à 1 048 mph est le meilleur exemple : une seule ligne aberrante rendait le graphique du vent inutilisable.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important à défendre à l'oral : le frontend n'est pas qu'une couche de peinture, c'est le premier utilisateur de l'API. Ce défaut n'était visible ni dans les tests de l'API ni dans le schéma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peux enchaîner sur la démonstration live : onglet Vols pour montrer les filtres côté API, puis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6002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965960"/>
            <a:ext cx="859536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9476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Dashboard Shiny et analyse du trafic, des retards et des annulations</a:t>
            </a:r>
            <a:endParaRPr lang="en-US" sz="1500" dirty="0"/>
          </a:p>
        </p:txBody>
      </p:sp>
      <p:sp>
        <p:nvSpPr>
          <p:cNvPr id="5" name="Shape 3"/>
          <p:cNvSpPr/>
          <p:nvPr/>
        </p:nvSpPr>
        <p:spPr>
          <a:xfrm>
            <a:off x="566928" y="4617720"/>
            <a:ext cx="4663440" cy="960120"/>
          </a:xfrm>
          <a:prstGeom prst="roundRect">
            <a:avLst>
              <a:gd name="adj" fmla="val 7619"/>
            </a:avLst>
          </a:prstGeom>
          <a:solidFill>
            <a:srgbClr val="134E70"/>
          </a:solidFill>
          <a:ln w="12700">
            <a:solidFill>
              <a:srgbClr val="1F6288"/>
            </a:solidFill>
            <a:prstDash val="solid"/>
          </a:ln>
        </p:spPr>
      </p:sp>
      <p:sp>
        <p:nvSpPr>
          <p:cNvPr id="6" name="Text 4"/>
          <p:cNvSpPr txBox="1"/>
          <p:nvPr/>
        </p:nvSpPr>
        <p:spPr>
          <a:xfrm>
            <a:off x="768096" y="4754880"/>
            <a:ext cx="42976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Marcus Linguet</a:t>
            </a:r>
            <a:endParaRPr lang="en-US" sz="1400" dirty="0"/>
          </a:p>
          <a:p>
            <a:pPr indent="0" marL="0">
              <a:buNone/>
            </a:pPr>
            <a:r>
              <a:rPr lang="en-US" sz="1150" dirty="0">
                <a:solidFill>
                  <a:srgbClr val="CFE3F1"/>
                </a:solidFill>
                <a:latin typeface="Calibri" pitchFamily="34" charset="0"/>
                <a:ea typeface="Calibri" pitchFamily="34" charset="-122"/>
                <a:cs typeface="Calibri" pitchFamily="34" charset="-120"/>
              </a:rPr>
              <a:t>Partie 5 — dashboard, frontend et présentation</a:t>
            </a:r>
            <a:endParaRPr lang="en-US" sz="1400" dirty="0"/>
          </a:p>
        </p:txBody>
      </p:sp>
      <p:sp>
        <p:nvSpPr>
          <p:cNvPr id="7" name="Text 5"/>
          <p:cNvSpPr txBox="1"/>
          <p:nvPr/>
        </p:nvSpPr>
        <p:spPr>
          <a:xfrm>
            <a:off x="5577840" y="4956048"/>
            <a:ext cx="6035040" cy="320040"/>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an de vols au départ de New York</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issues de cinq formats différents, une question : où et quand le trafic se concentre-t-il, et qu'est-ce qui explique les retards ?</a:t>
            </a:r>
            <a:endParaRPr lang="en-US" sz="1400" dirty="0"/>
          </a:p>
        </p:txBody>
      </p:sp>
      <p:sp>
        <p:nvSpPr>
          <p:cNvPr id="5" name="Shape 3"/>
          <p:cNvSpPr/>
          <p:nvPr/>
        </p:nvSpPr>
        <p:spPr>
          <a:xfrm>
            <a:off x="566928" y="1965960"/>
            <a:ext cx="2615184"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252 704</a:t>
            </a:r>
            <a:endParaRPr lang="en-US" sz="3000" dirty="0"/>
          </a:p>
        </p:txBody>
      </p:sp>
      <p:sp>
        <p:nvSpPr>
          <p:cNvPr id="7" name="Text 5"/>
          <p:cNvSpPr txBox="1"/>
          <p:nvPr/>
        </p:nvSpPr>
        <p:spPr>
          <a:xfrm>
            <a:off x="713232" y="2642616"/>
            <a:ext cx="2322576" cy="58521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103</a:t>
            </a:r>
            <a:endParaRPr lang="en-US" sz="3000" dirty="0"/>
          </a:p>
        </p:txBody>
      </p:sp>
      <p:sp>
        <p:nvSpPr>
          <p:cNvPr id="10" name="Text 8"/>
          <p:cNvSpPr txBox="1"/>
          <p:nvPr/>
        </p:nvSpPr>
        <p:spPr>
          <a:xfrm>
            <a:off x="3511296"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16</a:t>
            </a:r>
            <a:endParaRPr lang="en-US" sz="3000" dirty="0"/>
          </a:p>
        </p:txBody>
      </p:sp>
      <p:sp>
        <p:nvSpPr>
          <p:cNvPr id="13" name="Text 11"/>
          <p:cNvSpPr txBox="1"/>
          <p:nvPr/>
        </p:nvSpPr>
        <p:spPr>
          <a:xfrm>
            <a:off x="6309360"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 aériennes</a:t>
            </a:r>
            <a:endParaRPr lang="en-US" sz="1150" dirty="0"/>
          </a:p>
        </p:txBody>
      </p:sp>
      <p:sp>
        <p:nvSpPr>
          <p:cNvPr id="14" name="Shape 12"/>
          <p:cNvSpPr/>
          <p:nvPr/>
        </p:nvSpPr>
        <p:spPr>
          <a:xfrm>
            <a:off x="8961120"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9107424"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de départ : JFK, LGA, EWR</a:t>
            </a:r>
            <a:endParaRPr lang="en-US" sz="1150" dirty="0"/>
          </a:p>
        </p:txBody>
      </p:sp>
      <p:sp>
        <p:nvSpPr>
          <p:cNvPr id="17" name="Text 15"/>
          <p:cNvSpPr txBox="1"/>
          <p:nvPr/>
        </p:nvSpPr>
        <p:spPr>
          <a:xfrm>
            <a:off x="566928" y="3657600"/>
            <a:ext cx="512064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Les cinq sources</a:t>
            </a:r>
            <a:endParaRPr lang="en-US" sz="1700" dirty="0"/>
          </a:p>
        </p:txBody>
      </p:sp>
      <p:sp>
        <p:nvSpPr>
          <p:cNvPr id="18" name="Text 16"/>
          <p:cNvSpPr txBox="1"/>
          <p:nvPr/>
        </p:nvSpPr>
        <p:spPr>
          <a:xfrm>
            <a:off x="566928" y="4023360"/>
            <a:ext cx="521208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airlines.json — les compagnies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airports.xlsx — 1 462 aéroports et leurs coordonnées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flights.xlsx — les vols, table centrale</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planes.html — la flotte, page web à parser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weather.pdf — la météo horaire, extraite d'un PDF</a:t>
            </a:r>
            <a:endParaRPr lang="en-US" sz="1350" dirty="0"/>
          </a:p>
        </p:txBody>
      </p:sp>
      <p:sp>
        <p:nvSpPr>
          <p:cNvPr id="19" name="Text 17"/>
          <p:cNvSpPr txBox="1"/>
          <p:nvPr/>
        </p:nvSpPr>
        <p:spPr>
          <a:xfrm>
            <a:off x="6217920" y="3657600"/>
            <a:ext cx="548640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Ce que le dashboard doit permettre</a:t>
            </a:r>
            <a:endParaRPr lang="en-US" sz="1700" dirty="0"/>
          </a:p>
        </p:txBody>
      </p:sp>
      <p:sp>
        <p:nvSpPr>
          <p:cNvPr id="20" name="Text 18"/>
          <p:cNvSpPr txBox="1"/>
          <p:nvPr/>
        </p:nvSpPr>
        <p:spPr>
          <a:xfrm>
            <a:off x="6217920" y="4023360"/>
            <a:ext cx="539496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Mesurer le trafic : par aéroport, par mois, par jour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Comparer la ponctualité des compagnies et des aéroports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Situer les annulations dans le temps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Explorer un vol précis sans écrire une ligne de SQL</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Quatre étages, quatre responsabilités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Chaque étage ne parle qu'à son voisin : le dashboard n'ouvre aucune connexion à la base.</a:t>
            </a:r>
            <a:endParaRPr lang="en-US" sz="1400" dirty="0"/>
          </a:p>
        </p:txBody>
      </p:sp>
      <p:sp>
        <p:nvSpPr>
          <p:cNvPr id="5" name="Shape 3"/>
          <p:cNvSpPr/>
          <p:nvPr/>
        </p:nvSpPr>
        <p:spPr>
          <a:xfrm>
            <a:off x="566928"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194560"/>
            <a:ext cx="420624" cy="420624"/>
          </a:xfrm>
          <a:prstGeom prst="ellipse">
            <a:avLst/>
          </a:prstGeom>
          <a:solidFill>
            <a:srgbClr val="0B3C5D"/>
          </a:solidFill>
          <a:ln w="12700">
            <a:solidFill>
              <a:srgbClr val="0B3C5D"/>
            </a:solidFill>
            <a:prstDash val="solid"/>
          </a:ln>
        </p:spPr>
      </p:sp>
      <p:sp>
        <p:nvSpPr>
          <p:cNvPr id="7" name="Text 5"/>
          <p:cNvSpPr txBox="1"/>
          <p:nvPr/>
        </p:nvSpPr>
        <p:spPr>
          <a:xfrm>
            <a:off x="749808"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252728"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Fichiers sources</a:t>
            </a:r>
            <a:endParaRPr lang="en-US" sz="1450" dirty="0"/>
          </a:p>
        </p:txBody>
      </p:sp>
      <p:sp>
        <p:nvSpPr>
          <p:cNvPr id="9" name="Text 7"/>
          <p:cNvSpPr txBox="1"/>
          <p:nvPr/>
        </p:nvSpPr>
        <p:spPr>
          <a:xfrm>
            <a:off x="749808"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xlsx, json, html, pdf</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Nettoyage et complétion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clés étrangères</a:t>
            </a:r>
            <a:endParaRPr lang="en-US" sz="1150" dirty="0"/>
          </a:p>
        </p:txBody>
      </p:sp>
      <p:sp>
        <p:nvSpPr>
          <p:cNvPr id="10" name="Text 8"/>
          <p:cNvSpPr txBox="1"/>
          <p:nvPr/>
        </p:nvSpPr>
        <p:spPr>
          <a:xfrm>
            <a:off x="749808"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Salma</a:t>
            </a:r>
            <a:endParaRPr lang="en-US" sz="1100" dirty="0"/>
          </a:p>
        </p:txBody>
      </p:sp>
      <p:sp>
        <p:nvSpPr>
          <p:cNvPr id="11" name="Text 9"/>
          <p:cNvSpPr txBox="1"/>
          <p:nvPr/>
        </p:nvSpPr>
        <p:spPr>
          <a:xfrm>
            <a:off x="3182112"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3419856"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3" name="Shape 11"/>
          <p:cNvSpPr/>
          <p:nvPr/>
        </p:nvSpPr>
        <p:spPr>
          <a:xfrm>
            <a:off x="3602736" y="2194560"/>
            <a:ext cx="420624" cy="420624"/>
          </a:xfrm>
          <a:prstGeom prst="ellipse">
            <a:avLst/>
          </a:prstGeom>
          <a:solidFill>
            <a:srgbClr val="0B3C5D"/>
          </a:solidFill>
          <a:ln w="12700">
            <a:solidFill>
              <a:srgbClr val="0B3C5D"/>
            </a:solidFill>
            <a:prstDash val="solid"/>
          </a:ln>
        </p:spPr>
      </p:sp>
      <p:sp>
        <p:nvSpPr>
          <p:cNvPr id="14" name="Text 12"/>
          <p:cNvSpPr txBox="1"/>
          <p:nvPr/>
        </p:nvSpPr>
        <p:spPr>
          <a:xfrm>
            <a:off x="3602736"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105656"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MySQL 8</a:t>
            </a:r>
            <a:endParaRPr lang="en-US" sz="1450" dirty="0"/>
          </a:p>
        </p:txBody>
      </p:sp>
      <p:sp>
        <p:nvSpPr>
          <p:cNvPr id="16" name="Text 14"/>
          <p:cNvSpPr txBox="1"/>
          <p:nvPr/>
        </p:nvSpPr>
        <p:spPr>
          <a:xfrm>
            <a:off x="3602736"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5 tables, clés primaires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et étrangères, contraintes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CHECK et index</a:t>
            </a:r>
            <a:endParaRPr lang="en-US" sz="1150" dirty="0"/>
          </a:p>
        </p:txBody>
      </p:sp>
      <p:sp>
        <p:nvSpPr>
          <p:cNvPr id="17" name="Text 15"/>
          <p:cNvSpPr txBox="1"/>
          <p:nvPr/>
        </p:nvSpPr>
        <p:spPr>
          <a:xfrm>
            <a:off x="3602736"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Meissa</a:t>
            </a:r>
            <a:endParaRPr lang="en-US" sz="1100" dirty="0"/>
          </a:p>
        </p:txBody>
      </p:sp>
      <p:sp>
        <p:nvSpPr>
          <p:cNvPr id="18" name="Text 16"/>
          <p:cNvSpPr txBox="1"/>
          <p:nvPr/>
        </p:nvSpPr>
        <p:spPr>
          <a:xfrm>
            <a:off x="6035040"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272784"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Shape 18"/>
          <p:cNvSpPr/>
          <p:nvPr/>
        </p:nvSpPr>
        <p:spPr>
          <a:xfrm>
            <a:off x="6455664" y="2194560"/>
            <a:ext cx="420624" cy="420624"/>
          </a:xfrm>
          <a:prstGeom prst="ellipse">
            <a:avLst/>
          </a:prstGeom>
          <a:solidFill>
            <a:srgbClr val="0B3C5D"/>
          </a:solidFill>
          <a:ln w="12700">
            <a:solidFill>
              <a:srgbClr val="0B3C5D"/>
            </a:solidFill>
            <a:prstDash val="solid"/>
          </a:ln>
        </p:spPr>
      </p:sp>
      <p:sp>
        <p:nvSpPr>
          <p:cNvPr id="21" name="Text 19"/>
          <p:cNvSpPr txBox="1"/>
          <p:nvPr/>
        </p:nvSpPr>
        <p:spPr>
          <a:xfrm>
            <a:off x="6455664"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txBox="1"/>
          <p:nvPr/>
        </p:nvSpPr>
        <p:spPr>
          <a:xfrm>
            <a:off x="6958584"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API REST Plumber</a:t>
            </a:r>
            <a:endParaRPr lang="en-US" sz="1450" dirty="0"/>
          </a:p>
        </p:txBody>
      </p:sp>
      <p:sp>
        <p:nvSpPr>
          <p:cNvPr id="23" name="Text 21"/>
          <p:cNvSpPr txBox="1"/>
          <p:nvPr/>
        </p:nvSpPr>
        <p:spPr>
          <a:xfrm>
            <a:off x="6455664"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30 endpoints JSON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Pagination, validation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paramètres</a:t>
            </a:r>
            <a:endParaRPr lang="en-US" sz="1150" dirty="0"/>
          </a:p>
        </p:txBody>
      </p:sp>
      <p:sp>
        <p:nvSpPr>
          <p:cNvPr id="24" name="Text 22"/>
          <p:cNvSpPr txBox="1"/>
          <p:nvPr/>
        </p:nvSpPr>
        <p:spPr>
          <a:xfrm>
            <a:off x="6455664"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Hedi</a:t>
            </a:r>
            <a:endParaRPr lang="en-US" sz="1100" dirty="0"/>
          </a:p>
        </p:txBody>
      </p:sp>
      <p:sp>
        <p:nvSpPr>
          <p:cNvPr id="25" name="Text 23"/>
          <p:cNvSpPr txBox="1"/>
          <p:nvPr/>
        </p:nvSpPr>
        <p:spPr>
          <a:xfrm>
            <a:off x="8887968"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25712" y="2011680"/>
            <a:ext cx="2651760" cy="2606040"/>
          </a:xfrm>
          <a:prstGeom prst="roundRect">
            <a:avLst>
              <a:gd name="adj" fmla="val 280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27" name="Shape 25"/>
          <p:cNvSpPr/>
          <p:nvPr/>
        </p:nvSpPr>
        <p:spPr>
          <a:xfrm>
            <a:off x="9308592" y="2194560"/>
            <a:ext cx="420624" cy="420624"/>
          </a:xfrm>
          <a:prstGeom prst="ellipse">
            <a:avLst/>
          </a:prstGeom>
          <a:solidFill>
            <a:srgbClr val="E4572E"/>
          </a:solidFill>
          <a:ln w="12700">
            <a:solidFill>
              <a:srgbClr val="E4572E"/>
            </a:solidFill>
            <a:prstDash val="solid"/>
          </a:ln>
        </p:spPr>
      </p:sp>
      <p:sp>
        <p:nvSpPr>
          <p:cNvPr id="28" name="Text 26"/>
          <p:cNvSpPr txBox="1"/>
          <p:nvPr/>
        </p:nvSpPr>
        <p:spPr>
          <a:xfrm>
            <a:off x="9308592"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9" name="Text 27"/>
          <p:cNvSpPr txBox="1"/>
          <p:nvPr/>
        </p:nvSpPr>
        <p:spPr>
          <a:xfrm>
            <a:off x="9811512" y="2231136"/>
            <a:ext cx="18288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Dashboard Shiny</a:t>
            </a:r>
            <a:endParaRPr lang="en-US" sz="1450" dirty="0"/>
          </a:p>
        </p:txBody>
      </p:sp>
      <p:sp>
        <p:nvSpPr>
          <p:cNvPr id="30" name="Text 28"/>
          <p:cNvSpPr txBox="1"/>
          <p:nvPr/>
        </p:nvSpPr>
        <p:spPr>
          <a:xfrm>
            <a:off x="9308592"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8 onglets, graphiques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interactifs, explorateur</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de vols</a:t>
            </a:r>
            <a:endParaRPr lang="en-US" sz="1150" dirty="0"/>
          </a:p>
        </p:txBody>
      </p:sp>
      <p:sp>
        <p:nvSpPr>
          <p:cNvPr id="31" name="Text 29"/>
          <p:cNvSpPr txBox="1"/>
          <p:nvPr/>
        </p:nvSpPr>
        <p:spPr>
          <a:xfrm>
            <a:off x="9308592" y="4069080"/>
            <a:ext cx="2286000" cy="32004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Marcus</a:t>
            </a:r>
            <a:endParaRPr lang="en-US" sz="1100" dirty="0"/>
          </a:p>
        </p:txBody>
      </p:sp>
      <p:sp>
        <p:nvSpPr>
          <p:cNvPr id="32" name="Shape 30"/>
          <p:cNvSpPr/>
          <p:nvPr/>
        </p:nvSpPr>
        <p:spPr>
          <a:xfrm>
            <a:off x="566928" y="4892040"/>
            <a:ext cx="11057839" cy="914400"/>
          </a:xfrm>
          <a:prstGeom prst="roundRect">
            <a:avLst>
              <a:gd name="adj" fmla="val 80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33" name="Text 31"/>
          <p:cNvSpPr txBox="1"/>
          <p:nvPr/>
        </p:nvSpPr>
        <p:spPr>
          <a:xfrm>
            <a:off x="786384" y="5047488"/>
            <a:ext cx="10600639" cy="640080"/>
          </a:xfrm>
          <a:prstGeom prst="rect">
            <a:avLst/>
          </a:prstGeom>
          <a:noFill/>
          <a:ln/>
        </p:spPr>
        <p:txBody>
          <a:bodyPr wrap="square" lIns="0" tIns="0" rIns="0" bIns="0" rtlCol="0" anchor="t"/>
          <a:lstStyle/>
          <a:p>
            <a:pPr indent="0" marL="0">
              <a:lnSpc>
                <a:spcPts val="1600"/>
              </a:lnSpc>
              <a:buNone/>
            </a:pPr>
            <a:r>
              <a:rPr lang="en-US" sz="1200" b="1" dirty="0">
                <a:solidFill>
                  <a:srgbClr val="12202B"/>
                </a:solidFill>
                <a:latin typeface="Calibri" pitchFamily="34" charset="0"/>
                <a:ea typeface="Calibri" pitchFamily="34" charset="-122"/>
                <a:cs typeface="Calibri" pitchFamily="34" charset="-120"/>
              </a:rPr>
              <a:t>Pourquoi passer par une API plutôt que lire MySQL directement ? </a:t>
            </a:r>
            <a:pPr indent="0" marL="0">
              <a:lnSpc>
                <a:spcPts val="1600"/>
              </a:lnSpc>
              <a:buNone/>
            </a:pPr>
            <a:r>
              <a:rPr lang="en-US" sz="1200" dirty="0">
                <a:solidFill>
                  <a:srgbClr val="5A6B7B"/>
                </a:solidFill>
                <a:latin typeface="Calibri" pitchFamily="34" charset="0"/>
                <a:ea typeface="Calibri" pitchFamily="34" charset="-122"/>
                <a:cs typeface="Calibri" pitchFamily="34" charset="-120"/>
              </a:rPr>
              <a:t>Le dashboard peut tourner sur un autre poste que la base, la logique SQL reste au même endroit pour tous les consommateurs, et les identifiants de la base ne quittent jamais le backend.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LIVRABLE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17904"/>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45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6304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Vue d'ensemble  </a:t>
            </a:r>
            <a:pPr indent="0" marL="0">
              <a:buNone/>
            </a:pPr>
            <a:r>
              <a:rPr lang="en-US" sz="1150" dirty="0">
                <a:solidFill>
                  <a:srgbClr val="5A6B7B"/>
                </a:solidFill>
                <a:latin typeface="Calibri" pitchFamily="34" charset="0"/>
                <a:ea typeface="Calibri" pitchFamily="34" charset="-122"/>
                <a:cs typeface="Calibri" pitchFamily="34" charset="-120"/>
              </a:rPr>
              <a:t>volumétrie et cadrage général</a:t>
            </a:r>
            <a:endParaRPr lang="en-US" sz="1300" dirty="0"/>
          </a:p>
        </p:txBody>
      </p:sp>
      <p:sp>
        <p:nvSpPr>
          <p:cNvPr id="8" name="Shape 5"/>
          <p:cNvSpPr/>
          <p:nvPr/>
        </p:nvSpPr>
        <p:spPr>
          <a:xfrm>
            <a:off x="5806440" y="2029968"/>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05740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197510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Trafic  </a:t>
            </a:r>
            <a:pPr indent="0" marL="0">
              <a:buNone/>
            </a:pPr>
            <a:r>
              <a:rPr lang="en-US" sz="1150" dirty="0">
                <a:solidFill>
                  <a:srgbClr val="5A6B7B"/>
                </a:solidFill>
                <a:latin typeface="Calibri" pitchFamily="34" charset="0"/>
                <a:ea typeface="Calibri" pitchFamily="34" charset="-122"/>
                <a:cs typeface="Calibri" pitchFamily="34" charset="-120"/>
              </a:rPr>
              <a:t>saisonnalité, croissance, périodes</a:t>
            </a:r>
            <a:endParaRPr lang="en-US" sz="1300" dirty="0"/>
          </a:p>
        </p:txBody>
      </p:sp>
      <p:sp>
        <p:nvSpPr>
          <p:cNvPr id="11" name="Shape 8"/>
          <p:cNvSpPr/>
          <p:nvPr/>
        </p:nvSpPr>
        <p:spPr>
          <a:xfrm>
            <a:off x="5806440" y="2542032"/>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5694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48716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Retards  </a:t>
            </a:r>
            <a:pPr indent="0" marL="0">
              <a:buNone/>
            </a:pPr>
            <a:r>
              <a:rPr lang="en-US" sz="1150" dirty="0">
                <a:solidFill>
                  <a:srgbClr val="5A6B7B"/>
                </a:solidFill>
                <a:latin typeface="Calibri" pitchFamily="34" charset="0"/>
                <a:ea typeface="Calibri" pitchFamily="34" charset="-122"/>
                <a:cs typeface="Calibri" pitchFamily="34" charset="-120"/>
              </a:rPr>
              <a:t>synthèse, compagnies, aéroports, extrêmes</a:t>
            </a:r>
            <a:endParaRPr lang="en-US" sz="1300" dirty="0"/>
          </a:p>
        </p:txBody>
      </p:sp>
      <p:sp>
        <p:nvSpPr>
          <p:cNvPr id="14" name="Shape 11"/>
          <p:cNvSpPr/>
          <p:nvPr/>
        </p:nvSpPr>
        <p:spPr>
          <a:xfrm>
            <a:off x="5806440" y="305409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08152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299923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Annulations  </a:t>
            </a:r>
            <a:pPr indent="0" marL="0">
              <a:buNone/>
            </a:pPr>
            <a:r>
              <a:rPr lang="en-US" sz="1150" dirty="0">
                <a:solidFill>
                  <a:srgbClr val="5A6B7B"/>
                </a:solidFill>
                <a:latin typeface="Calibri" pitchFamily="34" charset="0"/>
                <a:ea typeface="Calibri" pitchFamily="34" charset="-122"/>
                <a:cs typeface="Calibri" pitchFamily="34" charset="-120"/>
              </a:rPr>
              <a:t>volumétrie et qualité des données</a:t>
            </a:r>
            <a:endParaRPr lang="en-US" sz="1300" dirty="0"/>
          </a:p>
        </p:txBody>
      </p:sp>
      <p:sp>
        <p:nvSpPr>
          <p:cNvPr id="17" name="Shape 14"/>
          <p:cNvSpPr/>
          <p:nvPr/>
        </p:nvSpPr>
        <p:spPr>
          <a:xfrm>
            <a:off x="5806440" y="3566160"/>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5935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51129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Carte  </a:t>
            </a:r>
            <a:pPr indent="0" marL="0">
              <a:buNone/>
            </a:pPr>
            <a:r>
              <a:rPr lang="en-US" sz="1150" dirty="0">
                <a:solidFill>
                  <a:srgbClr val="5A6B7B"/>
                </a:solidFill>
                <a:latin typeface="Calibri" pitchFamily="34" charset="0"/>
                <a:ea typeface="Calibri" pitchFamily="34" charset="-122"/>
                <a:cs typeface="Calibri" pitchFamily="34" charset="-120"/>
              </a:rPr>
              <a:t>réseau origine → destination</a:t>
            </a:r>
            <a:endParaRPr lang="en-US" sz="1300" dirty="0"/>
          </a:p>
        </p:txBody>
      </p:sp>
      <p:sp>
        <p:nvSpPr>
          <p:cNvPr id="20" name="Shape 17"/>
          <p:cNvSpPr/>
          <p:nvPr/>
        </p:nvSpPr>
        <p:spPr>
          <a:xfrm>
            <a:off x="5806440" y="4078224"/>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10565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02336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Météo  </a:t>
            </a:r>
            <a:pPr indent="0" marL="0">
              <a:buNone/>
            </a:pPr>
            <a:r>
              <a:rPr lang="en-US" sz="1150" dirty="0">
                <a:solidFill>
                  <a:srgbClr val="5A6B7B"/>
                </a:solidFill>
                <a:latin typeface="Calibri" pitchFamily="34" charset="0"/>
                <a:ea typeface="Calibri" pitchFamily="34" charset="-122"/>
                <a:cs typeface="Calibri" pitchFamily="34" charset="-120"/>
              </a:rPr>
              <a:t>température, vent, précipitations</a:t>
            </a:r>
            <a:endParaRPr lang="en-US" sz="1300" dirty="0"/>
          </a:p>
        </p:txBody>
      </p:sp>
      <p:sp>
        <p:nvSpPr>
          <p:cNvPr id="23" name="Shape 20"/>
          <p:cNvSpPr/>
          <p:nvPr/>
        </p:nvSpPr>
        <p:spPr>
          <a:xfrm>
            <a:off x="5806440" y="4590288"/>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6177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53542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Vols  </a:t>
            </a:r>
            <a:pPr indent="0" marL="0">
              <a:buNone/>
            </a:pPr>
            <a:r>
              <a:rPr lang="en-US" sz="1150" dirty="0">
                <a:solidFill>
                  <a:srgbClr val="5A6B7B"/>
                </a:solidFill>
                <a:latin typeface="Calibri" pitchFamily="34" charset="0"/>
                <a:ea typeface="Calibri" pitchFamily="34" charset="-122"/>
                <a:cs typeface="Calibri" pitchFamily="34" charset="-120"/>
              </a:rPr>
              <a:t>explorateur filtré, trié, paginé</a:t>
            </a:r>
            <a:endParaRPr lang="en-US" sz="1300" dirty="0"/>
          </a:p>
        </p:txBody>
      </p:sp>
      <p:sp>
        <p:nvSpPr>
          <p:cNvPr id="26" name="Shape 23"/>
          <p:cNvSpPr/>
          <p:nvPr/>
        </p:nvSpPr>
        <p:spPr>
          <a:xfrm>
            <a:off x="5806440" y="5102352"/>
            <a:ext cx="274320" cy="274320"/>
          </a:xfrm>
          <a:prstGeom prst="ellipse">
            <a:avLst/>
          </a:prstGeom>
          <a:solidFill>
            <a:srgbClr val="E4572E"/>
          </a:solidFill>
          <a:ln w="12700">
            <a:solidFill>
              <a:srgbClr val="E4572E"/>
            </a:solidFill>
            <a:prstDash val="solid"/>
          </a:ln>
        </p:spPr>
      </p:sp>
      <p:sp>
        <p:nvSpPr>
          <p:cNvPr id="27" name="Text 24"/>
          <p:cNvSpPr txBox="1"/>
          <p:nvPr/>
        </p:nvSpPr>
        <p:spPr>
          <a:xfrm>
            <a:off x="5806440" y="512978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04748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Prévisions  </a:t>
            </a:r>
            <a:pPr indent="0" marL="0">
              <a:buNone/>
            </a:pPr>
            <a:r>
              <a:rPr lang="en-US" sz="1150" dirty="0">
                <a:solidFill>
                  <a:srgbClr val="5A6B7B"/>
                </a:solidFill>
                <a:latin typeface="Calibri" pitchFamily="34" charset="0"/>
                <a:ea typeface="Calibri" pitchFamily="34" charset="-122"/>
                <a:cs typeface="Calibri" pitchFamily="34" charset="-120"/>
              </a:rPr>
              <a:t>modèle saisonnier et validation</a:t>
            </a:r>
            <a:endParaRPr lang="en-US" sz="1300" dirty="0"/>
          </a:p>
        </p:txBody>
      </p:sp>
      <p:sp>
        <p:nvSpPr>
          <p:cNvPr id="29" name="Shape 26"/>
          <p:cNvSpPr/>
          <p:nvPr/>
        </p:nvSpPr>
        <p:spPr>
          <a:xfrm>
            <a:off x="5806440" y="5614416"/>
            <a:ext cx="274320" cy="274320"/>
          </a:xfrm>
          <a:prstGeom prst="ellipse">
            <a:avLst/>
          </a:prstGeom>
          <a:solidFill>
            <a:srgbClr val="1D8AC1"/>
          </a:solidFill>
          <a:ln w="12700">
            <a:solidFill>
              <a:srgbClr val="1D8AC1"/>
            </a:solidFill>
            <a:prstDash val="solid"/>
          </a:ln>
        </p:spPr>
      </p:sp>
      <p:sp>
        <p:nvSpPr>
          <p:cNvPr id="30" name="Text 27"/>
          <p:cNvSpPr txBox="1"/>
          <p:nvPr/>
        </p:nvSpPr>
        <p:spPr>
          <a:xfrm>
            <a:off x="5806440" y="564184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Text 28"/>
          <p:cNvSpPr txBox="1"/>
          <p:nvPr/>
        </p:nvSpPr>
        <p:spPr>
          <a:xfrm>
            <a:off x="6236208" y="555955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Données &amp; méthode  </a:t>
            </a:r>
            <a:pPr indent="0" marL="0">
              <a:buNone/>
            </a:pPr>
            <a:r>
              <a:rPr lang="en-US" sz="1150" dirty="0">
                <a:solidFill>
                  <a:srgbClr val="5A6B7B"/>
                </a:solidFill>
                <a:latin typeface="Calibri" pitchFamily="34" charset="0"/>
                <a:ea typeface="Calibri" pitchFamily="34" charset="-122"/>
                <a:cs typeface="Calibri" pitchFamily="34" charset="-120"/>
              </a:rPr>
              <a:t>sources et conventions de lecture</a:t>
            </a:r>
            <a:endParaRPr lang="en-US" sz="1300" dirty="0"/>
          </a:p>
        </p:txBody>
      </p:sp>
      <p:sp>
        <p:nvSpPr>
          <p:cNvPr id="32" name="Shape 29"/>
          <p:cNvSpPr/>
          <p:nvPr/>
        </p:nvSpPr>
        <p:spPr>
          <a:xfrm>
            <a:off x="5806440" y="5943600"/>
            <a:ext cx="5833872" cy="566928"/>
          </a:xfrm>
          <a:prstGeom prst="roundRect">
            <a:avLst>
              <a:gd name="adj" fmla="val 12903"/>
            </a:avLst>
          </a:prstGeom>
          <a:solidFill>
            <a:srgbClr val="E8F1F8"/>
          </a:solidFill>
          <a:ln w="12700">
            <a:solidFill>
              <a:srgbClr val="CFE3F1"/>
            </a:solidFill>
            <a:prstDash val="solid"/>
          </a:ln>
        </p:spPr>
      </p:sp>
      <p:sp>
        <p:nvSpPr>
          <p:cNvPr id="33" name="Text 30"/>
          <p:cNvSpPr txBox="1"/>
          <p:nvPr/>
        </p:nvSpPr>
        <p:spPr>
          <a:xfrm>
            <a:off x="5989320" y="6035040"/>
            <a:ext cx="5486400" cy="41148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Si l'API tombe, le badge passe au rouge et chaque graphique affiche l'erreur : la session ne tombe jamais.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1 — GÉOGRAPHIE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presque égales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Aucun des trois aéroports new-yorkais ne domine : 5 points séparent le premier du dernier.</a:t>
            </a:r>
            <a:endParaRPr lang="en-US" sz="1400" dirty="0"/>
          </a:p>
        </p:txBody>
      </p:sp>
      <p:sp>
        <p:nvSpPr>
          <p:cNvPr id="5" name="Shape 3"/>
          <p:cNvSpPr/>
          <p:nvPr/>
        </p:nvSpPr>
        <p:spPr>
          <a:xfrm>
            <a:off x="566928"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694944" y="2011680"/>
            <a:ext cx="1554480" cy="292608"/>
          </a:xfrm>
          <a:prstGeom prst="rect">
            <a:avLst/>
          </a:prstGeom>
          <a:noFill/>
          <a:ln/>
        </p:spPr>
        <p:txBody>
          <a:bodyPr wrap="square" lIns="0" tIns="0" rIns="0" bIns="0" rtlCol="0" anchor="ctr"/>
          <a:lstStyle/>
          <a:p>
            <a:pPr indent="0" marL="0">
              <a:buNone/>
            </a:pPr>
            <a:r>
              <a:rPr lang="en-US" sz="1150" b="1" dirty="0">
                <a:solidFill>
                  <a:srgbClr val="2E9E6B"/>
                </a:solidFill>
                <a:latin typeface="Calibri" pitchFamily="34" charset="0"/>
                <a:ea typeface="Calibri" pitchFamily="34" charset="-122"/>
                <a:cs typeface="Calibri" pitchFamily="34" charset="-120"/>
              </a:rPr>
              <a:t>EWR</a:t>
            </a:r>
            <a:endParaRPr lang="en-US" sz="1150" dirty="0"/>
          </a:p>
        </p:txBody>
      </p:sp>
      <p:sp>
        <p:nvSpPr>
          <p:cNvPr id="7" name="Text 5"/>
          <p:cNvSpPr txBox="1"/>
          <p:nvPr/>
        </p:nvSpPr>
        <p:spPr>
          <a:xfrm>
            <a:off x="694944"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36,1 %</a:t>
            </a:r>
            <a:endParaRPr lang="en-US" sz="2400" dirty="0"/>
          </a:p>
        </p:txBody>
      </p:sp>
      <p:sp>
        <p:nvSpPr>
          <p:cNvPr id="8" name="Text 6"/>
          <p:cNvSpPr txBox="1"/>
          <p:nvPr/>
        </p:nvSpPr>
        <p:spPr>
          <a:xfrm>
            <a:off x="694944"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91 241 vols</a:t>
            </a:r>
            <a:endParaRPr lang="en-US" sz="1050" dirty="0"/>
          </a:p>
        </p:txBody>
      </p:sp>
      <p:sp>
        <p:nvSpPr>
          <p:cNvPr id="9" name="Shape 7"/>
          <p:cNvSpPr/>
          <p:nvPr/>
        </p:nvSpPr>
        <p:spPr>
          <a:xfrm>
            <a:off x="2542032"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8"/>
          <p:cNvSpPr txBox="1"/>
          <p:nvPr/>
        </p:nvSpPr>
        <p:spPr>
          <a:xfrm>
            <a:off x="2670048" y="2011680"/>
            <a:ext cx="1554480" cy="292608"/>
          </a:xfrm>
          <a:prstGeom prst="rect">
            <a:avLst/>
          </a:prstGeom>
          <a:noFill/>
          <a:ln/>
        </p:spPr>
        <p:txBody>
          <a:bodyPr wrap="square" lIns="0" tIns="0" rIns="0" bIns="0" rtlCol="0" anchor="ctr"/>
          <a:lstStyle/>
          <a:p>
            <a:pPr indent="0" marL="0">
              <a:buNone/>
            </a:pPr>
            <a:r>
              <a:rPr lang="en-US" sz="1150" b="1" dirty="0">
                <a:solidFill>
                  <a:srgbClr val="0B3C5D"/>
                </a:solidFill>
                <a:latin typeface="Calibri" pitchFamily="34" charset="0"/>
                <a:ea typeface="Calibri" pitchFamily="34" charset="-122"/>
                <a:cs typeface="Calibri" pitchFamily="34" charset="-120"/>
              </a:rPr>
              <a:t>JFK</a:t>
            </a:r>
            <a:endParaRPr lang="en-US" sz="1150" dirty="0"/>
          </a:p>
        </p:txBody>
      </p:sp>
      <p:sp>
        <p:nvSpPr>
          <p:cNvPr id="11" name="Text 9"/>
          <p:cNvSpPr txBox="1"/>
          <p:nvPr/>
        </p:nvSpPr>
        <p:spPr>
          <a:xfrm>
            <a:off x="2670048"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32,9 %</a:t>
            </a:r>
            <a:endParaRPr lang="en-US" sz="2400" dirty="0"/>
          </a:p>
        </p:txBody>
      </p:sp>
      <p:sp>
        <p:nvSpPr>
          <p:cNvPr id="12" name="Text 10"/>
          <p:cNvSpPr txBox="1"/>
          <p:nvPr/>
        </p:nvSpPr>
        <p:spPr>
          <a:xfrm>
            <a:off x="2670048"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83 119 vols</a:t>
            </a:r>
            <a:endParaRPr lang="en-US" sz="1050" dirty="0"/>
          </a:p>
        </p:txBody>
      </p:sp>
      <p:sp>
        <p:nvSpPr>
          <p:cNvPr id="13" name="Shape 11"/>
          <p:cNvSpPr/>
          <p:nvPr/>
        </p:nvSpPr>
        <p:spPr>
          <a:xfrm>
            <a:off x="4517136"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4645152" y="2011680"/>
            <a:ext cx="1554480" cy="292608"/>
          </a:xfrm>
          <a:prstGeom prst="rect">
            <a:avLst/>
          </a:prstGeom>
          <a:noFill/>
          <a:ln/>
        </p:spPr>
        <p:txBody>
          <a:bodyPr wrap="square" lIns="0" tIns="0" rIns="0" bIns="0" rtlCol="0" anchor="ctr"/>
          <a:lstStyle/>
          <a:p>
            <a:pPr indent="0" marL="0">
              <a:buNone/>
            </a:pPr>
            <a:r>
              <a:rPr lang="en-US" sz="1150" b="1" dirty="0">
                <a:solidFill>
                  <a:srgbClr val="1D8AC1"/>
                </a:solidFill>
                <a:latin typeface="Calibri" pitchFamily="34" charset="0"/>
                <a:ea typeface="Calibri" pitchFamily="34" charset="-122"/>
                <a:cs typeface="Calibri" pitchFamily="34" charset="-120"/>
              </a:rPr>
              <a:t>LGA</a:t>
            </a:r>
            <a:endParaRPr lang="en-US" sz="1150" dirty="0"/>
          </a:p>
        </p:txBody>
      </p:sp>
      <p:sp>
        <p:nvSpPr>
          <p:cNvPr id="15" name="Text 13"/>
          <p:cNvSpPr txBox="1"/>
          <p:nvPr/>
        </p:nvSpPr>
        <p:spPr>
          <a:xfrm>
            <a:off x="4645152"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31,0 %</a:t>
            </a:r>
            <a:endParaRPr lang="en-US" sz="2400" dirty="0"/>
          </a:p>
        </p:txBody>
      </p:sp>
      <p:sp>
        <p:nvSpPr>
          <p:cNvPr id="16" name="Text 14"/>
          <p:cNvSpPr txBox="1"/>
          <p:nvPr/>
        </p:nvSpPr>
        <p:spPr>
          <a:xfrm>
            <a:off x="4645152"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78 344 vols</a:t>
            </a:r>
            <a:endParaRPr lang="en-US" sz="1050" dirty="0"/>
          </a:p>
        </p:txBody>
      </p:sp>
      <p:graphicFrame>
        <p:nvGraphicFramePr>
          <p:cNvPr id="17" name="Chart 0" descr=""/>
          <p:cNvGraphicFramePr/>
          <p:nvPr/>
        </p:nvGraphicFramePr>
        <p:xfrm>
          <a:off x="6309360" y="1783080"/>
          <a:ext cx="5349240" cy="3977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38328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lignes les plus fréquentées</a:t>
            </a:r>
            <a:endParaRPr lang="en-US" sz="1500" dirty="0"/>
          </a:p>
        </p:txBody>
      </p:sp>
      <p:sp>
        <p:nvSpPr>
          <p:cNvPr id="19" name="Shape 16"/>
          <p:cNvSpPr/>
          <p:nvPr/>
        </p:nvSpPr>
        <p:spPr>
          <a:xfrm>
            <a:off x="566928" y="3749040"/>
            <a:ext cx="5303520" cy="365760"/>
          </a:xfrm>
          <a:prstGeom prst="roundRect">
            <a:avLst>
              <a:gd name="adj" fmla="val 20000"/>
            </a:avLst>
          </a:prstGeom>
          <a:solidFill>
            <a:srgbClr val="F4F7FA"/>
          </a:solidFill>
          <a:ln w="12700">
            <a:solidFill>
              <a:srgbClr val="F4F7FA"/>
            </a:solidFill>
            <a:prstDash val="solid"/>
          </a:ln>
        </p:spPr>
      </p:sp>
      <p:sp>
        <p:nvSpPr>
          <p:cNvPr id="20" name="Text 17"/>
          <p:cNvSpPr txBox="1"/>
          <p:nvPr/>
        </p:nvSpPr>
        <p:spPr>
          <a:xfrm>
            <a:off x="713232" y="3776472"/>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LAX</a:t>
            </a:r>
            <a:endParaRPr lang="en-US" sz="1200" dirty="0"/>
          </a:p>
        </p:txBody>
      </p:sp>
      <p:sp>
        <p:nvSpPr>
          <p:cNvPr id="21" name="Text 18"/>
          <p:cNvSpPr txBox="1"/>
          <p:nvPr/>
        </p:nvSpPr>
        <p:spPr>
          <a:xfrm>
            <a:off x="3858768" y="3776472"/>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8 447 vols</a:t>
            </a:r>
            <a:endParaRPr lang="en-US" sz="1200" dirty="0"/>
          </a:p>
        </p:txBody>
      </p:sp>
      <p:sp>
        <p:nvSpPr>
          <p:cNvPr id="22" name="Text 19"/>
          <p:cNvSpPr txBox="1"/>
          <p:nvPr/>
        </p:nvSpPr>
        <p:spPr>
          <a:xfrm>
            <a:off x="713232" y="4178808"/>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ATL</a:t>
            </a:r>
            <a:endParaRPr lang="en-US" sz="1200" dirty="0"/>
          </a:p>
        </p:txBody>
      </p:sp>
      <p:sp>
        <p:nvSpPr>
          <p:cNvPr id="23" name="Text 20"/>
          <p:cNvSpPr txBox="1"/>
          <p:nvPr/>
        </p:nvSpPr>
        <p:spPr>
          <a:xfrm>
            <a:off x="3858768" y="4178808"/>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7 816 vols</a:t>
            </a:r>
            <a:endParaRPr lang="en-US" sz="1200" dirty="0"/>
          </a:p>
        </p:txBody>
      </p:sp>
      <p:sp>
        <p:nvSpPr>
          <p:cNvPr id="24" name="Shape 21"/>
          <p:cNvSpPr/>
          <p:nvPr/>
        </p:nvSpPr>
        <p:spPr>
          <a:xfrm>
            <a:off x="566928" y="4553712"/>
            <a:ext cx="5303520" cy="365760"/>
          </a:xfrm>
          <a:prstGeom prst="roundRect">
            <a:avLst>
              <a:gd name="adj" fmla="val 20000"/>
            </a:avLst>
          </a:prstGeom>
          <a:solidFill>
            <a:srgbClr val="F4F7FA"/>
          </a:solidFill>
          <a:ln w="12700">
            <a:solidFill>
              <a:srgbClr val="F4F7FA"/>
            </a:solidFill>
            <a:prstDash val="solid"/>
          </a:ln>
        </p:spPr>
      </p:sp>
      <p:sp>
        <p:nvSpPr>
          <p:cNvPr id="25" name="Text 22"/>
          <p:cNvSpPr txBox="1"/>
          <p:nvPr/>
        </p:nvSpPr>
        <p:spPr>
          <a:xfrm>
            <a:off x="713232" y="4581144"/>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ORD</a:t>
            </a:r>
            <a:endParaRPr lang="en-US" sz="1200" dirty="0"/>
          </a:p>
        </p:txBody>
      </p:sp>
      <p:sp>
        <p:nvSpPr>
          <p:cNvPr id="26" name="Text 23"/>
          <p:cNvSpPr txBox="1"/>
          <p:nvPr/>
        </p:nvSpPr>
        <p:spPr>
          <a:xfrm>
            <a:off x="3858768" y="4581144"/>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6 500 vols</a:t>
            </a:r>
            <a:endParaRPr lang="en-US" sz="1200" dirty="0"/>
          </a:p>
        </p:txBody>
      </p:sp>
      <p:sp>
        <p:nvSpPr>
          <p:cNvPr id="27" name="Text 24"/>
          <p:cNvSpPr txBox="1"/>
          <p:nvPr/>
        </p:nvSpPr>
        <p:spPr>
          <a:xfrm>
            <a:off x="713232" y="4983480"/>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SFO</a:t>
            </a:r>
            <a:endParaRPr lang="en-US" sz="1200" dirty="0"/>
          </a:p>
        </p:txBody>
      </p:sp>
      <p:sp>
        <p:nvSpPr>
          <p:cNvPr id="28" name="Text 25"/>
          <p:cNvSpPr txBox="1"/>
          <p:nvPr/>
        </p:nvSpPr>
        <p:spPr>
          <a:xfrm>
            <a:off x="3858768" y="4983480"/>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6 132 vols</a:t>
            </a:r>
            <a:endParaRPr lang="en-US" sz="1200" dirty="0"/>
          </a:p>
        </p:txBody>
      </p:sp>
      <p:sp>
        <p:nvSpPr>
          <p:cNvPr id="29" name="Shape 26"/>
          <p:cNvSpPr/>
          <p:nvPr/>
        </p:nvSpPr>
        <p:spPr>
          <a:xfrm>
            <a:off x="566928" y="5358384"/>
            <a:ext cx="5303520" cy="365760"/>
          </a:xfrm>
          <a:prstGeom prst="roundRect">
            <a:avLst>
              <a:gd name="adj" fmla="val 20000"/>
            </a:avLst>
          </a:prstGeom>
          <a:solidFill>
            <a:srgbClr val="F4F7FA"/>
          </a:solidFill>
          <a:ln w="12700">
            <a:solidFill>
              <a:srgbClr val="F4F7FA"/>
            </a:solidFill>
            <a:prstDash val="solid"/>
          </a:ln>
        </p:spPr>
      </p:sp>
      <p:sp>
        <p:nvSpPr>
          <p:cNvPr id="30" name="Text 27"/>
          <p:cNvSpPr txBox="1"/>
          <p:nvPr/>
        </p:nvSpPr>
        <p:spPr>
          <a:xfrm>
            <a:off x="713232" y="5385816"/>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CLT</a:t>
            </a:r>
            <a:endParaRPr lang="en-US" sz="1200" dirty="0"/>
          </a:p>
        </p:txBody>
      </p:sp>
      <p:sp>
        <p:nvSpPr>
          <p:cNvPr id="31" name="Text 28"/>
          <p:cNvSpPr txBox="1"/>
          <p:nvPr/>
        </p:nvSpPr>
        <p:spPr>
          <a:xfrm>
            <a:off x="3858768" y="5385816"/>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4 486 vols</a:t>
            </a:r>
            <a:endParaRPr lang="en-US" sz="1200" dirty="0"/>
          </a:p>
        </p:txBody>
      </p:sp>
      <p:sp>
        <p:nvSpPr>
          <p:cNvPr id="32" name="Text 29"/>
          <p:cNvSpPr txBox="1"/>
          <p:nvPr/>
        </p:nvSpPr>
        <p:spPr>
          <a:xfrm>
            <a:off x="566928" y="59893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Source : API /traffic/top-airports et /routes/top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 CALENDRIER</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trafic très régulier, sauf le samedi</a:t>
            </a:r>
            <a:endParaRPr lang="en-US" sz="3200" dirty="0"/>
          </a:p>
        </p:txBody>
      </p:sp>
      <p:pic>
        <p:nvPicPr>
          <p:cNvPr id="4" name="Image 0" descr="/Users/marcuslinguet/Downloads/trafic-aerien-adp/presentation/figures/02_trafic_journalier.png">    </p:cNvPr>
          <p:cNvPicPr>
            <a:picLocks noChangeAspect="1"/>
          </p:cNvPicPr>
          <p:nvPr/>
        </p:nvPicPr>
        <p:blipFill>
          <a:blip r:embed="rId1"/>
          <a:stretch>
            <a:fillRect/>
          </a:stretch>
        </p:blipFill>
        <p:spPr>
          <a:xfrm>
            <a:off x="566928" y="1417320"/>
            <a:ext cx="7589520" cy="4251960"/>
          </a:xfrm>
          <a:prstGeom prst="rect">
            <a:avLst/>
          </a:prstGeom>
        </p:spPr>
      </p:pic>
      <p:sp>
        <p:nvSpPr>
          <p:cNvPr id="5" name="Shape 2"/>
          <p:cNvSpPr/>
          <p:nvPr/>
        </p:nvSpPr>
        <p:spPr>
          <a:xfrm>
            <a:off x="8366760" y="1481328"/>
            <a:ext cx="3246120" cy="1298448"/>
          </a:xfrm>
          <a:prstGeom prst="roundRect">
            <a:avLst>
              <a:gd name="adj" fmla="val 563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91056"/>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−15 %</a:t>
            </a:r>
            <a:endParaRPr lang="en-US" sz="2600" dirty="0"/>
          </a:p>
        </p:txBody>
      </p:sp>
      <p:sp>
        <p:nvSpPr>
          <p:cNvPr id="7" name="Text 4"/>
          <p:cNvSpPr txBox="1"/>
          <p:nvPr/>
        </p:nvSpPr>
        <p:spPr>
          <a:xfrm>
            <a:off x="8513064" y="2157984"/>
            <a:ext cx="2953512" cy="51206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 trafic le week-end : 814 vols par jour contre 956 en semaine</a:t>
            </a:r>
            <a:endParaRPr lang="en-US" sz="1150" dirty="0"/>
          </a:p>
        </p:txBody>
      </p:sp>
      <p:sp>
        <p:nvSpPr>
          <p:cNvPr id="8" name="Shape 5"/>
          <p:cNvSpPr/>
          <p:nvPr/>
        </p:nvSpPr>
        <p:spPr>
          <a:xfrm>
            <a:off x="8366760" y="2889504"/>
            <a:ext cx="3246120" cy="1298448"/>
          </a:xfrm>
          <a:prstGeom prst="roundRect">
            <a:avLst>
              <a:gd name="adj" fmla="val 563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999232"/>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276 j</a:t>
            </a:r>
            <a:endParaRPr lang="en-US" sz="2600" dirty="0"/>
          </a:p>
        </p:txBody>
      </p:sp>
      <p:sp>
        <p:nvSpPr>
          <p:cNvPr id="10" name="Text 7"/>
          <p:cNvSpPr txBox="1"/>
          <p:nvPr/>
        </p:nvSpPr>
        <p:spPr>
          <a:xfrm>
            <a:off x="8513064" y="3566160"/>
            <a:ext cx="2953512" cy="51206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données sur 365 : juillet est tronqué au 3, août et septembre sont absents</a:t>
            </a:r>
            <a:endParaRPr lang="en-US" sz="1150" dirty="0"/>
          </a:p>
        </p:txBody>
      </p:sp>
      <p:sp>
        <p:nvSpPr>
          <p:cNvPr id="11" name="Shape 8"/>
          <p:cNvSpPr/>
          <p:nvPr/>
        </p:nvSpPr>
        <p:spPr>
          <a:xfrm>
            <a:off x="8366760" y="4297680"/>
            <a:ext cx="3246120"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13064" y="4407408"/>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 915</a:t>
            </a:r>
            <a:endParaRPr lang="en-US" sz="2600" dirty="0"/>
          </a:p>
        </p:txBody>
      </p:sp>
      <p:sp>
        <p:nvSpPr>
          <p:cNvPr id="13" name="Text 10"/>
          <p:cNvSpPr txBox="1"/>
          <p:nvPr/>
        </p:nvSpPr>
        <p:spPr>
          <a:xfrm>
            <a:off x="8513064" y="4974336"/>
            <a:ext cx="2953512"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par jour en moyenne, avec un creux hebdomadaire net le samedi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BIS — PAR AÉROPORT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trois régimes de trafic</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600200"/>
          </a:xfrm>
          <a:prstGeom prst="roundRect">
            <a:avLst>
              <a:gd name="adj" fmla="val 4571"/>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99616"/>
            <a:ext cx="274320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Pourquoi ramener au jour</a:t>
            </a:r>
            <a:endParaRPr lang="en-US" sz="1100" dirty="0"/>
          </a:p>
        </p:txBody>
      </p:sp>
      <p:sp>
        <p:nvSpPr>
          <p:cNvPr id="7" name="Text 4"/>
          <p:cNvSpPr txBox="1"/>
          <p:nvPr/>
        </p:nvSpPr>
        <p:spPr>
          <a:xfrm>
            <a:off x="8732520" y="1792224"/>
            <a:ext cx="2743200" cy="109728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Février compte 28 jours et juillet n'en a que 3 dans nos données. Comparer des totaux mensuels reviendrait à comparer des durées différentes.</a:t>
            </a:r>
            <a:endParaRPr lang="en-US" sz="1150" dirty="0"/>
          </a:p>
        </p:txBody>
      </p:sp>
      <p:sp>
        <p:nvSpPr>
          <p:cNvPr id="8" name="Text 5"/>
          <p:cNvSpPr txBox="1"/>
          <p:nvPr/>
        </p:nvSpPr>
        <p:spPr>
          <a:xfrm>
            <a:off x="8549640" y="3127248"/>
            <a:ext cx="3108960"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EWR domine à 331 vols/jour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JFK suit à 302, LGA à 284</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trois suivent la même courbe : creux en février, sommet en avril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Chaque aéroport est comparé à sa propre moyenne, pas à celle des autres</a:t>
            </a:r>
            <a:endParaRPr lang="en-US" sz="1200" dirty="0"/>
          </a:p>
        </p:txBody>
      </p:sp>
      <p:sp>
        <p:nvSpPr>
          <p:cNvPr id="9" name="Text 6"/>
          <p:cNvSpPr txBox="1"/>
          <p:nvPr/>
        </p:nvSpPr>
        <p:spPr>
          <a:xfrm>
            <a:off x="566928" y="525780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Réponse à la Mission 2, §3.1 Q2 : une facette par aéroport, avec sa moyenne.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3 — RETARDS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26680" cy="4325112"/>
          </a:xfrm>
          <a:prstGeom prst="rect">
            <a:avLst/>
          </a:prstGeom>
        </p:spPr>
      </p:pic>
      <p:sp>
        <p:nvSpPr>
          <p:cNvPr id="5" name="Shape 2"/>
          <p:cNvSpPr/>
          <p:nvPr/>
        </p:nvSpPr>
        <p:spPr>
          <a:xfrm>
            <a:off x="8503920" y="1417320"/>
            <a:ext cx="3108960" cy="1874520"/>
          </a:xfrm>
          <a:prstGeom prst="roundRect">
            <a:avLst>
              <a:gd name="adj" fmla="val 3902"/>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86800" y="1554480"/>
            <a:ext cx="2743200" cy="566928"/>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30</a:t>
            </a:r>
            <a:endParaRPr lang="en-US" sz="3000" dirty="0"/>
          </a:p>
        </p:txBody>
      </p:sp>
      <p:sp>
        <p:nvSpPr>
          <p:cNvPr id="7" name="Text 4"/>
          <p:cNvSpPr txBox="1"/>
          <p:nvPr/>
        </p:nvSpPr>
        <p:spPr>
          <a:xfrm>
            <a:off x="8686800" y="2148840"/>
            <a:ext cx="2743200" cy="105156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Entre un décollage à 5 h (0,8 min de retard moyen) et un décollage à 19 h (24 min), le retard moyen est multiplié par trente.</a:t>
            </a:r>
            <a:endParaRPr lang="en-US" sz="1150" dirty="0"/>
          </a:p>
        </p:txBody>
      </p:sp>
      <p:sp>
        <p:nvSpPr>
          <p:cNvPr id="8" name="Text 5"/>
          <p:cNvSpPr txBox="1"/>
          <p:nvPr/>
        </p:nvSpPr>
        <p:spPr>
          <a:xfrm>
            <a:off x="8503920" y="3474720"/>
            <a:ext cx="3108960" cy="219456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39,1 % des départs partent en retard</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12,4 min de retard moyen au départ</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7,3 min seulement à l'arrivée : une partie se rattrape en vol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Record : 1 301 min, un JFK → Honolulu</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4 — COMPAGNIES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24 % à 59 % de vols en retard selon la compagnie</a:t>
            </a:r>
            <a:endParaRPr lang="en-US" sz="3200" dirty="0"/>
          </a:p>
        </p:txBody>
      </p:sp>
      <p:pic>
        <p:nvPicPr>
          <p:cNvPr id="4" name="Image 0" descr="/Users/marcuslinguet/Downloads/trafic-aerien-adp/presentation/figures/03_fiabilite_compagnies.png">    </p:cNvPr>
          <p:cNvPicPr>
            <a:picLocks noChangeAspect="1"/>
          </p:cNvPicPr>
          <p:nvPr/>
        </p:nvPicPr>
        <p:blipFill>
          <a:blip r:embed="rId1"/>
          <a:stretch>
            <a:fillRect/>
          </a:stretch>
        </p:blipFill>
        <p:spPr>
          <a:xfrm>
            <a:off x="566928" y="1371600"/>
            <a:ext cx="6949440" cy="4443984"/>
          </a:xfrm>
          <a:prstGeom prst="rect">
            <a:avLst/>
          </a:prstGeom>
        </p:spPr>
      </p:pic>
      <p:sp>
        <p:nvSpPr>
          <p:cNvPr id="5" name="Shape 2"/>
          <p:cNvSpPr/>
          <p:nvPr/>
        </p:nvSpPr>
        <p:spPr>
          <a:xfrm>
            <a:off x="7680960" y="1417320"/>
            <a:ext cx="3931920" cy="1417320"/>
          </a:xfrm>
          <a:prstGeom prst="roundRect">
            <a:avLst>
              <a:gd name="adj" fmla="val 5161"/>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863840" y="1536192"/>
            <a:ext cx="35661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deux extrêmes</a:t>
            </a:r>
            <a:endParaRPr lang="en-US" sz="1100" dirty="0"/>
          </a:p>
        </p:txBody>
      </p:sp>
      <p:sp>
        <p:nvSpPr>
          <p:cNvPr id="7" name="Text 4"/>
          <p:cNvSpPr txBox="1"/>
          <p:nvPr/>
        </p:nvSpPr>
        <p:spPr>
          <a:xfrm>
            <a:off x="7863840" y="1847088"/>
            <a:ext cx="3566160" cy="914400"/>
          </a:xfrm>
          <a:prstGeom prst="rect">
            <a:avLst/>
          </a:prstGeom>
          <a:noFill/>
          <a:ln/>
        </p:spPr>
        <p:txBody>
          <a:bodyPr wrap="square" lIns="0" tIns="0" rIns="0" bIns="0" rtlCol="0" anchor="t"/>
          <a:lstStyle/>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FL — AirTran   59,2 %</a:t>
            </a:r>
            <a:endParaRPr lang="en-US" sz="1300" dirty="0"/>
          </a:p>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HA — Hawaiian   24,4 %</a:t>
            </a:r>
            <a:endParaRPr lang="en-US" sz="1300" dirty="0"/>
          </a:p>
          <a:p>
            <a:pPr indent="0" marL="0">
              <a:lnSpc>
                <a:spcPts val="1800"/>
              </a:lnSpc>
              <a:buNone/>
            </a:pPr>
            <a:r>
              <a:rPr lang="en-US" sz="1050" dirty="0">
                <a:solidFill>
                  <a:srgbClr val="5A6B7B"/>
                </a:solidFill>
                <a:latin typeface="Calibri" pitchFamily="34" charset="0"/>
                <a:ea typeface="Calibri" pitchFamily="34" charset="-122"/>
                <a:cs typeface="Calibri" pitchFamily="34" charset="-120"/>
              </a:rPr>
              <a:t>Soit 34,8 points d'écart — mais sur 2 438 et 258 vols seulement.</a:t>
            </a:r>
            <a:endParaRPr lang="en-US" sz="1300" dirty="0"/>
          </a:p>
        </p:txBody>
      </p:sp>
      <p:sp>
        <p:nvSpPr>
          <p:cNvPr id="8" name="Shape 5"/>
          <p:cNvSpPr/>
          <p:nvPr/>
        </p:nvSpPr>
        <p:spPr>
          <a:xfrm>
            <a:off x="7680960" y="2971800"/>
            <a:ext cx="3931920" cy="1600200"/>
          </a:xfrm>
          <a:prstGeom prst="roundRect">
            <a:avLst>
              <a:gd name="adj" fmla="val 4571"/>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7863840" y="3090672"/>
            <a:ext cx="356616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À effectifs comparables</a:t>
            </a:r>
            <a:endParaRPr lang="en-US" sz="1100" dirty="0"/>
          </a:p>
        </p:txBody>
      </p:sp>
      <p:sp>
        <p:nvSpPr>
          <p:cNvPr id="10" name="Text 7"/>
          <p:cNvSpPr txBox="1"/>
          <p:nvPr/>
        </p:nvSpPr>
        <p:spPr>
          <a:xfrm>
            <a:off x="7863840" y="3401568"/>
            <a:ext cx="3566160" cy="1051560"/>
          </a:xfrm>
          <a:prstGeom prst="rect">
            <a:avLst/>
          </a:prstGeom>
          <a:noFill/>
          <a:ln/>
        </p:spPr>
        <p:txBody>
          <a:bodyPr wrap="square" lIns="0" tIns="0" rIns="0" bIns="0" rtlCol="0" anchor="t"/>
          <a:lstStyle/>
          <a:p>
            <a:pPr indent="0" marL="0">
              <a:lnSpc>
                <a:spcPts val="1800"/>
              </a:lnSpc>
              <a:buNone/>
            </a:pPr>
            <a:r>
              <a:rPr lang="en-US" sz="1100" dirty="0">
                <a:solidFill>
                  <a:srgbClr val="5A6B7B"/>
                </a:solidFill>
                <a:latin typeface="Calibri" pitchFamily="34" charset="0"/>
                <a:ea typeface="Calibri" pitchFamily="34" charset="-122"/>
                <a:cs typeface="Calibri" pitchFamily="34" charset="-120"/>
              </a:rPr>
              <a:t>Parmi les compagnies dépassant 10 000 vols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DL — Delta   34,4 %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EV — ExpressJet   51,0 %</a:t>
            </a:r>
            <a:endParaRPr lang="en-US" sz="1250" dirty="0"/>
          </a:p>
        </p:txBody>
      </p:sp>
      <p:sp>
        <p:nvSpPr>
          <p:cNvPr id="11" name="Text 8"/>
          <p:cNvSpPr txBox="1"/>
          <p:nvPr/>
        </p:nvSpPr>
        <p:spPr>
          <a:xfrm>
            <a:off x="7680960" y="4736592"/>
            <a:ext cx="3931920"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Et par aéroport de départ</a:t>
            </a:r>
            <a:endParaRPr lang="en-US" sz="1400" dirty="0"/>
          </a:p>
        </p:txBody>
      </p:sp>
      <p:sp>
        <p:nvSpPr>
          <p:cNvPr id="12" name="Text 9"/>
          <p:cNvSpPr txBox="1"/>
          <p:nvPr/>
        </p:nvSpPr>
        <p:spPr>
          <a:xfrm>
            <a:off x="7680960" y="5029200"/>
            <a:ext cx="3931920" cy="822960"/>
          </a:xfrm>
          <a:prstGeom prst="rect">
            <a:avLst/>
          </a:prstGeom>
          <a:noFill/>
          <a:ln/>
        </p:spPr>
        <p:txBody>
          <a:bodyPr wrap="square" lIns="0" tIns="0" rIns="0" bIns="0" rtlCol="0" anchor="t"/>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EWR est le plus pénalisé (15,4 min de retard moyen au départ), devant JFK (11,4 min) et LGA (9,9 min).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5 — DISTANCE ET VITESSE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Plus c'est loin, moins le retard pèse</a:t>
            </a:r>
            <a:endParaRPr lang="en-US" sz="3200" dirty="0"/>
          </a:p>
        </p:txBody>
      </p:sp>
      <p:pic>
        <p:nvPicPr>
          <p:cNvPr id="4" name="Image 0" descr="/Users/marcuslinguet/Downloads/trafic-aerien-adp/presentation/figures/04_distance_retard.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 = −0,47</a:t>
            </a:r>
            <a:endParaRPr lang="en-US" sz="2400" dirty="0"/>
          </a:p>
        </p:txBody>
      </p:sp>
      <p:sp>
        <p:nvSpPr>
          <p:cNvPr id="7" name="Text 4"/>
          <p:cNvSpPr txBox="1"/>
          <p:nvPr/>
        </p:nvSpPr>
        <p:spPr>
          <a:xfrm>
            <a:off x="8513064" y="2093976"/>
            <a:ext cx="2953512"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corrélation distance / retard à l'arrivée, sur 100 destinations</a:t>
            </a:r>
            <a:endParaRPr lang="en-US" sz="1150" dirty="0"/>
          </a:p>
        </p:txBody>
      </p:sp>
      <p:sp>
        <p:nvSpPr>
          <p:cNvPr id="8" name="Shape 5"/>
          <p:cNvSpPr/>
          <p:nvPr/>
        </p:nvSpPr>
        <p:spPr>
          <a:xfrm>
            <a:off x="8366760" y="2578608"/>
            <a:ext cx="3246120" cy="3611880"/>
          </a:xfrm>
          <a:prstGeom prst="roundRect">
            <a:avLst>
              <a:gd name="adj" fmla="val 225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49640" y="2688336"/>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extrêmes de retard</a:t>
            </a:r>
            <a:endParaRPr lang="en-US" sz="1100" dirty="0"/>
          </a:p>
        </p:txBody>
      </p:sp>
      <p:sp>
        <p:nvSpPr>
          <p:cNvPr id="10" name="Text 7"/>
          <p:cNvSpPr txBox="1"/>
          <p:nvPr/>
        </p:nvSpPr>
        <p:spPr>
          <a:xfrm>
            <a:off x="8549640" y="2980944"/>
            <a:ext cx="2880360" cy="1325880"/>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PHL, 94 miles → 11,8 min de retard</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ALB, 143 miles → 17,5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SFO, 2 578 miles → 0,7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SJC, 2 569 miles → −0,2 min, soit en avance</a:t>
            </a:r>
            <a:endParaRPr lang="en-US" sz="1100" dirty="0"/>
          </a:p>
        </p:txBody>
      </p:sp>
      <p:sp>
        <p:nvSpPr>
          <p:cNvPr id="11" name="Text 8"/>
          <p:cNvSpPr txBox="1"/>
          <p:nvPr/>
        </p:nvSpPr>
        <p:spPr>
          <a:xfrm>
            <a:off x="8549640" y="43525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deux extrêmes de distance</a:t>
            </a:r>
            <a:endParaRPr lang="en-US" sz="1100" dirty="0"/>
          </a:p>
        </p:txBody>
      </p:sp>
      <p:sp>
        <p:nvSpPr>
          <p:cNvPr id="12" name="Text 9"/>
          <p:cNvSpPr txBox="1"/>
          <p:nvPr/>
        </p:nvSpPr>
        <p:spPr>
          <a:xfrm>
            <a:off x="8549640" y="4608576"/>
            <a:ext cx="2880360" cy="566928"/>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JFK → HNL, 4 983 mi — le plus long</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EWR → PHL, 80 mi — le plus court</a:t>
            </a:r>
            <a:endParaRPr lang="en-US" sz="1100" dirty="0"/>
          </a:p>
        </p:txBody>
      </p:sp>
      <p:sp>
        <p:nvSpPr>
          <p:cNvPr id="13" name="Text 10"/>
          <p:cNvSpPr txBox="1"/>
          <p:nvPr/>
        </p:nvSpPr>
        <p:spPr>
          <a:xfrm>
            <a:off x="8549640" y="52669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la vitesse le confirme</a:t>
            </a:r>
            <a:endParaRPr lang="en-US" sz="1100" dirty="0"/>
          </a:p>
        </p:txBody>
      </p:sp>
      <p:sp>
        <p:nvSpPr>
          <p:cNvPr id="14" name="Text 11"/>
          <p:cNvSpPr txBox="1"/>
          <p:nvPr/>
        </p:nvSpPr>
        <p:spPr>
          <a:xfrm>
            <a:off x="8549640" y="5522976"/>
            <a:ext cx="2880360" cy="621792"/>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460 mph en moyenne sur les longs courriers contre 180 sur les navettes, soit 282 mph d'écart : sur un vol long, la montée et la descente pèsent peu, et la marge horaire absorbe le retard.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6 — ANNULATIONS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2,56 % des vols annulés, concentrés sur l'hiver</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88720"/>
          </a:xfrm>
          <a:prstGeom prst="roundRect">
            <a:avLst>
              <a:gd name="adj" fmla="val 615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6 481</a:t>
            </a:r>
            <a:endParaRPr lang="en-US" sz="2600" dirty="0"/>
          </a:p>
        </p:txBody>
      </p:sp>
      <p:sp>
        <p:nvSpPr>
          <p:cNvPr id="7" name="Text 4"/>
          <p:cNvSpPr txBox="1"/>
          <p:nvPr/>
        </p:nvSpPr>
        <p:spPr>
          <a:xfrm>
            <a:off x="8513064" y="2093976"/>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 sur 252 704</a:t>
            </a:r>
            <a:endParaRPr lang="en-US" sz="1150" dirty="0"/>
          </a:p>
        </p:txBody>
      </p:sp>
      <p:sp>
        <p:nvSpPr>
          <p:cNvPr id="8" name="Shape 5"/>
          <p:cNvSpPr/>
          <p:nvPr/>
        </p:nvSpPr>
        <p:spPr>
          <a:xfrm>
            <a:off x="8366760" y="2715768"/>
            <a:ext cx="3246120"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25496"/>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1 261</a:t>
            </a:r>
            <a:endParaRPr lang="en-US" sz="2600" dirty="0"/>
          </a:p>
        </p:txBody>
      </p:sp>
      <p:sp>
        <p:nvSpPr>
          <p:cNvPr id="10" name="Text 7"/>
          <p:cNvSpPr txBox="1"/>
          <p:nvPr/>
        </p:nvSpPr>
        <p:spPr>
          <a:xfrm>
            <a:off x="8513064" y="3392424"/>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annulations en février, le pic de l'année — près du double de la moyenne mensuelle</a:t>
            </a:r>
            <a:endParaRPr lang="en-US" sz="1150" dirty="0"/>
          </a:p>
        </p:txBody>
      </p:sp>
      <p:sp>
        <p:nvSpPr>
          <p:cNvPr id="11" name="Shape 8"/>
          <p:cNvSpPr/>
          <p:nvPr/>
        </p:nvSpPr>
        <p:spPr>
          <a:xfrm>
            <a:off x="8366760" y="4014216"/>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123944"/>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Compagnies les plus touchées</a:t>
            </a:r>
            <a:endParaRPr lang="en-US" sz="1100" dirty="0"/>
          </a:p>
        </p:txBody>
      </p:sp>
      <p:sp>
        <p:nvSpPr>
          <p:cNvPr id="13" name="Text 10"/>
          <p:cNvSpPr txBox="1"/>
          <p:nvPr/>
        </p:nvSpPr>
        <p:spPr>
          <a:xfrm>
            <a:off x="8549640" y="4434840"/>
            <a:ext cx="288036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EV — ExpressJet, MQ — Envoy Air et 9E — Endeavor concentrent l'essentiel des annulations : des flottes régionales, plus sensibles à la météo.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L'année inscrite dans la base n'est pas celle des données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un modèle qui utilise le jour de la semaine a suffi à le révéler.</a:t>
            </a:r>
            <a:endParaRPr lang="en-US" sz="1400" dirty="0"/>
          </a:p>
        </p:txBody>
      </p:sp>
      <p:sp>
        <p:nvSpPr>
          <p:cNvPr id="5" name="Shape 3"/>
          <p:cNvSpPr/>
          <p:nvPr/>
        </p:nvSpPr>
        <p:spPr>
          <a:xfrm>
            <a:off x="566928" y="2011680"/>
            <a:ext cx="5440680" cy="2148840"/>
          </a:xfrm>
          <a:prstGeom prst="roundRect">
            <a:avLst>
              <a:gd name="adj" fmla="val 3404"/>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Avec le calendrier 2021 de la base</a:t>
            </a:r>
            <a:endParaRPr lang="en-US" sz="1100" dirty="0"/>
          </a:p>
        </p:txBody>
      </p:sp>
      <p:sp>
        <p:nvSpPr>
          <p:cNvPr id="7" name="Text 5"/>
          <p:cNvSpPr txBox="1"/>
          <p:nvPr/>
        </p:nvSpPr>
        <p:spPr>
          <a:xfrm>
            <a:off x="786384" y="2468880"/>
            <a:ext cx="498348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jour le plus creux tombe un mardi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Samedi et dimanche ressortent à 940 et 963</a:t>
            </a:r>
            <a:endParaRPr lang="en-US" sz="1150" dirty="0"/>
          </a:p>
          <a:p>
            <a:pPr indent="0" marL="0">
              <a:lnSpc>
                <a:spcPts val="1600"/>
              </a:lnSpc>
              <a:buNone/>
            </a:pPr>
            <a:r>
              <a:rPr lang="en-US" sz="1150" b="1" dirty="0">
                <a:solidFill>
                  <a:srgbClr val="E4572E"/>
                </a:solidFill>
                <a:latin typeface="Calibri" pitchFamily="34" charset="0"/>
                <a:ea typeface="Calibri" pitchFamily="34" charset="-122"/>
                <a:cs typeface="Calibri" pitchFamily="34" charset="-120"/>
              </a:rPr>
              <a:t>Autrement dit : un trafic qui s'effondrerait en milieu de semaine et resterait plein le week-end. Aucun sens pour du transport aérien.</a:t>
            </a:r>
            <a:endParaRPr lang="en-US" sz="1150" dirty="0"/>
          </a:p>
        </p:txBody>
      </p:sp>
      <p:sp>
        <p:nvSpPr>
          <p:cNvPr id="8" name="Shape 6"/>
          <p:cNvSpPr/>
          <p:nvPr/>
        </p:nvSpPr>
        <p:spPr>
          <a:xfrm>
            <a:off x="6355080" y="2011680"/>
            <a:ext cx="5285232" cy="2148840"/>
          </a:xfrm>
          <a:prstGeom prst="roundRect">
            <a:avLst>
              <a:gd name="adj" fmla="val 3404"/>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Avec le calendrier 2013</a:t>
            </a:r>
            <a:endParaRPr lang="en-US" sz="1100" dirty="0"/>
          </a:p>
        </p:txBody>
      </p:sp>
      <p:sp>
        <p:nvSpPr>
          <p:cNvPr id="10" name="Text 8"/>
          <p:cNvSpPr txBox="1"/>
          <p:nvPr/>
        </p:nvSpPr>
        <p:spPr>
          <a:xfrm>
            <a:off x="6574536" y="2468880"/>
            <a:ext cx="484632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creux tombe exactement sur le samedi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Dimanche 888, puis 940 et plus du lundi au vendredi</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Le profil hebdomadaire classique du transport aérien. Les données sont donc celles de 2013, avec la colonne year réécrite.</a:t>
            </a:r>
            <a:endParaRPr lang="en-US" sz="1150" dirty="0"/>
          </a:p>
        </p:txBody>
      </p:sp>
      <p:sp>
        <p:nvSpPr>
          <p:cNvPr id="11" name="Text 9"/>
          <p:cNvSpPr txBox="1"/>
          <p:nvPr/>
        </p:nvSpPr>
        <p:spPr>
          <a:xfrm>
            <a:off x="566928" y="443484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Ce que ça change</a:t>
            </a:r>
            <a:endParaRPr lang="en-US" sz="1500" dirty="0"/>
          </a:p>
        </p:txBody>
      </p:sp>
      <p:sp>
        <p:nvSpPr>
          <p:cNvPr id="12" name="Text 10"/>
          <p:cNvSpPr txBox="1"/>
          <p:nvPr/>
        </p:nvSpPr>
        <p:spPr>
          <a:xfrm>
            <a:off x="566928" y="4754880"/>
            <a:ext cx="5486400" cy="14630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Semaine contre week-end : 25,1 % des vols le week-end sur le vrai calendrier, contre 29,7 % avec la colonne year — pour 28,3 % des jours. La conclusion s'inverse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L'effet du samedi était attribué au mardi : le modèle apprenait un rythme faux</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Corrigé dans le dashboard ; l'endpoint /traffic/weekday-vs-weekend reste à reprendre côté backend</a:t>
            </a:r>
            <a:endParaRPr lang="en-US" sz="1150" dirty="0"/>
          </a:p>
        </p:txBody>
      </p:sp>
      <p:sp>
        <p:nvSpPr>
          <p:cNvPr id="13" name="Shape 11"/>
          <p:cNvSpPr/>
          <p:nvPr/>
        </p:nvSpPr>
        <p:spPr>
          <a:xfrm>
            <a:off x="6355080" y="4434840"/>
            <a:ext cx="5285232"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56285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leçon</a:t>
            </a:r>
            <a:endParaRPr lang="en-US" sz="1100" dirty="0"/>
          </a:p>
        </p:txBody>
      </p:sp>
      <p:sp>
        <p:nvSpPr>
          <p:cNvPr id="15" name="Text 13"/>
          <p:cNvSpPr txBox="1"/>
          <p:nvPr/>
        </p:nvSpPr>
        <p:spPr>
          <a:xfrm>
            <a:off x="6574536" y="4873752"/>
            <a:ext cx="4846320" cy="118872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Une colonne peut être syntaxiquement valide, contrainte, indexée, et pourtant fausse. Ce n'est pas le schéma qui l'a révélé, c'est un modèle qui s'appuyait dessus pour prédire.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MISSION 3 — ANALYSE PRÉDICTIVE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70432"/>
          </a:xfrm>
          <a:prstGeom prst="roundRect">
            <a:avLst>
              <a:gd name="adj" fmla="val 6250"/>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63 vols</a:t>
            </a:r>
            <a:endParaRPr lang="en-US" sz="2600" dirty="0"/>
          </a:p>
        </p:txBody>
      </p:sp>
      <p:sp>
        <p:nvSpPr>
          <p:cNvPr id="7" name="Text 4"/>
          <p:cNvSpPr txBox="1"/>
          <p:nvPr/>
        </p:nvSpPr>
        <p:spPr>
          <a:xfrm>
            <a:off x="8513064" y="2093976"/>
            <a:ext cx="2953512" cy="384048"/>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697480"/>
            <a:ext cx="3246120" cy="1170432"/>
          </a:xfrm>
          <a:prstGeom prst="roundRect">
            <a:avLst>
              <a:gd name="adj" fmla="val 6250"/>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07208"/>
            <a:ext cx="2953512" cy="566928"/>
          </a:xfrm>
          <a:prstGeom prst="rect">
            <a:avLst/>
          </a:prstGeom>
          <a:noFill/>
          <a:ln/>
        </p:spPr>
        <p:txBody>
          <a:bodyPr wrap="square" lIns="0" tIns="0" rIns="0" bIns="0" rtlCol="0" anchor="ctr"/>
          <a:lstStyle/>
          <a:p>
            <a:pPr indent="0" marL="0">
              <a:buNone/>
            </a:pPr>
            <a:r>
              <a:rPr lang="en-US" sz="2600" b="1" dirty="0">
                <a:solidFill>
                  <a:srgbClr val="2E9E6B"/>
                </a:solidFill>
                <a:latin typeface="Cambria" pitchFamily="34" charset="0"/>
                <a:ea typeface="Cambria" pitchFamily="34" charset="-122"/>
                <a:cs typeface="Cambria" pitchFamily="34" charset="-120"/>
              </a:rPr>
              <a:t>−61 %</a:t>
            </a:r>
            <a:endParaRPr lang="en-US" sz="2600" dirty="0"/>
          </a:p>
        </p:txBody>
      </p:sp>
      <p:sp>
        <p:nvSpPr>
          <p:cNvPr id="10" name="Text 7"/>
          <p:cNvSpPr txBox="1"/>
          <p:nvPr/>
        </p:nvSpPr>
        <p:spPr>
          <a:xfrm>
            <a:off x="8513064" y="3374136"/>
            <a:ext cx="2953512" cy="384048"/>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par rapport à une référence naïve qui répète la dernière semaine</a:t>
            </a:r>
            <a:endParaRPr lang="en-US" sz="1150" dirty="0"/>
          </a:p>
        </p:txBody>
      </p:sp>
      <p:sp>
        <p:nvSpPr>
          <p:cNvPr id="11" name="Shape 8"/>
          <p:cNvSpPr/>
          <p:nvPr/>
        </p:nvSpPr>
        <p:spPr>
          <a:xfrm>
            <a:off x="8366760" y="3977640"/>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087368"/>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le modèle a appris</a:t>
            </a:r>
            <a:endParaRPr lang="en-US" sz="1100" dirty="0"/>
          </a:p>
        </p:txBody>
      </p:sp>
      <p:sp>
        <p:nvSpPr>
          <p:cNvPr id="13" name="Text 10"/>
          <p:cNvSpPr txBox="1"/>
          <p:nvPr/>
        </p:nvSpPr>
        <p:spPr>
          <a:xfrm>
            <a:off x="8549640" y="4389120"/>
            <a:ext cx="2880360" cy="1143000"/>
          </a:xfrm>
          <a:prstGeom prst="rect">
            <a:avLst/>
          </a:prstGeom>
          <a:noFill/>
          <a:ln/>
        </p:spPr>
        <p:txBody>
          <a:bodyPr wrap="square" lIns="0" tIns="0" rIns="0" bIns="0" rtlCol="0" anchor="t"/>
          <a:lstStyle/>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Samedi : −24,5 % de trafic</a:t>
            </a:r>
            <a:endParaRPr lang="en-US" sz="1100" dirty="0"/>
          </a:p>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Jour férié : −25,0 %</a:t>
            </a:r>
            <a:endParaRPr lang="en-US" sz="1100" dirty="0"/>
          </a:p>
          <a:p>
            <a:pPr indent="0" marL="0">
              <a:lnSpc>
                <a:spcPts val="1500"/>
              </a:lnSpc>
              <a:buNone/>
            </a:pPr>
            <a:r>
              <a:rPr lang="en-US" sz="1100" dirty="0">
                <a:solidFill>
                  <a:srgbClr val="5A6B7B"/>
                </a:solidFill>
                <a:latin typeface="Calibri" pitchFamily="34" charset="0"/>
                <a:ea typeface="Calibri" pitchFamily="34" charset="-122"/>
                <a:cs typeface="Calibri" pitchFamily="34" charset="-120"/>
              </a:rPr>
              <a:t>Dimanche : −9,4 %, le reste de la semaine à l'équilibre</a:t>
            </a:r>
            <a:endParaRPr lang="en-US" sz="1100" dirty="0"/>
          </a:p>
        </p:txBody>
      </p:sp>
      <p:sp>
        <p:nvSpPr>
          <p:cNvPr id="14" name="Text 11"/>
          <p:cNvSpPr txBox="1"/>
          <p:nvPr/>
        </p:nvSpPr>
        <p:spPr>
          <a:xfrm>
            <a:off x="566928" y="5779008"/>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 tendance + mois + jour de la semaine + jours fériés. R² ajusté 0,72.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HONNÊTETÉ MÉTHODOLOGIQUE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Ce que ces données ne permettent pas de dire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Quatre limites que le dashboard signale à l'écran plutôt que de les masquer.</a:t>
            </a:r>
            <a:endParaRPr lang="en-US" sz="1400" dirty="0"/>
          </a:p>
        </p:txBody>
      </p:sp>
      <p:sp>
        <p:nvSpPr>
          <p:cNvPr id="5" name="Shape 3"/>
          <p:cNvSpPr/>
          <p:nvPr/>
        </p:nvSpPr>
        <p:spPr>
          <a:xfrm>
            <a:off x="566928" y="2057400"/>
            <a:ext cx="5532120" cy="1783080"/>
          </a:xfrm>
          <a:prstGeom prst="roundRect">
            <a:avLst>
              <a:gd name="adj" fmla="val 410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58568"/>
            <a:ext cx="310896" cy="310896"/>
          </a:xfrm>
          <a:prstGeom prst="ellipse">
            <a:avLst/>
          </a:prstGeom>
          <a:solidFill>
            <a:srgbClr val="E4572E"/>
          </a:solidFill>
          <a:ln w="12700">
            <a:solidFill>
              <a:srgbClr val="E4572E"/>
            </a:solidFill>
            <a:prstDash val="solid"/>
          </a:ln>
        </p:spPr>
      </p:sp>
      <p:sp>
        <p:nvSpPr>
          <p:cNvPr id="7" name="Text 5"/>
          <p:cNvSpPr txBox="1"/>
          <p:nvPr/>
        </p:nvSpPr>
        <p:spPr>
          <a:xfrm>
            <a:off x="76809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Presque trois mois manquants</a:t>
            </a:r>
            <a:endParaRPr lang="en-US" sz="1450" dirty="0"/>
          </a:p>
        </p:txBody>
      </p:sp>
      <p:sp>
        <p:nvSpPr>
          <p:cNvPr id="9" name="Text 7"/>
          <p:cNvSpPr txBox="1"/>
          <p:nvPr/>
        </p:nvSpPr>
        <p:spPr>
          <a:xfrm>
            <a:off x="118872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flights.xlsx contient 252 704 vols quand l'énoncé en annonce 326 776. Août et septembre sont absents, juillet s'arrête au 3. Toute conclusion sur l'été est impossible.</a:t>
            </a:r>
            <a:endParaRPr lang="en-US" sz="1150" dirty="0"/>
          </a:p>
        </p:txBody>
      </p:sp>
      <p:sp>
        <p:nvSpPr>
          <p:cNvPr id="10" name="Shape 8"/>
          <p:cNvSpPr/>
          <p:nvPr/>
        </p:nvSpPr>
        <p:spPr>
          <a:xfrm>
            <a:off x="6373368" y="205740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58568"/>
            <a:ext cx="310896" cy="310896"/>
          </a:xfrm>
          <a:prstGeom prst="ellipse">
            <a:avLst/>
          </a:prstGeom>
          <a:solidFill>
            <a:srgbClr val="1D8AC1"/>
          </a:solidFill>
          <a:ln w="12700">
            <a:solidFill>
              <a:srgbClr val="1D8AC1"/>
            </a:solidFill>
            <a:prstDash val="solid"/>
          </a:ln>
        </p:spPr>
      </p:sp>
      <p:sp>
        <p:nvSpPr>
          <p:cNvPr id="12" name="Text 10"/>
          <p:cNvSpPr txBox="1"/>
          <p:nvPr/>
        </p:nvSpPr>
        <p:spPr>
          <a:xfrm>
            <a:off x="657453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699516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Independence Day non mesurable</a:t>
            </a:r>
            <a:endParaRPr lang="en-US" sz="1450" dirty="0"/>
          </a:p>
        </p:txBody>
      </p:sp>
      <p:sp>
        <p:nvSpPr>
          <p:cNvPr id="14" name="Text 12"/>
          <p:cNvSpPr txBox="1"/>
          <p:nvPr/>
        </p:nvSpPr>
        <p:spPr>
          <a:xfrm>
            <a:off x="699516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Le 4 juillet tombe dans le trou. L'API renvoie la ligne avec des champs vides ; le dashboard l'écarte du graphique et l'annonce au lieu d'afficher « NA ».</a:t>
            </a:r>
            <a:endParaRPr lang="en-US" sz="1150" dirty="0"/>
          </a:p>
        </p:txBody>
      </p:sp>
      <p:sp>
        <p:nvSpPr>
          <p:cNvPr id="15" name="Shape 13"/>
          <p:cNvSpPr/>
          <p:nvPr/>
        </p:nvSpPr>
        <p:spPr>
          <a:xfrm>
            <a:off x="56692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4224528"/>
            <a:ext cx="310896" cy="310896"/>
          </a:xfrm>
          <a:prstGeom prst="ellipse">
            <a:avLst/>
          </a:prstGeom>
          <a:solidFill>
            <a:srgbClr val="1D8AC1"/>
          </a:solidFill>
          <a:ln w="12700">
            <a:solidFill>
              <a:srgbClr val="1D8AC1"/>
            </a:solidFill>
            <a:prstDash val="solid"/>
          </a:ln>
        </p:spPr>
      </p:sp>
      <p:sp>
        <p:nvSpPr>
          <p:cNvPr id="17" name="Text 15"/>
          <p:cNvSpPr txBox="1"/>
          <p:nvPr/>
        </p:nvSpPr>
        <p:spPr>
          <a:xfrm>
            <a:off x="76809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Météo : un aéroport, et un relevé impossible</a:t>
            </a:r>
            <a:endParaRPr lang="en-US" sz="1450" dirty="0"/>
          </a:p>
        </p:txBody>
      </p:sp>
      <p:sp>
        <p:nvSpPr>
          <p:cNvPr id="19" name="Text 17"/>
          <p:cNvSpPr txBox="1"/>
          <p:nvPr/>
        </p:nvSpPr>
        <p:spPr>
          <a:xfrm>
            <a:off x="118872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weather.pdf ne couvre qu'EWR de janvier à mai — l'onglet ne propose donc que cet aéroport. Il contient aussi un vent de 1 048 mph le 12/02, contre 40 mph au second maximum : écarté du tracé et des moyennes.</a:t>
            </a:r>
            <a:endParaRPr lang="en-US" sz="1150" dirty="0"/>
          </a:p>
        </p:txBody>
      </p:sp>
      <p:sp>
        <p:nvSpPr>
          <p:cNvPr id="20" name="Shape 18"/>
          <p:cNvSpPr/>
          <p:nvPr/>
        </p:nvSpPr>
        <p:spPr>
          <a:xfrm>
            <a:off x="637336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4224528"/>
            <a:ext cx="310896" cy="310896"/>
          </a:xfrm>
          <a:prstGeom prst="ellipse">
            <a:avLst/>
          </a:prstGeom>
          <a:solidFill>
            <a:srgbClr val="1D8AC1"/>
          </a:solidFill>
          <a:ln w="12700">
            <a:solidFill>
              <a:srgbClr val="1D8AC1"/>
            </a:solidFill>
            <a:prstDash val="solid"/>
          </a:ln>
        </p:spPr>
      </p:sp>
      <p:sp>
        <p:nvSpPr>
          <p:cNvPr id="22" name="Text 20"/>
          <p:cNvSpPr txBox="1"/>
          <p:nvPr/>
        </p:nvSpPr>
        <p:spPr>
          <a:xfrm>
            <a:off x="657453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699516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2,56 % d'heures manquantes</a:t>
            </a:r>
            <a:endParaRPr lang="en-US" sz="1450" dirty="0"/>
          </a:p>
        </p:txBody>
      </p:sp>
      <p:sp>
        <p:nvSpPr>
          <p:cNvPr id="24" name="Text 22"/>
          <p:cNvSpPr txBox="1"/>
          <p:nvPr/>
        </p:nvSpPr>
        <p:spPr>
          <a:xfrm>
            <a:off x="699516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Ce sont exactement les vols annulés. Les moyennes de retard portent donc sur 246 223 vols et non 252 704 : le dénominateur change selon l'indicateur.</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endpoint de l'API donnait l'inverse de son intitulé</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les écrans oblige à relire les chiffres un par un — c'est ainsi que le défaut est apparu.</a:t>
            </a:r>
            <a:endParaRPr lang="en-US" sz="1400" dirty="0"/>
          </a:p>
        </p:txBody>
      </p:sp>
      <p:sp>
        <p:nvSpPr>
          <p:cNvPr id="5" name="Shape 3"/>
          <p:cNvSpPr/>
          <p:nvPr/>
        </p:nvSpPr>
        <p:spPr>
          <a:xfrm>
            <a:off x="566928" y="2011680"/>
            <a:ext cx="5440680"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310896"/>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Ce que renvoyait /delays/gain</a:t>
            </a:r>
            <a:endParaRPr lang="en-US" sz="1200" dirty="0"/>
          </a:p>
        </p:txBody>
      </p:sp>
      <p:sp>
        <p:nvSpPr>
          <p:cNvPr id="7" name="Text 5"/>
          <p:cNvSpPr txBox="1"/>
          <p:nvPr/>
        </p:nvSpPr>
        <p:spPr>
          <a:xfrm>
            <a:off x="786384" y="2514600"/>
            <a:ext cx="498348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gain = arr_delay − dep_delay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1 363 vols remontés : 121,5 min de retard au départ, 171,3 min à l'arrivée.</a:t>
            </a:r>
            <a:endParaRPr lang="en-US" sz="1200" dirty="0"/>
          </a:p>
          <a:p>
            <a:pPr indent="0" marL="0">
              <a:lnSpc>
                <a:spcPts val="1700"/>
              </a:lnSpc>
              <a:buNone/>
            </a:pPr>
            <a:r>
              <a:rPr lang="en-US" sz="1200" b="1" dirty="0">
                <a:solidFill>
                  <a:srgbClr val="E4572E"/>
                </a:solidFill>
                <a:latin typeface="Calibri" pitchFamily="34" charset="0"/>
                <a:ea typeface="Calibri" pitchFamily="34" charset="-122"/>
                <a:cs typeface="Calibri" pitchFamily="34" charset="-120"/>
              </a:rPr>
              <a:t>Ce sont les vols dont le retard s'aggrave en vol, présentés comme un gain.</a:t>
            </a:r>
            <a:endParaRPr lang="en-US" sz="1200" dirty="0"/>
          </a:p>
        </p:txBody>
      </p:sp>
      <p:sp>
        <p:nvSpPr>
          <p:cNvPr id="8" name="Shape 6"/>
          <p:cNvSpPr/>
          <p:nvPr/>
        </p:nvSpPr>
        <p:spPr>
          <a:xfrm>
            <a:off x="6355080" y="2011680"/>
            <a:ext cx="5285232" cy="2286000"/>
          </a:xfrm>
          <a:prstGeom prst="roundRect">
            <a:avLst>
              <a:gd name="adj" fmla="val 3200"/>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310896"/>
          </a:xfrm>
          <a:prstGeom prst="rect">
            <a:avLst/>
          </a:prstGeom>
          <a:noFill/>
          <a:ln/>
        </p:spPr>
        <p:txBody>
          <a:bodyPr wrap="square" lIns="0" tIns="0" rIns="0" bIns="0" rtlCol="0" anchor="ctr"/>
          <a:lstStyle/>
          <a:p>
            <a:pPr indent="0" marL="0">
              <a:buNone/>
            </a:pPr>
            <a:r>
              <a:rPr lang="en-US" sz="1200" b="1" dirty="0">
                <a:solidFill>
                  <a:srgbClr val="2E9E6B"/>
                </a:solidFill>
                <a:latin typeface="Calibri" pitchFamily="34" charset="0"/>
                <a:ea typeface="Calibri" pitchFamily="34" charset="-122"/>
                <a:cs typeface="Calibri" pitchFamily="34" charset="-120"/>
              </a:rPr>
              <a:t>Le vrai rattrapage</a:t>
            </a:r>
            <a:endParaRPr lang="en-US" sz="1200" dirty="0"/>
          </a:p>
        </p:txBody>
      </p:sp>
      <p:sp>
        <p:nvSpPr>
          <p:cNvPr id="10" name="Text 8"/>
          <p:cNvSpPr txBox="1"/>
          <p:nvPr/>
        </p:nvSpPr>
        <p:spPr>
          <a:xfrm>
            <a:off x="6574536" y="2514600"/>
            <a:ext cx="484632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rattrapage = dep_delay − arr_delay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Autre population : 132,1 min au départ, 94,8 min à l'arrivée.</a:t>
            </a:r>
            <a:endParaRPr lang="en-US" sz="1200" dirty="0"/>
          </a:p>
          <a:p>
            <a:pPr indent="0" marL="0">
              <a:lnSpc>
                <a:spcPts val="1700"/>
              </a:lnSpc>
              <a:buNone/>
            </a:pPr>
            <a:r>
              <a:rPr lang="en-US" sz="1200" b="1" dirty="0">
                <a:solidFill>
                  <a:srgbClr val="2E9E6B"/>
                </a:solidFill>
                <a:latin typeface="Calibri" pitchFamily="34" charset="0"/>
                <a:ea typeface="Calibri" pitchFamily="34" charset="-122"/>
                <a:cs typeface="Calibri" pitchFamily="34" charset="-120"/>
              </a:rPr>
              <a:t>Reconstruit dans le dashboard à partir de /flights, sans attendre le correctif.</a:t>
            </a:r>
            <a:endParaRPr lang="en-US" sz="1200" dirty="0"/>
          </a:p>
        </p:txBody>
      </p:sp>
      <p:sp>
        <p:nvSpPr>
          <p:cNvPr id="11" name="Text 9"/>
          <p:cNvSpPr txBox="1"/>
          <p:nvPr/>
        </p:nvSpPr>
        <p:spPr>
          <a:xfrm>
            <a:off x="566928" y="457200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Comment le dashboard s'en sort</a:t>
            </a:r>
            <a:endParaRPr lang="en-US" sz="1500" dirty="0"/>
          </a:p>
        </p:txBody>
      </p:sp>
      <p:sp>
        <p:nvSpPr>
          <p:cNvPr id="12" name="Text 10"/>
          <p:cNvSpPr txBox="1"/>
          <p:nvPr/>
        </p:nvSpPr>
        <p:spPr>
          <a:xfrm>
            <a:off x="566928" y="4901184"/>
            <a:ext cx="548640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vols partis avec au moins 1 h de retard sont demandés à /flights, triés par retard à l'arrivée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rattrapage est recalculé côté dashboard et la méthode est affichée sur la carte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correctif côté backend tient en une ligne : inverser la différence et le filtre</a:t>
            </a:r>
            <a:endParaRPr lang="en-US" sz="1200" dirty="0"/>
          </a:p>
        </p:txBody>
      </p:sp>
      <p:sp>
        <p:nvSpPr>
          <p:cNvPr id="13" name="Shape 11"/>
          <p:cNvSpPr/>
          <p:nvPr/>
        </p:nvSpPr>
        <p:spPr>
          <a:xfrm>
            <a:off x="6355080" y="4572000"/>
            <a:ext cx="5285232" cy="1691640"/>
          </a:xfrm>
          <a:prstGeom prst="roundRect">
            <a:avLst>
              <a:gd name="adj" fmla="val 432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70001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À retenir</a:t>
            </a:r>
            <a:endParaRPr lang="en-US" sz="1100" dirty="0"/>
          </a:p>
        </p:txBody>
      </p:sp>
      <p:sp>
        <p:nvSpPr>
          <p:cNvPr id="15" name="Text 13"/>
          <p:cNvSpPr txBox="1"/>
          <p:nvPr/>
        </p:nvSpPr>
        <p:spPr>
          <a:xfrm>
            <a:off x="6574536" y="5010912"/>
            <a:ext cx="4846320" cy="114300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 chiffre qui « sort » du dashboard n'est pas forcément un bug d'affichage : ici l'API répondait 200, la requête SQL était valide, et seule la lecture métier du résultat révélait l'inversion.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6858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DÉMONSTRATION</a:t>
            </a:r>
            <a:endParaRPr lang="en-US" sz="1300" dirty="0"/>
          </a:p>
        </p:txBody>
      </p:sp>
      <p:sp>
        <p:nvSpPr>
          <p:cNvPr id="3" name="Text 1"/>
          <p:cNvSpPr txBox="1"/>
          <p:nvPr/>
        </p:nvSpPr>
        <p:spPr>
          <a:xfrm>
            <a:off x="566928" y="100584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Trois commandes pour tout lancer</a:t>
            </a:r>
            <a:endParaRPr lang="en-US" sz="3000" dirty="0"/>
          </a:p>
        </p:txBody>
      </p:sp>
      <p:sp>
        <p:nvSpPr>
          <p:cNvPr id="4" name="Shape 2"/>
          <p:cNvSpPr/>
          <p:nvPr/>
        </p:nvSpPr>
        <p:spPr>
          <a:xfrm>
            <a:off x="566928" y="2048256"/>
            <a:ext cx="384048" cy="384048"/>
          </a:xfrm>
          <a:prstGeom prst="ellipse">
            <a:avLst/>
          </a:prstGeom>
          <a:solidFill>
            <a:srgbClr val="E4572E"/>
          </a:solidFill>
          <a:ln w="12700">
            <a:solidFill>
              <a:srgbClr val="E4572E"/>
            </a:solidFill>
            <a:prstDash val="solid"/>
          </a:ln>
        </p:spPr>
      </p:sp>
      <p:sp>
        <p:nvSpPr>
          <p:cNvPr id="5" name="Text 3"/>
          <p:cNvSpPr txBox="1"/>
          <p:nvPr/>
        </p:nvSpPr>
        <p:spPr>
          <a:xfrm>
            <a:off x="566928" y="2084832"/>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196596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docker compose up -d</a:t>
            </a:r>
            <a:endParaRPr lang="en-US" sz="1500" dirty="0"/>
          </a:p>
        </p:txBody>
      </p:sp>
      <p:sp>
        <p:nvSpPr>
          <p:cNvPr id="7" name="Text 5"/>
          <p:cNvSpPr txBox="1"/>
          <p:nvPr/>
        </p:nvSpPr>
        <p:spPr>
          <a:xfrm>
            <a:off x="1133856" y="2350008"/>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MySQL 8, puis chargement de schema.sql</a:t>
            </a:r>
            <a:endParaRPr lang="en-US" sz="1150" dirty="0"/>
          </a:p>
        </p:txBody>
      </p:sp>
      <p:sp>
        <p:nvSpPr>
          <p:cNvPr id="8" name="Shape 6"/>
          <p:cNvSpPr/>
          <p:nvPr/>
        </p:nvSpPr>
        <p:spPr>
          <a:xfrm>
            <a:off x="566928" y="2980944"/>
            <a:ext cx="384048" cy="384048"/>
          </a:xfrm>
          <a:prstGeom prst="ellipse">
            <a:avLst/>
          </a:prstGeom>
          <a:solidFill>
            <a:srgbClr val="E4572E"/>
          </a:solidFill>
          <a:ln w="12700">
            <a:solidFill>
              <a:srgbClr val="E4572E"/>
            </a:solidFill>
            <a:prstDash val="solid"/>
          </a:ln>
        </p:spPr>
      </p:sp>
      <p:sp>
        <p:nvSpPr>
          <p:cNvPr id="9" name="Text 7"/>
          <p:cNvSpPr txBox="1"/>
          <p:nvPr/>
        </p:nvSpPr>
        <p:spPr>
          <a:xfrm>
            <a:off x="566928" y="3017520"/>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1133856" y="2898648"/>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backend/run.R</a:t>
            </a:r>
            <a:endParaRPr lang="en-US" sz="1500" dirty="0"/>
          </a:p>
        </p:txBody>
      </p:sp>
      <p:sp>
        <p:nvSpPr>
          <p:cNvPr id="11" name="Text 9"/>
          <p:cNvSpPr txBox="1"/>
          <p:nvPr/>
        </p:nvSpPr>
        <p:spPr>
          <a:xfrm>
            <a:off x="1133856" y="3282696"/>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API Plumber sur le port 8000, Swagger sur /__docs__/</a:t>
            </a:r>
            <a:endParaRPr lang="en-US" sz="1150" dirty="0"/>
          </a:p>
        </p:txBody>
      </p:sp>
      <p:sp>
        <p:nvSpPr>
          <p:cNvPr id="12" name="Shape 10"/>
          <p:cNvSpPr/>
          <p:nvPr/>
        </p:nvSpPr>
        <p:spPr>
          <a:xfrm>
            <a:off x="566928" y="3913632"/>
            <a:ext cx="384048" cy="384048"/>
          </a:xfrm>
          <a:prstGeom prst="ellipse">
            <a:avLst/>
          </a:prstGeom>
          <a:solidFill>
            <a:srgbClr val="E4572E"/>
          </a:solidFill>
          <a:ln w="12700">
            <a:solidFill>
              <a:srgbClr val="E4572E"/>
            </a:solidFill>
            <a:prstDash val="solid"/>
          </a:ln>
        </p:spPr>
      </p:sp>
      <p:sp>
        <p:nvSpPr>
          <p:cNvPr id="13" name="Text 11"/>
          <p:cNvSpPr txBox="1"/>
          <p:nvPr/>
        </p:nvSpPr>
        <p:spPr>
          <a:xfrm>
            <a:off x="566928" y="3950208"/>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133856" y="3831336"/>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frontend/run_app.R</a:t>
            </a:r>
            <a:endParaRPr lang="en-US" sz="1500" dirty="0"/>
          </a:p>
        </p:txBody>
      </p:sp>
      <p:sp>
        <p:nvSpPr>
          <p:cNvPr id="15" name="Text 13"/>
          <p:cNvSpPr txBox="1"/>
          <p:nvPr/>
        </p:nvSpPr>
        <p:spPr>
          <a:xfrm>
            <a:off x="1133856" y="4215384"/>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Dashboard Shiny sur le port 3838 — neuf onglets, dont les prévisions</a:t>
            </a:r>
            <a:endParaRPr lang="en-US" sz="1150" dirty="0"/>
          </a:p>
        </p:txBody>
      </p:sp>
      <p:sp>
        <p:nvSpPr>
          <p:cNvPr id="16" name="Shape 14"/>
          <p:cNvSpPr/>
          <p:nvPr/>
        </p:nvSpPr>
        <p:spPr>
          <a:xfrm>
            <a:off x="6949440" y="1920240"/>
            <a:ext cx="4690872" cy="2798064"/>
          </a:xfrm>
          <a:prstGeom prst="roundRect">
            <a:avLst>
              <a:gd name="adj" fmla="val 2614"/>
            </a:avLst>
          </a:prstGeom>
          <a:solidFill>
            <a:srgbClr val="134E70"/>
          </a:solidFill>
          <a:ln w="12700">
            <a:solidFill>
              <a:srgbClr val="1F6288"/>
            </a:solidFill>
            <a:prstDash val="solid"/>
          </a:ln>
        </p:spPr>
      </p:sp>
      <p:sp>
        <p:nvSpPr>
          <p:cNvPr id="17" name="Text 15"/>
          <p:cNvSpPr txBox="1"/>
          <p:nvPr/>
        </p:nvSpPr>
        <p:spPr>
          <a:xfrm>
            <a:off x="7168896" y="2066544"/>
            <a:ext cx="425196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Prochaines étapes</a:t>
            </a:r>
            <a:endParaRPr lang="en-US" sz="1600" dirty="0"/>
          </a:p>
        </p:txBody>
      </p:sp>
      <p:sp>
        <p:nvSpPr>
          <p:cNvPr id="18" name="Text 16"/>
          <p:cNvSpPr txBox="1"/>
          <p:nvPr/>
        </p:nvSpPr>
        <p:spPr>
          <a:xfrm>
            <a:off x="7168896" y="2468880"/>
            <a:ext cx="4206240" cy="210312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Vérifier la colonne year : les données sont celles de 2013</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Corriger /delays/gain côté backend</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Compléter flights.xlsx pour retrouver l'été</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Ajouter la météo au modèle de prévision</a:t>
            </a:r>
            <a:endParaRPr lang="en-US" sz="1200" dirty="0"/>
          </a:p>
        </p:txBody>
      </p:sp>
      <p:sp>
        <p:nvSpPr>
          <p:cNvPr id="19" name="Text 17"/>
          <p:cNvSpPr txBox="1"/>
          <p:nvPr/>
        </p:nvSpPr>
        <p:spPr>
          <a:xfrm>
            <a:off x="566928" y="5806440"/>
            <a:ext cx="7772400" cy="310896"/>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github.com/Salmabentisse/trafic-aerien-adp — branche Marcus</a:t>
            </a:r>
            <a:endParaRPr lang="en-US" sz="1200" dirty="0"/>
          </a:p>
        </p:txBody>
      </p:sp>
      <p:sp>
        <p:nvSpPr>
          <p:cNvPr id="20" name="Text 18"/>
          <p:cNvSpPr txBox="1"/>
          <p:nvPr/>
        </p:nvSpPr>
        <p:spPr>
          <a:xfrm>
            <a:off x="8229600" y="5760720"/>
            <a:ext cx="3383280" cy="402336"/>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Merci — questions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2026-08-26T17:21:08Z</dcterms:created>
  <dcterms:modified xsi:type="dcterms:W3CDTF">2026-08-26T17:21:08Z</dcterms:modified>
</cp:coreProperties>
</file>